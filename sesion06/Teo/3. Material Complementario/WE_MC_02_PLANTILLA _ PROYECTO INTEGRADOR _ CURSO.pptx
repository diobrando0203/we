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6" r:id="rId9"/>
    <p:sldId id="267" r:id="rId10"/>
  </p:sldIdLst>
  <p:sldSz cx="12192000" cy="6858000"/>
  <p:notesSz cx="6858000" cy="9144000"/>
  <p:embeddedFontLst>
    <p:embeddedFont>
      <p:font typeface="Montserrat" panose="02000505000000020004" pitchFamily="2" charset="0"/>
      <p:regular r:id="rId12"/>
      <p:bold r:id="rId13"/>
      <p:italic r:id="rId14"/>
      <p:boldItalic r:id="rId15"/>
    </p:embeddedFont>
    <p:embeddedFont>
      <p:font typeface="Montserrat ExtraBold" panose="00000900000000000000" pitchFamily="2" charset="0"/>
      <p:bold r:id="rId16"/>
      <p:boldItalic r:id="rId17"/>
    </p:embeddedFont>
    <p:embeddedFont>
      <p:font typeface="Montserrat SemiBold" panose="00000700000000000000" pitchFamily="2" charset="0"/>
      <p:regular r:id="rId18"/>
      <p:bold r:id="rId19"/>
      <p:italic r:id="rId20"/>
      <p:boldItalic r:id="rId21"/>
    </p:embeddedFont>
    <p:embeddedFont>
      <p:font typeface="Nunito" pitchFamily="2" charset="0"/>
      <p:regular r:id="rId22"/>
      <p:bold r:id="rId23"/>
      <p:italic r:id="rId24"/>
      <p:boldItalic r:id="rId25"/>
    </p:embeddedFont>
    <p:embeddedFont>
      <p:font typeface="Nunito ExtraBold" pitchFamily="2" charset="0"/>
      <p:bold r:id="rId26"/>
      <p:boldItalic r:id="rId27"/>
    </p:embeddedFont>
    <p:embeddedFont>
      <p:font typeface="Nunito Medium" panose="020B0604020202020204" charset="0"/>
      <p:regular r:id="rId28"/>
      <p:bold r:id="rId29"/>
      <p:italic r:id="rId30"/>
      <p:boldItalic r:id="rId31"/>
    </p:embeddedFont>
    <p:embeddedFont>
      <p:font typeface="Nunito SemiBold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7">
          <p15:clr>
            <a:srgbClr val="A4A3A4"/>
          </p15:clr>
        </p15:guide>
        <p15:guide id="2" pos="633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hWVY5lPucBEVt2+BhK06Pkyyx5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527"/>
        <p:guide pos="63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21" Type="http://schemas.openxmlformats.org/officeDocument/2006/relationships/font" Target="fonts/font10.fntdata"/><Relationship Id="rId34" Type="http://schemas.openxmlformats.org/officeDocument/2006/relationships/font" Target="fonts/font2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font" Target="fonts/font2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9b8b6417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219b8b6417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66B4E6CE-BB57-F062-7F0E-7FB5909A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752A6090-0B71-6E68-B2D1-A8D7D4C75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B26C33D3-45F3-25CD-1B11-85E586DCA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1324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440AFDD5-CE85-861C-45C9-F67A02400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032EAFAB-5E4C-BFA0-83ED-D8850CE63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E0057797-FFCE-DA8A-F1F7-881841EE9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8542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FE3D90B6-0E75-96A7-A4E9-A57B6E91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FA13E4AC-D605-0962-F173-6ED85C756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A2D43942-C2C6-A1A0-FC11-75AAD34C20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30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>
          <a:extLst>
            <a:ext uri="{FF2B5EF4-FFF2-40B4-BE49-F238E27FC236}">
              <a16:creationId xmlns:a16="http://schemas.microsoft.com/office/drawing/2014/main" id="{C222D073-E445-494D-950D-6EC1F21AF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>
            <a:extLst>
              <a:ext uri="{FF2B5EF4-FFF2-40B4-BE49-F238E27FC236}">
                <a16:creationId xmlns:a16="http://schemas.microsoft.com/office/drawing/2014/main" id="{A4EE9DEA-205A-7509-4359-76197F7D3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3E5BDD78-10A9-D0B1-05F7-5EA7AC4837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935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180800"/>
            <a:ext cx="7832774" cy="7063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81976" y="342284"/>
            <a:ext cx="1153418" cy="1320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94046" y="6126013"/>
            <a:ext cx="520640" cy="5138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46510" y="6381324"/>
            <a:ext cx="434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i="0" u="none" strike="noStrike" cap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Derechos reservados WE Educación Ejecutiva: S001303560 / Registro INDECOPI</a:t>
            </a:r>
            <a:endParaRPr sz="800" i="0" u="none" strike="noStrike" cap="none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89100" y="3562295"/>
            <a:ext cx="447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1600">
                <a:solidFill>
                  <a:srgbClr val="FFC300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PROYECTO INTEGRADOR</a:t>
            </a:r>
            <a:endParaRPr sz="1600" i="0" u="none" strike="noStrike" cap="none">
              <a:solidFill>
                <a:srgbClr val="FFC3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92423" y="1847576"/>
            <a:ext cx="38976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500" b="0" i="0" u="none" strike="noStrike" cap="none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“</a:t>
            </a:r>
            <a:r>
              <a:rPr lang="es-ES" sz="250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TÍTULO DEL</a:t>
            </a:r>
            <a:endParaRPr sz="2500">
              <a:solidFill>
                <a:srgbClr val="FFFFFF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500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PROYECTO</a:t>
            </a:r>
            <a:r>
              <a:rPr lang="es-ES" sz="2500" b="0" i="0" u="none" strike="noStrike" cap="none">
                <a:solidFill>
                  <a:srgbClr val="FFFFFF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”</a:t>
            </a:r>
            <a:endParaRPr sz="4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89100" y="4347825"/>
            <a:ext cx="43434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Char char="●"/>
            </a:pPr>
            <a:r>
              <a:rPr lang="es-ES" sz="18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Integrante 1</a:t>
            </a:r>
            <a:endParaRPr sz="18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Char char="●"/>
            </a:pPr>
            <a:r>
              <a:rPr lang="es-ES" sz="18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Integrante 2</a:t>
            </a:r>
            <a:endParaRPr sz="18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Char char="●"/>
            </a:pPr>
            <a:r>
              <a:rPr lang="es-ES" sz="18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Integrante 3</a:t>
            </a:r>
            <a:endParaRPr sz="18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Char char="●"/>
            </a:pPr>
            <a:r>
              <a:rPr lang="es-ES" sz="18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Integrante 4</a:t>
            </a:r>
            <a:endParaRPr sz="1800" b="1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unito"/>
              <a:buChar char="●"/>
            </a:pPr>
            <a:r>
              <a:rPr lang="es-ES" sz="18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Integrante 5</a:t>
            </a:r>
            <a:endParaRPr sz="1800" b="0" i="0" u="none" strike="noStrike" cap="none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89100" y="3900995"/>
            <a:ext cx="447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>
                <a:solidFill>
                  <a:srgbClr val="2A8BFC"/>
                </a:solidFill>
                <a:latin typeface="Nunito"/>
                <a:ea typeface="Nunito"/>
                <a:cs typeface="Nunito"/>
                <a:sym typeface="Nunito"/>
              </a:rPr>
              <a:t>Integrantes</a:t>
            </a:r>
            <a:endParaRPr sz="2000" b="1" i="0" u="none" strike="noStrike" cap="none">
              <a:solidFill>
                <a:srgbClr val="2A8B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F5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xfrm>
            <a:off x="841017" y="245570"/>
            <a:ext cx="4700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 ExtraBold"/>
              <a:buNone/>
            </a:pPr>
            <a:r>
              <a:rPr lang="es-ES" sz="5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ÍNDICE</a:t>
            </a:r>
            <a:endParaRPr sz="5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841017" y="1181525"/>
            <a:ext cx="77850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 SemiBold"/>
              <a:buAutoNum type="arabicPeriod"/>
            </a:pPr>
            <a:r>
              <a:rPr lang="es-ES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Contexto y Planteamiento del proyecto</a:t>
            </a:r>
            <a:endParaRPr b="0" i="0" u="none" strike="noStrike" cap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1.1. Contexto organizacional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b="0" i="0" u="none" strike="noStrike" cap="none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1.2. Valores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b="0" i="0" u="none" strike="noStrike" cap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    </a:t>
            </a:r>
          </a:p>
        </p:txBody>
      </p:sp>
      <p:sp>
        <p:nvSpPr>
          <p:cNvPr id="99" name="Google Shape;99;p2"/>
          <p:cNvSpPr/>
          <p:nvPr/>
        </p:nvSpPr>
        <p:spPr>
          <a:xfrm>
            <a:off x="-230546" y="993416"/>
            <a:ext cx="502500" cy="938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667257">
            <a:off x="10541567" y="4385451"/>
            <a:ext cx="1391457" cy="2727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219b8b64171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16550" y="533250"/>
            <a:ext cx="6415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219b8b64171_0_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19b8b64171_0_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19b8b64171_0_3"/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9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Nunito"/>
              <a:buAutoNum type="arabicPeriod"/>
            </a:pPr>
            <a:r>
              <a:rPr lang="es-ES" sz="1900" b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CONTEXTO Y PLANTEAMIENTO DEL </a:t>
            </a:r>
            <a:r>
              <a:rPr lang="es-ES" sz="1900" b="1">
                <a:solidFill>
                  <a:srgbClr val="2A8BFC"/>
                </a:solidFill>
                <a:latin typeface="Nunito"/>
                <a:ea typeface="Nunito"/>
                <a:cs typeface="Nunito"/>
                <a:sym typeface="Nunito"/>
              </a:rPr>
              <a:t>PROYECTO</a:t>
            </a:r>
            <a:endParaRPr sz="1900" b="1">
              <a:solidFill>
                <a:srgbClr val="2A8B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" name="Google Shape;112;g219b8b64171_0_3"/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219b8b64171_0_3"/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700" b="1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4" name="Google Shape;114;g219b8b64171_0_3"/>
          <p:cNvSpPr txBox="1"/>
          <p:nvPr/>
        </p:nvSpPr>
        <p:spPr>
          <a:xfrm>
            <a:off x="6384100" y="4667357"/>
            <a:ext cx="515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MISIÓN</a:t>
            </a:r>
            <a:endParaRPr sz="24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g219b8b64171_0_3"/>
          <p:cNvSpPr txBox="1"/>
          <p:nvPr/>
        </p:nvSpPr>
        <p:spPr>
          <a:xfrm>
            <a:off x="6384100" y="5168057"/>
            <a:ext cx="515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Detalla la </a:t>
            </a:r>
            <a:r>
              <a:rPr lang="es-ES">
                <a:solidFill>
                  <a:srgbClr val="2A8BFC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misión </a:t>
            </a:r>
            <a:r>
              <a:rPr lang="es-ES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de la empresa</a:t>
            </a:r>
            <a:endParaRPr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16" name="Google Shape;116;g219b8b64171_0_3"/>
          <p:cNvSpPr txBox="1"/>
          <p:nvPr/>
        </p:nvSpPr>
        <p:spPr>
          <a:xfrm>
            <a:off x="6384100" y="2226375"/>
            <a:ext cx="515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VISIÓN</a:t>
            </a:r>
            <a:endParaRPr sz="24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g219b8b64171_0_3"/>
          <p:cNvSpPr txBox="1"/>
          <p:nvPr/>
        </p:nvSpPr>
        <p:spPr>
          <a:xfrm>
            <a:off x="6384100" y="2727075"/>
            <a:ext cx="515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Detalla la </a:t>
            </a:r>
            <a:r>
              <a:rPr lang="es-ES">
                <a:solidFill>
                  <a:srgbClr val="2A8BFC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visión </a:t>
            </a:r>
            <a:r>
              <a:rPr lang="es-ES"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de la empresa</a:t>
            </a:r>
            <a:endParaRPr>
              <a:solidFill>
                <a:schemeClr val="dk1"/>
              </a:solidFill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18" name="Google Shape;118;g219b8b64171_0_3"/>
          <p:cNvSpPr txBox="1"/>
          <p:nvPr/>
        </p:nvSpPr>
        <p:spPr>
          <a:xfrm>
            <a:off x="6384100" y="1269850"/>
            <a:ext cx="34335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1900">
                <a:solidFill>
                  <a:srgbClr val="2A8BF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1.1</a:t>
            </a:r>
            <a:r>
              <a:rPr lang="es-ES" sz="1900" b="0" i="0" u="none" strike="noStrike" cap="none">
                <a:solidFill>
                  <a:srgbClr val="2A8BF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. </a:t>
            </a:r>
            <a:r>
              <a:rPr lang="es-ES" sz="1900">
                <a:solidFill>
                  <a:srgbClr val="2A8BFC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CONTEXTO ORGANIZACIONAL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219b8b64171_0_3"/>
          <p:cNvSpPr/>
          <p:nvPr/>
        </p:nvSpPr>
        <p:spPr>
          <a:xfrm>
            <a:off x="383850" y="1270375"/>
            <a:ext cx="5373900" cy="5419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2.    PROBLEMÁTICA - </a:t>
            </a:r>
            <a:r>
              <a:rPr lang="es-ES" sz="1900" b="1" dirty="0">
                <a:solidFill>
                  <a:srgbClr val="2A8BFC"/>
                </a:solidFill>
                <a:latin typeface="Nunito"/>
                <a:ea typeface="Nunito"/>
                <a:cs typeface="Nunito"/>
                <a:sym typeface="Nunito"/>
              </a:rPr>
              <a:t>ANÁLISIS</a:t>
            </a:r>
            <a:endParaRPr sz="1900" b="1" dirty="0">
              <a:solidFill>
                <a:srgbClr val="2A8B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3.    PROPUESTA SOLUCIÓN - </a:t>
            </a:r>
            <a:r>
              <a:rPr lang="es-ES" sz="1900" b="1" dirty="0">
                <a:solidFill>
                  <a:srgbClr val="2A8BFC"/>
                </a:solidFill>
                <a:latin typeface="Nunito"/>
                <a:ea typeface="Nunito"/>
                <a:cs typeface="Nunito"/>
                <a:sym typeface="Nunito"/>
              </a:rPr>
              <a:t>ANÁLISIS</a:t>
            </a:r>
            <a:endParaRPr sz="1900" b="1" dirty="0">
              <a:solidFill>
                <a:srgbClr val="2A8B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5318D388-E8F7-2282-9D46-72507BDE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>
            <a:extLst>
              <a:ext uri="{FF2B5EF4-FFF2-40B4-BE49-F238E27FC236}">
                <a16:creationId xmlns:a16="http://schemas.microsoft.com/office/drawing/2014/main" id="{0361421E-9CED-890D-E246-09D466F0F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>
            <a:extLst>
              <a:ext uri="{FF2B5EF4-FFF2-40B4-BE49-F238E27FC236}">
                <a16:creationId xmlns:a16="http://schemas.microsoft.com/office/drawing/2014/main" id="{D386E422-E129-98AF-54D4-A656B5946C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2818B6F6-5319-6E9E-FE91-9EB341A03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4.    CAPTURAS </a:t>
            </a:r>
            <a:r>
              <a:rPr lang="es-ES" sz="1900" b="1" dirty="0">
                <a:solidFill>
                  <a:srgbClr val="2A8BFC"/>
                </a:solidFill>
                <a:latin typeface="Nunito"/>
                <a:ea typeface="Nunito"/>
                <a:cs typeface="Nunito"/>
                <a:sym typeface="Nunito"/>
              </a:rPr>
              <a:t>PROTOTIPO EN FIGMA</a:t>
            </a:r>
            <a:endParaRPr sz="1900" b="1" dirty="0">
              <a:solidFill>
                <a:srgbClr val="2A8B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6">
            <a:extLst>
              <a:ext uri="{FF2B5EF4-FFF2-40B4-BE49-F238E27FC236}">
                <a16:creationId xmlns:a16="http://schemas.microsoft.com/office/drawing/2014/main" id="{E43A89E7-65C1-800F-DEE6-D9A707AED00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>
            <a:extLst>
              <a:ext uri="{FF2B5EF4-FFF2-40B4-BE49-F238E27FC236}">
                <a16:creationId xmlns:a16="http://schemas.microsoft.com/office/drawing/2014/main" id="{C26AB77C-B365-6093-0E6A-EF1E1AE720D3}"/>
              </a:ext>
            </a:extLst>
          </p:cNvPr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6">
            <a:extLst>
              <a:ext uri="{FF2B5EF4-FFF2-40B4-BE49-F238E27FC236}">
                <a16:creationId xmlns:a16="http://schemas.microsoft.com/office/drawing/2014/main" id="{FBC75F48-AD73-C08F-A91E-2DA25BACE842}"/>
              </a:ext>
            </a:extLst>
          </p:cNvPr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2230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F4B085CE-FDD3-F2CE-C24F-CABA071E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>
            <a:extLst>
              <a:ext uri="{FF2B5EF4-FFF2-40B4-BE49-F238E27FC236}">
                <a16:creationId xmlns:a16="http://schemas.microsoft.com/office/drawing/2014/main" id="{FE004679-66BB-B1F2-4ED0-A7E67E21E0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>
            <a:extLst>
              <a:ext uri="{FF2B5EF4-FFF2-40B4-BE49-F238E27FC236}">
                <a16:creationId xmlns:a16="http://schemas.microsoft.com/office/drawing/2014/main" id="{FCC4FFA5-6CA6-B992-54D1-7CDD6E0182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7855CB2D-4FE7-9711-4C75-369F68708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5.    CAPTURAS </a:t>
            </a:r>
            <a:r>
              <a:rPr lang="es-ES" sz="1900" b="1" dirty="0">
                <a:solidFill>
                  <a:srgbClr val="00B0F0"/>
                </a:solidFill>
                <a:latin typeface="Nunito"/>
                <a:ea typeface="Nunito"/>
                <a:cs typeface="Nunito"/>
                <a:sym typeface="Nunito"/>
              </a:rPr>
              <a:t>PROYECTO WEB</a:t>
            </a:r>
            <a:endParaRPr sz="1900" b="1" dirty="0">
              <a:solidFill>
                <a:srgbClr val="00B0F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6">
            <a:extLst>
              <a:ext uri="{FF2B5EF4-FFF2-40B4-BE49-F238E27FC236}">
                <a16:creationId xmlns:a16="http://schemas.microsoft.com/office/drawing/2014/main" id="{1931B3EB-5464-286F-9097-C97C408CA1F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>
            <a:extLst>
              <a:ext uri="{FF2B5EF4-FFF2-40B4-BE49-F238E27FC236}">
                <a16:creationId xmlns:a16="http://schemas.microsoft.com/office/drawing/2014/main" id="{CBFE935B-4E12-FBA9-594E-A06B1CBD7381}"/>
              </a:ext>
            </a:extLst>
          </p:cNvPr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6">
            <a:extLst>
              <a:ext uri="{FF2B5EF4-FFF2-40B4-BE49-F238E27FC236}">
                <a16:creationId xmlns:a16="http://schemas.microsoft.com/office/drawing/2014/main" id="{FCF16886-7C74-C1F1-F4B2-CF1DD7A4C58B}"/>
              </a:ext>
            </a:extLst>
          </p:cNvPr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954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D4A151C3-99E6-FE74-5A50-99A8B27E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>
            <a:extLst>
              <a:ext uri="{FF2B5EF4-FFF2-40B4-BE49-F238E27FC236}">
                <a16:creationId xmlns:a16="http://schemas.microsoft.com/office/drawing/2014/main" id="{02E9C685-6572-476B-E97A-F222CAF810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>
            <a:extLst>
              <a:ext uri="{FF2B5EF4-FFF2-40B4-BE49-F238E27FC236}">
                <a16:creationId xmlns:a16="http://schemas.microsoft.com/office/drawing/2014/main" id="{A42B979B-9852-C240-44E3-32E4CD7F15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3697890B-11D2-17B4-CF8F-D0DD751F4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6.    URL </a:t>
            </a:r>
            <a:r>
              <a:rPr lang="es-ES" sz="1900" b="1" dirty="0">
                <a:solidFill>
                  <a:srgbClr val="00B0F0"/>
                </a:solidFill>
                <a:latin typeface="Nunito"/>
                <a:ea typeface="Nunito"/>
                <a:cs typeface="Nunito"/>
                <a:sym typeface="Nunito"/>
              </a:rPr>
              <a:t>FIGMA</a:t>
            </a:r>
            <a:endParaRPr sz="1900" b="1" dirty="0">
              <a:solidFill>
                <a:srgbClr val="00B0F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6">
            <a:extLst>
              <a:ext uri="{FF2B5EF4-FFF2-40B4-BE49-F238E27FC236}">
                <a16:creationId xmlns:a16="http://schemas.microsoft.com/office/drawing/2014/main" id="{71576E20-0832-AA0E-EE1F-D4C880B02E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>
            <a:extLst>
              <a:ext uri="{FF2B5EF4-FFF2-40B4-BE49-F238E27FC236}">
                <a16:creationId xmlns:a16="http://schemas.microsoft.com/office/drawing/2014/main" id="{FD11D302-E5BE-1A03-2546-25BDC8A504D6}"/>
              </a:ext>
            </a:extLst>
          </p:cNvPr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6">
            <a:extLst>
              <a:ext uri="{FF2B5EF4-FFF2-40B4-BE49-F238E27FC236}">
                <a16:creationId xmlns:a16="http://schemas.microsoft.com/office/drawing/2014/main" id="{ACB6D1C1-7A8D-465E-5220-814B0AB251AF}"/>
              </a:ext>
            </a:extLst>
          </p:cNvPr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778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4CC7C9-D495-041F-5AAA-314DB426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>
            <a:extLst>
              <a:ext uri="{FF2B5EF4-FFF2-40B4-BE49-F238E27FC236}">
                <a16:creationId xmlns:a16="http://schemas.microsoft.com/office/drawing/2014/main" id="{3E38F020-2947-0E7B-8039-B585D185F44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106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>
            <a:extLst>
              <a:ext uri="{FF2B5EF4-FFF2-40B4-BE49-F238E27FC236}">
                <a16:creationId xmlns:a16="http://schemas.microsoft.com/office/drawing/2014/main" id="{64238CBA-10E4-B4A1-BA53-F6D3167EA96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185950"/>
            <a:ext cx="12192000" cy="6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>
            <a:extLst>
              <a:ext uri="{FF2B5EF4-FFF2-40B4-BE49-F238E27FC236}">
                <a16:creationId xmlns:a16="http://schemas.microsoft.com/office/drawing/2014/main" id="{9B6FF271-6EDB-53D6-5DAF-3269E38A8C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0826" y="308700"/>
            <a:ext cx="7986600" cy="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7.    URL </a:t>
            </a:r>
            <a:r>
              <a:rPr lang="es-ES" sz="1900" b="1" dirty="0">
                <a:solidFill>
                  <a:srgbClr val="00B0F0"/>
                </a:solidFill>
                <a:latin typeface="Nunito"/>
                <a:ea typeface="Nunito"/>
                <a:cs typeface="Nunito"/>
                <a:sym typeface="Nunito"/>
              </a:rPr>
              <a:t>SITIO WEB</a:t>
            </a:r>
            <a:endParaRPr sz="1900" b="1" dirty="0">
              <a:solidFill>
                <a:srgbClr val="00B0F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9" name="Google Shape;149;p6">
            <a:extLst>
              <a:ext uri="{FF2B5EF4-FFF2-40B4-BE49-F238E27FC236}">
                <a16:creationId xmlns:a16="http://schemas.microsoft.com/office/drawing/2014/main" id="{CF9B6096-54E8-4C3A-A719-333793E323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0425" y="245575"/>
            <a:ext cx="1421850" cy="67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>
            <a:extLst>
              <a:ext uri="{FF2B5EF4-FFF2-40B4-BE49-F238E27FC236}">
                <a16:creationId xmlns:a16="http://schemas.microsoft.com/office/drawing/2014/main" id="{06E9A0F1-31EB-5D20-ADC6-0437B7A2BB5E}"/>
              </a:ext>
            </a:extLst>
          </p:cNvPr>
          <p:cNvSpPr txBox="1"/>
          <p:nvPr/>
        </p:nvSpPr>
        <p:spPr>
          <a:xfrm>
            <a:off x="11705250" y="6402950"/>
            <a:ext cx="359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6</a:t>
            </a:r>
            <a:endParaRPr sz="170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" name="Google Shape;152;p6">
            <a:extLst>
              <a:ext uri="{FF2B5EF4-FFF2-40B4-BE49-F238E27FC236}">
                <a16:creationId xmlns:a16="http://schemas.microsoft.com/office/drawing/2014/main" id="{BB994D61-7A0C-4796-013C-2B58CEFA4EB0}"/>
              </a:ext>
            </a:extLst>
          </p:cNvPr>
          <p:cNvSpPr/>
          <p:nvPr/>
        </p:nvSpPr>
        <p:spPr>
          <a:xfrm>
            <a:off x="719150" y="319950"/>
            <a:ext cx="51600" cy="522900"/>
          </a:xfrm>
          <a:prstGeom prst="roundRect">
            <a:avLst>
              <a:gd name="adj" fmla="val 16667"/>
            </a:avLst>
          </a:prstGeom>
          <a:solidFill>
            <a:srgbClr val="2A8B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8568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107</Words>
  <Application>Microsoft Office PowerPoint</Application>
  <PresentationFormat>Panorámica</PresentationFormat>
  <Paragraphs>35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9" baseType="lpstr">
      <vt:lpstr>Montserrat</vt:lpstr>
      <vt:lpstr>Nunito SemiBold</vt:lpstr>
      <vt:lpstr>Montserrat SemiBold</vt:lpstr>
      <vt:lpstr>Calibri</vt:lpstr>
      <vt:lpstr>Montserrat ExtraBold</vt:lpstr>
      <vt:lpstr>Arial</vt:lpstr>
      <vt:lpstr>Nunito</vt:lpstr>
      <vt:lpstr>Nunito ExtraBold</vt:lpstr>
      <vt:lpstr>Nunito Medium</vt:lpstr>
      <vt:lpstr>Tema de Office</vt:lpstr>
      <vt:lpstr>Presentación de PowerPoint</vt:lpstr>
      <vt:lpstr>ÍNDICE</vt:lpstr>
      <vt:lpstr>CONTEXTO Y PLANTEAMIENTO DEL PROYECTO</vt:lpstr>
      <vt:lpstr>2.    PROBLEMÁTICA - ANÁLISIS</vt:lpstr>
      <vt:lpstr>3.    PROPUESTA SOLUCIÓN - ANÁLISIS</vt:lpstr>
      <vt:lpstr>4.    CAPTURAS PROTOTIPO EN FIGMA</vt:lpstr>
      <vt:lpstr>5.    CAPTURAS PROYECTO WEB</vt:lpstr>
      <vt:lpstr>6.    URL FIGMA</vt:lpstr>
      <vt:lpstr>7.    URL SITIO WEB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Fabiola</dc:creator>
  <cp:lastModifiedBy>BARBOZA NIETO, GIANCARLOS</cp:lastModifiedBy>
  <cp:revision>3</cp:revision>
  <dcterms:modified xsi:type="dcterms:W3CDTF">2025-09-20T19:58:48Z</dcterms:modified>
</cp:coreProperties>
</file>
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</p:sldMasterIdLst>
  <p:notesMasterIdLst>
    <p:notesMasterId r:id="rId19"/>
  </p:notes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4" r:id="rId16"/>
    <p:sldId id="272" r:id="rId17"/>
    <p:sldId id="273" r:id="rId18"/>
  </p:sldIdLst>
  <p:sldSz cx="12192000" cy="6858000"/>
  <p:notesSz cx="6858000" cy="9144000"/>
  <p:embeddedFontLst>
    <p:embeddedFont>
      <p:font typeface="IBM Plex Mono Medium" panose="020B0609050203000203" pitchFamily="49" charset="0"/>
      <p:regular r:id="rId20"/>
      <p:bold r:id="rId21"/>
      <p:italic r:id="rId22"/>
      <p:boldItalic r:id="rId23"/>
    </p:embeddedFont>
    <p:embeddedFont>
      <p:font typeface="Montserrat" panose="02000505000000020004" pitchFamily="2" charset="0"/>
      <p:regular r:id="rId24"/>
      <p:bold r:id="rId25"/>
      <p:italic r:id="rId26"/>
      <p:boldItalic r:id="rId27"/>
    </p:embeddedFont>
    <p:embeddedFont>
      <p:font typeface="Montserrat ExtraBold" panose="00000900000000000000" pitchFamily="2" charset="0"/>
      <p:bold r:id="rId28"/>
      <p:boldItalic r:id="rId29"/>
    </p:embeddedFont>
    <p:embeddedFont>
      <p:font typeface="Montserrat Medium" panose="00000600000000000000" pitchFamily="2" charset="0"/>
      <p:regular r:id="rId30"/>
      <p:bold r:id="rId31"/>
      <p:italic r:id="rId32"/>
      <p:boldItalic r:id="rId33"/>
    </p:embeddedFont>
    <p:embeddedFont>
      <p:font typeface="Montserrat SemiBold" panose="00000700000000000000" pitchFamily="2" charset="0"/>
      <p:regular r:id="rId34"/>
      <p:bold r:id="rId35"/>
      <p:italic r:id="rId36"/>
      <p:boldItalic r:id="rId37"/>
    </p:embeddedFont>
    <p:embeddedFont>
      <p:font typeface="Poppins" panose="00000500000000000000" pitchFamily="2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50">
          <p15:clr>
            <a:srgbClr val="A4A3A4"/>
          </p15:clr>
        </p15:guide>
        <p15:guide id="2" pos="656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iIbPAJI1QN6A7sNUW6efqyTE67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F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738" autoAdjust="0"/>
    <p:restoredTop sz="94660"/>
  </p:normalViewPr>
  <p:slideViewPr>
    <p:cSldViewPr snapToGrid="0">
      <p:cViewPr varScale="1">
        <p:scale>
          <a:sx n="79" d="100"/>
          <a:sy n="79" d="100"/>
        </p:scale>
        <p:origin x="197" y="62"/>
      </p:cViewPr>
      <p:guideLst>
        <p:guide orient="horz" pos="550"/>
        <p:guide pos="656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7.fntdata"/><Relationship Id="rId39" Type="http://schemas.openxmlformats.org/officeDocument/2006/relationships/font" Target="fonts/font20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font" Target="fonts/font21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49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48" Type="http://customschemas.google.com/relationships/presentationmetadata" Target="metadata"/><Relationship Id="rId8" Type="http://schemas.openxmlformats.org/officeDocument/2006/relationships/slide" Target="slides/slide6.xml"/><Relationship Id="rId51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Relationship Id="rId20" Type="http://schemas.openxmlformats.org/officeDocument/2006/relationships/font" Target="fonts/font1.fntdata"/><Relationship Id="rId41" Type="http://schemas.openxmlformats.org/officeDocument/2006/relationships/font" Target="fonts/font2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ada6b3ec7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4" name="Google Shape;164;g2ada6b3ec7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3" name="Google Shape;1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3" name="Google Shape;20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0fcd679d50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completar nombre de los temas de la sesiòn 1</a:t>
            </a:r>
            <a:endParaRPr/>
          </a:p>
        </p:txBody>
      </p:sp>
      <p:sp>
        <p:nvSpPr>
          <p:cNvPr id="221" name="Google Shape;221;g20fcd679d50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1" name="Google Shape;23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completar nombre de los temas de la sesiòn 1</a:t>
            </a:r>
            <a:endParaRPr/>
          </a:p>
        </p:txBody>
      </p:sp>
      <p:sp>
        <p:nvSpPr>
          <p:cNvPr id="246" name="Google Shape;246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ada6b3ec75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g2ada6b3ec75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ada6b3ec75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completar nombre de los temas de la sesiòn 1</a:t>
            </a:r>
            <a:endParaRPr/>
          </a:p>
        </p:txBody>
      </p:sp>
      <p:sp>
        <p:nvSpPr>
          <p:cNvPr id="267" name="Google Shape;267;g2ada6b3ec75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ada6b3ec75_0_2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7" name="Google Shape;277;g2ada6b3ec75_0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ee9218af0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completar nombre de los temas de la sesiòn 1</a:t>
            </a:r>
            <a:endParaRPr/>
          </a:p>
        </p:txBody>
      </p:sp>
      <p:sp>
        <p:nvSpPr>
          <p:cNvPr id="288" name="Google Shape;288;g1ee9218af0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ae66c03690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8" name="Google Shape;298;g2ae66c03690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aec3b0e815_0_5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g2aec3b0e815_0_5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b055251057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5" name="Google Shape;325;g2b055251057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>
          <a:extLst>
            <a:ext uri="{FF2B5EF4-FFF2-40B4-BE49-F238E27FC236}">
              <a16:creationId xmlns:a16="http://schemas.microsoft.com/office/drawing/2014/main" id="{C492DEAB-6736-6AB1-B83E-2B6732700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b055251057_0_128:notes">
            <a:extLst>
              <a:ext uri="{FF2B5EF4-FFF2-40B4-BE49-F238E27FC236}">
                <a16:creationId xmlns:a16="http://schemas.microsoft.com/office/drawing/2014/main" id="{A7F91BB4-5CC3-8967-AA70-5B3312ED5E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5" name="Google Shape;325;g2b055251057_0_128:notes">
            <a:extLst>
              <a:ext uri="{FF2B5EF4-FFF2-40B4-BE49-F238E27FC236}">
                <a16:creationId xmlns:a16="http://schemas.microsoft.com/office/drawing/2014/main" id="{F68A27EC-7595-D323-3D6F-67E3B9CA1E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76567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4" name="Google Shape;39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1" name="Google Shape;40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Slide">
  <p:cSld name="Default Slid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3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0" name="Google Shape;40;p3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3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4" name="Google Shape;54;p3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5" name="Google Shape;55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4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1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2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2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- Diapositiva interna 1">
  <p:cSld name="TITLE_1_6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g2ae66c03690_0_88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480333" y="312800"/>
            <a:ext cx="343471" cy="264466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g2ae66c03690_0_880"/>
          <p:cNvSpPr txBox="1">
            <a:spLocks noGrp="1"/>
          </p:cNvSpPr>
          <p:nvPr>
            <p:ph type="subTitle" idx="1"/>
          </p:nvPr>
        </p:nvSpPr>
        <p:spPr>
          <a:xfrm>
            <a:off x="415600" y="190633"/>
            <a:ext cx="4911900" cy="5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IBM Plex Mono Medium"/>
              <a:buNone/>
              <a:defRPr sz="1500">
                <a:solidFill>
                  <a:srgbClr val="104DE5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Font typeface="IBM Plex Mono Medium"/>
              <a:buNone/>
              <a:defRPr sz="1500">
                <a:solidFill>
                  <a:srgbClr val="104DE5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Font typeface="IBM Plex Mono Medium"/>
              <a:buNone/>
              <a:defRPr sz="1500">
                <a:solidFill>
                  <a:srgbClr val="104DE5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Font typeface="IBM Plex Mono Medium"/>
              <a:buNone/>
              <a:defRPr sz="1500">
                <a:solidFill>
                  <a:srgbClr val="104DE5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Font typeface="IBM Plex Mono Medium"/>
              <a:buNone/>
              <a:defRPr sz="1500">
                <a:solidFill>
                  <a:srgbClr val="104DE5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Font typeface="IBM Plex Mono Medium"/>
              <a:buNone/>
              <a:defRPr sz="1500">
                <a:solidFill>
                  <a:srgbClr val="104DE5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Font typeface="IBM Plex Mono Medium"/>
              <a:buNone/>
              <a:defRPr sz="1500">
                <a:solidFill>
                  <a:srgbClr val="104DE5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Font typeface="IBM Plex Mono Medium"/>
              <a:buNone/>
              <a:defRPr sz="1500">
                <a:solidFill>
                  <a:srgbClr val="104DE5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600"/>
              <a:buFont typeface="IBM Plex Mono Medium"/>
              <a:buNone/>
              <a:defRPr sz="1500">
                <a:solidFill>
                  <a:srgbClr val="104DE5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defRPr>
            </a:lvl9pPr>
          </a:lstStyle>
          <a:p>
            <a:endParaRPr/>
          </a:p>
        </p:txBody>
      </p:sp>
      <p:sp>
        <p:nvSpPr>
          <p:cNvPr id="80" name="Google Shape;80;g2ae66c03690_0_880"/>
          <p:cNvSpPr txBox="1">
            <a:spLocks noGrp="1"/>
          </p:cNvSpPr>
          <p:nvPr>
            <p:ph type="title"/>
          </p:nvPr>
        </p:nvSpPr>
        <p:spPr>
          <a:xfrm>
            <a:off x="1208400" y="1013233"/>
            <a:ext cx="9775200" cy="6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200"/>
            </a:lvl9pPr>
          </a:lstStyle>
          <a:p>
            <a:endParaRPr/>
          </a:p>
        </p:txBody>
      </p:sp>
      <p:sp>
        <p:nvSpPr>
          <p:cNvPr id="81" name="Google Shape;81;g2ae66c03690_0_880"/>
          <p:cNvSpPr txBox="1">
            <a:spLocks noGrp="1"/>
          </p:cNvSpPr>
          <p:nvPr>
            <p:ph type="body" idx="2"/>
          </p:nvPr>
        </p:nvSpPr>
        <p:spPr>
          <a:xfrm>
            <a:off x="1289133" y="2399500"/>
            <a:ext cx="7562700" cy="30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24DE3"/>
              </a:buClr>
              <a:buSzPts val="1900"/>
              <a:buFont typeface="Poppins"/>
              <a:buChar char="➔"/>
              <a:defRPr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114DE5"/>
              </a:buClr>
              <a:buSzPts val="1600"/>
              <a:buChar char="◆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124DE3"/>
              </a:buClr>
              <a:buSzPts val="1600"/>
              <a:buChar char="●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◆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◆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600"/>
              <a:buChar char="●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aec3b0e815_0_47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g2aec3b0e815_0_47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g2aec3b0e815_0_47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g2aec3b0e815_0_47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g2aec3b0e815_0_47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aec3b0e815_0_47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g2aec3b0e815_0_47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7" name="Google Shape;97;g2aec3b0e815_0_47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g2aec3b0e815_0_47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g2aec3b0e815_0_47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aec3b0e815_0_48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g2aec3b0e815_0_48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g2aec3b0e815_0_48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g2aec3b0e815_0_48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aec3b0e815_0_490"/>
          <p:cNvSpPr txBox="1">
            <a:spLocks noGrp="1"/>
          </p:cNvSpPr>
          <p:nvPr>
            <p:ph type="title"/>
          </p:nvPr>
        </p:nvSpPr>
        <p:spPr>
          <a:xfrm>
            <a:off x="3252600" y="3116677"/>
            <a:ext cx="56868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6133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107" name="Google Shape;107;g2aec3b0e815_0_490"/>
          <p:cNvSpPr txBox="1">
            <a:spLocks noGrp="1"/>
          </p:cNvSpPr>
          <p:nvPr>
            <p:ph type="subTitle" idx="1"/>
          </p:nvPr>
        </p:nvSpPr>
        <p:spPr>
          <a:xfrm>
            <a:off x="4177867" y="5013669"/>
            <a:ext cx="3836400" cy="7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108" name="Google Shape;108;g2aec3b0e815_0_490"/>
          <p:cNvSpPr txBox="1">
            <a:spLocks noGrp="1"/>
          </p:cNvSpPr>
          <p:nvPr>
            <p:ph type="title" idx="2"/>
          </p:nvPr>
        </p:nvSpPr>
        <p:spPr>
          <a:xfrm>
            <a:off x="4109800" y="1093767"/>
            <a:ext cx="3972300" cy="17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4666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6000">
                <a:solidFill>
                  <a:schemeClr val="accent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6000">
                <a:solidFill>
                  <a:schemeClr val="accent6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6000">
                <a:solidFill>
                  <a:schemeClr val="accent6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6000">
                <a:solidFill>
                  <a:schemeClr val="accent6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6000">
                <a:solidFill>
                  <a:schemeClr val="accent6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6000">
                <a:solidFill>
                  <a:schemeClr val="accent6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6000">
                <a:solidFill>
                  <a:schemeClr val="accent6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0"/>
              <a:buNone/>
              <a:defRPr sz="160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SECTION_HEADER 2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aec3b0e815_0_49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g2aec3b0e815_0_49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g2aec3b0e815_0_49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g2aec3b0e815_0_49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g2aec3b0e815_0_49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aec3b0e815_0_50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g2aec3b0e815_0_50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g2aec3b0e815_0_50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g2aec3b0e815_0_50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g2aec3b0e815_0_50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g2aec3b0e815_0_50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aec3b0e815_0_50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g2aec3b0e815_0_50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5" name="Google Shape;125;g2aec3b0e815_0_50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g2aec3b0e815_0_50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7" name="Google Shape;127;g2aec3b0e815_0_50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g2aec3b0e815_0_50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g2aec3b0e815_0_50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g2aec3b0e815_0_50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aec3b0e815_0_5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g2aec3b0e815_0_5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g2aec3b0e815_0_5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aec3b0e815_0_5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g2aec3b0e815_0_5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8" name="Google Shape;138;g2aec3b0e815_0_5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9" name="Google Shape;139;g2aec3b0e815_0_5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g2aec3b0e815_0_5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g2aec3b0e815_0_5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aec3b0e815_0_5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g2aec3b0e815_0_52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45" name="Google Shape;145;g2aec3b0e815_0_52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6" name="Google Shape;146;g2aec3b0e815_0_5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g2aec3b0e815_0_5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g2aec3b0e815_0_5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aec3b0e815_0_5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g2aec3b0e815_0_534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g2aec3b0e815_0_5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g2aec3b0e815_0_5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g2aec3b0e815_0_5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aec3b0e815_0_540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g2aec3b0e815_0_540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g2aec3b0e815_0_5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g2aec3b0e815_0_5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g2aec3b0e815_0_5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Slide">
  <p:cSld name="Default Slide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ec3b0e815_0_46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" name="Google Shape;84;g2aec3b0e815_0_46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g2aec3b0e815_0_46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g2aec3b0e815_0_46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g2aec3b0e815_0_46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6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jpg"/><Relationship Id="rId5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vercel.com/" TargetMode="External"/><Relationship Id="rId3" Type="http://schemas.openxmlformats.org/officeDocument/2006/relationships/image" Target="../media/image17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png"/><Relationship Id="rId11" Type="http://schemas.openxmlformats.org/officeDocument/2006/relationships/hyperlink" Target="https://firebase.google.com/?hl=es-419" TargetMode="External"/><Relationship Id="rId5" Type="http://schemas.openxmlformats.org/officeDocument/2006/relationships/image" Target="../media/image24.png"/><Relationship Id="rId10" Type="http://schemas.openxmlformats.org/officeDocument/2006/relationships/hyperlink" Target="https://www.netlify.com/" TargetMode="External"/><Relationship Id="rId4" Type="http://schemas.openxmlformats.org/officeDocument/2006/relationships/image" Target="../media/image23.png"/><Relationship Id="rId9" Type="http://schemas.openxmlformats.org/officeDocument/2006/relationships/hyperlink" Target="https://render.com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27.jpeg"/><Relationship Id="rId2" Type="http://schemas.openxmlformats.org/officeDocument/2006/relationships/slideLayout" Target="../slideLayouts/slideLayout13.xml"/><Relationship Id="rId1" Type="http://schemas.openxmlformats.org/officeDocument/2006/relationships/video" Target="https://www.youtube.com/embed/z2_Vxer8xh4?list=PL2_0iDafRvt355DuVdPonCIe4plRMUvEJ" TargetMode="External"/><Relationship Id="rId6" Type="http://schemas.openxmlformats.org/officeDocument/2006/relationships/hyperlink" Target="https://firebase.google.com/?hl=es-419" TargetMode="External"/><Relationship Id="rId5" Type="http://schemas.openxmlformats.org/officeDocument/2006/relationships/hyperlink" Target="https://www.netlify.com/" TargetMode="Externa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g2ada6b3ec75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" name="Google Shape;167;g2ada6b3ec75_0_0"/>
          <p:cNvGrpSpPr/>
          <p:nvPr/>
        </p:nvGrpSpPr>
        <p:grpSpPr>
          <a:xfrm>
            <a:off x="-19874" y="-180800"/>
            <a:ext cx="7014451" cy="7098825"/>
            <a:chOff x="818326" y="-180800"/>
            <a:chExt cx="7014451" cy="7098825"/>
          </a:xfrm>
        </p:grpSpPr>
        <p:pic>
          <p:nvPicPr>
            <p:cNvPr id="168" name="Google Shape;168;g2ada6b3ec75_0_0"/>
            <p:cNvPicPr preferRelativeResize="0"/>
            <p:nvPr/>
          </p:nvPicPr>
          <p:blipFill rotWithShape="1">
            <a:blip r:embed="rId4">
              <a:alphaModFix/>
            </a:blip>
            <a:srcRect l="10897"/>
            <a:stretch/>
          </p:blipFill>
          <p:spPr>
            <a:xfrm>
              <a:off x="818326" y="-180800"/>
              <a:ext cx="7014451" cy="7098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" name="Google Shape;169;g2ada6b3ec75_0_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365401" y="235434"/>
              <a:ext cx="1153418" cy="13200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g2ada6b3ec75_0_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894046" y="6126013"/>
              <a:ext cx="520640" cy="51387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1" name="Google Shape;171;g2ada6b3ec75_0_0"/>
          <p:cNvSpPr txBox="1"/>
          <p:nvPr/>
        </p:nvSpPr>
        <p:spPr>
          <a:xfrm>
            <a:off x="292750" y="3153900"/>
            <a:ext cx="50628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ES" sz="32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Programación Web con HTML &amp; CSS</a:t>
            </a:r>
            <a:endParaRPr sz="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2ada6b3ec75_0_0"/>
          <p:cNvSpPr txBox="1"/>
          <p:nvPr/>
        </p:nvSpPr>
        <p:spPr>
          <a:xfrm>
            <a:off x="446494" y="4362979"/>
            <a:ext cx="3508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1" i="0" u="none" strike="noStrike" cap="none">
                <a:solidFill>
                  <a:srgbClr val="FFC3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CURSO APLICATIVO</a:t>
            </a:r>
            <a:endParaRPr sz="2000" b="1" i="0" u="none" strike="noStrike" cap="none">
              <a:solidFill>
                <a:srgbClr val="FFC3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73" name="Google Shape;173;g2ada6b3ec75_0_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488437" y="198408"/>
            <a:ext cx="1420497" cy="67204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2ada6b3ec75_0_0"/>
          <p:cNvSpPr txBox="1"/>
          <p:nvPr/>
        </p:nvSpPr>
        <p:spPr>
          <a:xfrm>
            <a:off x="573897" y="4967669"/>
            <a:ext cx="13176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-ES" sz="1000" b="0" i="1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Avalado por:</a:t>
            </a:r>
            <a:endParaRPr sz="1000" b="0" i="1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g2ada6b3ec75_0_0"/>
          <p:cNvSpPr txBox="1"/>
          <p:nvPr/>
        </p:nvSpPr>
        <p:spPr>
          <a:xfrm>
            <a:off x="459395" y="6544597"/>
            <a:ext cx="47295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s-ES" sz="800" b="0" i="0" u="none" strike="noStrike" cap="non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Derechos reservados WE Educación Ejecutiva: S001303560 / Registro INDECOPI</a:t>
            </a:r>
            <a:endParaRPr sz="800" b="0" i="0" u="none" strike="noStrike" cap="non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800" b="0" i="0" u="none" strike="noStrike" cap="none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g2ada6b3ec75_0_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09950" y="5284363"/>
            <a:ext cx="1147050" cy="426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g2ada6b3ec75_0_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14338" y="5293188"/>
            <a:ext cx="1147050" cy="4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70375" y="-17875"/>
            <a:ext cx="10515133" cy="7008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"/>
          <p:cNvPicPr preferRelativeResize="0"/>
          <p:nvPr/>
        </p:nvPicPr>
        <p:blipFill rotWithShape="1">
          <a:blip r:embed="rId4">
            <a:alphaModFix/>
          </a:blip>
          <a:srcRect b="2629"/>
          <a:stretch/>
        </p:blipFill>
        <p:spPr>
          <a:xfrm flipH="1">
            <a:off x="-245475" y="-17875"/>
            <a:ext cx="4271475" cy="7008377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"/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3.</a:t>
            </a:r>
            <a:endParaRPr sz="13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8" name="Google Shape;198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00300" y="5919727"/>
            <a:ext cx="720923" cy="82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2488" y="196051"/>
            <a:ext cx="1626480" cy="7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"/>
          <p:cNvSpPr txBox="1">
            <a:spLocks noGrp="1"/>
          </p:cNvSpPr>
          <p:nvPr>
            <p:ph type="title"/>
          </p:nvPr>
        </p:nvSpPr>
        <p:spPr>
          <a:xfrm>
            <a:off x="142500" y="1647250"/>
            <a:ext cx="3276600" cy="15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F5A"/>
              </a:buClr>
              <a:buSzPts val="3000"/>
              <a:buFont typeface="Montserrat ExtraBold"/>
              <a:buNone/>
            </a:pPr>
            <a:r>
              <a:rPr lang="es-ES" sz="32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REVIEW DE LA </a:t>
            </a:r>
            <a:r>
              <a:rPr lang="es-ES" sz="3200">
                <a:solidFill>
                  <a:srgbClr val="2A8B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SESIÓN ANTERIOR</a:t>
            </a:r>
            <a:endParaRPr sz="3200">
              <a:solidFill>
                <a:srgbClr val="2A8BF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6897" y="1"/>
            <a:ext cx="1222585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5"/>
          <p:cNvSpPr/>
          <p:nvPr/>
        </p:nvSpPr>
        <p:spPr>
          <a:xfrm>
            <a:off x="3159450" y="1033850"/>
            <a:ext cx="9049500" cy="4998300"/>
          </a:xfrm>
          <a:prstGeom prst="roundRect">
            <a:avLst>
              <a:gd name="adj" fmla="val 4363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5"/>
          <p:cNvSpPr txBox="1">
            <a:spLocks noGrp="1"/>
          </p:cNvSpPr>
          <p:nvPr>
            <p:ph type="title"/>
          </p:nvPr>
        </p:nvSpPr>
        <p:spPr>
          <a:xfrm>
            <a:off x="3331450" y="1538700"/>
            <a:ext cx="2911500" cy="6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F5A"/>
              </a:buClr>
              <a:buSzPct val="100000"/>
              <a:buFont typeface="Montserrat ExtraBold"/>
              <a:buNone/>
            </a:pPr>
            <a:r>
              <a:rPr lang="es-ES">
                <a:solidFill>
                  <a:srgbClr val="000F5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SESIÓN 6</a:t>
            </a:r>
            <a:endParaRPr>
              <a:solidFill>
                <a:srgbClr val="000F5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08" name="Google Shape;208;p5"/>
          <p:cNvSpPr txBox="1"/>
          <p:nvPr/>
        </p:nvSpPr>
        <p:spPr>
          <a:xfrm>
            <a:off x="3751625" y="3533450"/>
            <a:ext cx="8067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ES" sz="15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Tema 1: </a:t>
            </a:r>
            <a:r>
              <a:rPr lang="es-ES" sz="15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Framework más empleados en programación web</a:t>
            </a:r>
            <a:endParaRPr sz="1500" b="0" i="0" u="none" strike="noStrike" cap="none" dirty="0">
              <a:solidFill>
                <a:srgbClr val="C00000"/>
              </a:solidFill>
              <a:highlight>
                <a:srgbClr val="FFFF00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9" name="Google Shape;209;p5"/>
          <p:cNvSpPr txBox="1"/>
          <p:nvPr/>
        </p:nvSpPr>
        <p:spPr>
          <a:xfrm>
            <a:off x="3751625" y="3962475"/>
            <a:ext cx="8067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ES" sz="15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Tema 2:</a:t>
            </a:r>
            <a:r>
              <a:rPr lang="es-ES" sz="1500" b="0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s-ES" sz="15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Bootstrap</a:t>
            </a:r>
            <a:endParaRPr sz="1500" b="0" i="0" u="none" strike="noStrike" cap="none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0" name="Google Shape;210;p5"/>
          <p:cNvSpPr txBox="1"/>
          <p:nvPr/>
        </p:nvSpPr>
        <p:spPr>
          <a:xfrm>
            <a:off x="3751625" y="4391500"/>
            <a:ext cx="8304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ES" sz="15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Tema 3:</a:t>
            </a:r>
            <a:r>
              <a:rPr lang="es-ES" sz="1500" b="0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s-ES" sz="15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Integración de Framework con sistemas de diseño</a:t>
            </a:r>
            <a:endParaRPr sz="1500" b="0" i="0" u="none" strike="noStrike" cap="none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1" name="Google Shape;211;p5"/>
          <p:cNvSpPr txBox="1">
            <a:spLocks noGrp="1"/>
          </p:cNvSpPr>
          <p:nvPr>
            <p:ph type="title"/>
          </p:nvPr>
        </p:nvSpPr>
        <p:spPr>
          <a:xfrm>
            <a:off x="108857" y="2428200"/>
            <a:ext cx="2975543" cy="20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F5A"/>
              </a:buClr>
              <a:buSzPts val="3000"/>
              <a:buFont typeface="Montserrat ExtraBold"/>
              <a:buNone/>
            </a:pPr>
            <a:r>
              <a:rPr lang="es-ES" sz="33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CONTENIDO DE LA </a:t>
            </a:r>
            <a:r>
              <a:rPr lang="es-ES" sz="3300">
                <a:solidFill>
                  <a:srgbClr val="2A8B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SESIÓN WE</a:t>
            </a:r>
            <a:endParaRPr sz="3300">
              <a:solidFill>
                <a:srgbClr val="2A8BF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12" name="Google Shape;212;p5"/>
          <p:cNvSpPr txBox="1"/>
          <p:nvPr/>
        </p:nvSpPr>
        <p:spPr>
          <a:xfrm>
            <a:off x="3345674" y="2724050"/>
            <a:ext cx="492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ES" sz="2800" b="0" i="0" u="none" strike="noStrike" cap="none">
                <a:solidFill>
                  <a:srgbClr val="2A8BF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1.</a:t>
            </a:r>
            <a:endParaRPr sz="2800" b="0" i="0" u="none" strike="noStrike" cap="none">
              <a:solidFill>
                <a:srgbClr val="2A8BF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13" name="Google Shape;213;p5"/>
          <p:cNvSpPr txBox="1"/>
          <p:nvPr/>
        </p:nvSpPr>
        <p:spPr>
          <a:xfrm>
            <a:off x="3701349" y="2808788"/>
            <a:ext cx="8066999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SemiBold"/>
              <a:buNone/>
            </a:pPr>
            <a:r>
              <a:rPr lang="es-ES" sz="1600" b="1" i="0" u="none" strike="noStrike" cap="none" dirty="0">
                <a:solidFill>
                  <a:srgbClr val="2A8BFC"/>
                </a:solidFill>
                <a:latin typeface="Montserrat"/>
                <a:ea typeface="Montserrat"/>
                <a:cs typeface="Montserrat"/>
                <a:sym typeface="Montserrat"/>
              </a:rPr>
              <a:t>TEMAS DE LA SESIÓN:</a:t>
            </a:r>
            <a:r>
              <a:rPr lang="es-ES" sz="1600" b="1" dirty="0">
                <a:solidFill>
                  <a:srgbClr val="2A8BF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-ES" sz="16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Aplicaciones de </a:t>
            </a:r>
            <a:r>
              <a:rPr lang="es-ES" sz="1600" b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Frameworks</a:t>
            </a:r>
            <a:r>
              <a:rPr lang="es-ES" sz="16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de CSS</a:t>
            </a:r>
            <a:r>
              <a:rPr lang="es-ES" sz="1600" b="1" i="0" u="none" strike="noStrike" cap="none" dirty="0">
                <a:solidFill>
                  <a:srgbClr val="2A8BF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600" b="1" i="0" u="none" strike="noStrike" cap="none" dirty="0">
              <a:solidFill>
                <a:srgbClr val="2A8BF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p5"/>
          <p:cNvSpPr txBox="1"/>
          <p:nvPr/>
        </p:nvSpPr>
        <p:spPr>
          <a:xfrm>
            <a:off x="3410874" y="2210675"/>
            <a:ext cx="7982226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 SemiBold"/>
              <a:buNone/>
            </a:pPr>
            <a:r>
              <a:rPr lang="es-ES" sz="13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OBJETIVOS DE LA SESIÓN: </a:t>
            </a:r>
            <a:r>
              <a:rPr lang="es-ES" sz="13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Implementar </a:t>
            </a:r>
            <a:r>
              <a:rPr lang="es-ES" sz="13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frameworks</a:t>
            </a:r>
            <a:r>
              <a:rPr lang="es-ES" sz="13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de trabajo que permitan automatizar el trabajo realizado en el diseño de la página web.</a:t>
            </a:r>
            <a:endParaRPr sz="1300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lang="es-ES" sz="13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6" name="Google Shape;216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8336" y="228924"/>
            <a:ext cx="1580776" cy="747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5647" y="5452500"/>
            <a:ext cx="1165550" cy="117029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5"/>
          <p:cNvSpPr txBox="1"/>
          <p:nvPr/>
        </p:nvSpPr>
        <p:spPr>
          <a:xfrm>
            <a:off x="3751625" y="4820513"/>
            <a:ext cx="8304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ES" sz="15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Tema 4:</a:t>
            </a:r>
            <a:r>
              <a:rPr lang="es-ES" sz="1500" b="0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s-ES" sz="15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Mejora de código web con Bootstrap</a:t>
            </a:r>
            <a:endParaRPr sz="1500" b="0" i="0" u="none" strike="noStrike" cap="none" dirty="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g20fcd679d50_0_193"/>
          <p:cNvPicPr preferRelativeResize="0"/>
          <p:nvPr/>
        </p:nvPicPr>
        <p:blipFill rotWithShape="1">
          <a:blip r:embed="rId3">
            <a:alphaModFix/>
          </a:blip>
          <a:srcRect l="279"/>
          <a:stretch/>
        </p:blipFill>
        <p:spPr>
          <a:xfrm>
            <a:off x="0" y="0"/>
            <a:ext cx="1220895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g20fcd679d50_0_19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8336" y="228924"/>
            <a:ext cx="1580776" cy="747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g20fcd679d50_0_19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5647" y="5452500"/>
            <a:ext cx="1165550" cy="1170299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g20fcd679d50_0_193"/>
          <p:cNvSpPr txBox="1"/>
          <p:nvPr/>
        </p:nvSpPr>
        <p:spPr>
          <a:xfrm>
            <a:off x="248325" y="2298300"/>
            <a:ext cx="3191100" cy="18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SemiBold"/>
              <a:buNone/>
            </a:pPr>
            <a:r>
              <a:rPr lang="es-ES" sz="3300" b="1" i="0" u="none" strike="noStrike" cap="none">
                <a:solidFill>
                  <a:srgbClr val="2A8BFC"/>
                </a:solidFill>
                <a:latin typeface="Montserrat"/>
                <a:ea typeface="Montserrat"/>
                <a:cs typeface="Montserrat"/>
                <a:sym typeface="Montserrat"/>
              </a:rPr>
              <a:t>TEMA </a:t>
            </a:r>
            <a:r>
              <a:rPr lang="es-ES" sz="3300" b="1">
                <a:solidFill>
                  <a:srgbClr val="2A8BFC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3300" b="1" i="0" u="none" strike="noStrike" cap="none">
              <a:solidFill>
                <a:srgbClr val="2A8BF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SemiBold"/>
              <a:buNone/>
            </a:pPr>
            <a:endParaRPr sz="36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ES" sz="2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Frameworks más empleados en programación web</a:t>
            </a:r>
            <a:endParaRPr sz="15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7" name="Google Shape;227;g20fcd679d50_0_193"/>
          <p:cNvPicPr preferRelativeResize="0"/>
          <p:nvPr/>
        </p:nvPicPr>
        <p:blipFill rotWithShape="1">
          <a:blip r:embed="rId6">
            <a:alphaModFix/>
          </a:blip>
          <a:srcRect r="11276"/>
          <a:stretch/>
        </p:blipFill>
        <p:spPr>
          <a:xfrm>
            <a:off x="3439425" y="0"/>
            <a:ext cx="875257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g20fcd679d50_0_193"/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r>
              <a:rPr lang="es-E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"/>
          <p:cNvSpPr/>
          <p:nvPr/>
        </p:nvSpPr>
        <p:spPr>
          <a:xfrm rot="10800000">
            <a:off x="-152640" y="525576"/>
            <a:ext cx="441900" cy="963300"/>
          </a:xfrm>
          <a:prstGeom prst="roundRect">
            <a:avLst>
              <a:gd name="adj" fmla="val 8798"/>
            </a:avLst>
          </a:prstGeom>
          <a:solidFill>
            <a:srgbClr val="000F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4" name="Google Shape;23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7738" y="209926"/>
            <a:ext cx="1626480" cy="7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"/>
          <p:cNvSpPr/>
          <p:nvPr/>
        </p:nvSpPr>
        <p:spPr>
          <a:xfrm>
            <a:off x="7948835" y="2148420"/>
            <a:ext cx="496190" cy="573919"/>
          </a:xfrm>
          <a:custGeom>
            <a:avLst/>
            <a:gdLst/>
            <a:ahLst/>
            <a:cxnLst/>
            <a:rect l="l" t="t" r="r" b="b"/>
            <a:pathLst>
              <a:path w="11059" h="11721" extrusionOk="0">
                <a:moveTo>
                  <a:pt x="1418" y="693"/>
                </a:moveTo>
                <a:lnTo>
                  <a:pt x="1418" y="1387"/>
                </a:lnTo>
                <a:lnTo>
                  <a:pt x="725" y="1387"/>
                </a:lnTo>
                <a:lnTo>
                  <a:pt x="725" y="693"/>
                </a:lnTo>
                <a:close/>
                <a:moveTo>
                  <a:pt x="9011" y="693"/>
                </a:moveTo>
                <a:lnTo>
                  <a:pt x="9011" y="1387"/>
                </a:lnTo>
                <a:lnTo>
                  <a:pt x="8349" y="1387"/>
                </a:lnTo>
                <a:lnTo>
                  <a:pt x="8349" y="693"/>
                </a:lnTo>
                <a:close/>
                <a:moveTo>
                  <a:pt x="7656" y="1324"/>
                </a:moveTo>
                <a:lnTo>
                  <a:pt x="7656" y="1670"/>
                </a:lnTo>
                <a:cubicBezTo>
                  <a:pt x="7656" y="1891"/>
                  <a:pt x="7813" y="2048"/>
                  <a:pt x="8034" y="2048"/>
                </a:cubicBezTo>
                <a:lnTo>
                  <a:pt x="8381" y="2048"/>
                </a:lnTo>
                <a:lnTo>
                  <a:pt x="8381" y="4222"/>
                </a:lnTo>
                <a:cubicBezTo>
                  <a:pt x="8255" y="4253"/>
                  <a:pt x="8160" y="4316"/>
                  <a:pt x="8034" y="4411"/>
                </a:cubicBezTo>
                <a:cubicBezTo>
                  <a:pt x="7845" y="4243"/>
                  <a:pt x="7614" y="4159"/>
                  <a:pt x="7369" y="4159"/>
                </a:cubicBezTo>
                <a:cubicBezTo>
                  <a:pt x="7246" y="4159"/>
                  <a:pt x="7120" y="4180"/>
                  <a:pt x="6994" y="4222"/>
                </a:cubicBezTo>
                <a:lnTo>
                  <a:pt x="6994" y="3088"/>
                </a:lnTo>
                <a:cubicBezTo>
                  <a:pt x="6994" y="2552"/>
                  <a:pt x="6522" y="2080"/>
                  <a:pt x="5986" y="2080"/>
                </a:cubicBezTo>
                <a:cubicBezTo>
                  <a:pt x="5419" y="2080"/>
                  <a:pt x="4947" y="2552"/>
                  <a:pt x="4947" y="3088"/>
                </a:cubicBezTo>
                <a:lnTo>
                  <a:pt x="4947" y="6459"/>
                </a:lnTo>
                <a:lnTo>
                  <a:pt x="4789" y="6301"/>
                </a:lnTo>
                <a:cubicBezTo>
                  <a:pt x="4600" y="6097"/>
                  <a:pt x="4340" y="5994"/>
                  <a:pt x="4076" y="5994"/>
                </a:cubicBezTo>
                <a:cubicBezTo>
                  <a:pt x="3812" y="5994"/>
                  <a:pt x="3545" y="6097"/>
                  <a:pt x="3340" y="6301"/>
                </a:cubicBezTo>
                <a:cubicBezTo>
                  <a:pt x="2962" y="6679"/>
                  <a:pt x="2962" y="7341"/>
                  <a:pt x="3340" y="7751"/>
                </a:cubicBezTo>
                <a:lnTo>
                  <a:pt x="3812" y="8223"/>
                </a:lnTo>
                <a:lnTo>
                  <a:pt x="2111" y="8223"/>
                </a:lnTo>
                <a:lnTo>
                  <a:pt x="2111" y="7908"/>
                </a:lnTo>
                <a:cubicBezTo>
                  <a:pt x="2111" y="7719"/>
                  <a:pt x="1954" y="7561"/>
                  <a:pt x="1765" y="7561"/>
                </a:cubicBezTo>
                <a:lnTo>
                  <a:pt x="1418" y="7561"/>
                </a:lnTo>
                <a:lnTo>
                  <a:pt x="1418" y="2048"/>
                </a:lnTo>
                <a:lnTo>
                  <a:pt x="1765" y="2048"/>
                </a:lnTo>
                <a:cubicBezTo>
                  <a:pt x="1954" y="2048"/>
                  <a:pt x="2111" y="1891"/>
                  <a:pt x="2111" y="1670"/>
                </a:cubicBezTo>
                <a:lnTo>
                  <a:pt x="2111" y="1324"/>
                </a:lnTo>
                <a:close/>
                <a:moveTo>
                  <a:pt x="1418" y="8255"/>
                </a:moveTo>
                <a:lnTo>
                  <a:pt x="1418" y="8948"/>
                </a:lnTo>
                <a:lnTo>
                  <a:pt x="725" y="8948"/>
                </a:lnTo>
                <a:lnTo>
                  <a:pt x="725" y="8255"/>
                </a:lnTo>
                <a:close/>
                <a:moveTo>
                  <a:pt x="5955" y="2836"/>
                </a:moveTo>
                <a:cubicBezTo>
                  <a:pt x="6144" y="2836"/>
                  <a:pt x="6301" y="2993"/>
                  <a:pt x="6301" y="3182"/>
                </a:cubicBezTo>
                <a:lnTo>
                  <a:pt x="6301" y="6616"/>
                </a:lnTo>
                <a:cubicBezTo>
                  <a:pt x="6301" y="6805"/>
                  <a:pt x="6459" y="6963"/>
                  <a:pt x="6648" y="6963"/>
                </a:cubicBezTo>
                <a:cubicBezTo>
                  <a:pt x="6837" y="6963"/>
                  <a:pt x="6994" y="6805"/>
                  <a:pt x="6994" y="6616"/>
                </a:cubicBezTo>
                <a:lnTo>
                  <a:pt x="6994" y="5230"/>
                </a:lnTo>
                <a:cubicBezTo>
                  <a:pt x="6994" y="5041"/>
                  <a:pt x="7152" y="4884"/>
                  <a:pt x="7372" y="4884"/>
                </a:cubicBezTo>
                <a:cubicBezTo>
                  <a:pt x="7561" y="4884"/>
                  <a:pt x="7719" y="5041"/>
                  <a:pt x="7719" y="5230"/>
                </a:cubicBezTo>
                <a:lnTo>
                  <a:pt x="7719" y="6616"/>
                </a:lnTo>
                <a:cubicBezTo>
                  <a:pt x="7719" y="6805"/>
                  <a:pt x="7876" y="6963"/>
                  <a:pt x="8066" y="6963"/>
                </a:cubicBezTo>
                <a:cubicBezTo>
                  <a:pt x="8255" y="6963"/>
                  <a:pt x="8412" y="6805"/>
                  <a:pt x="8412" y="6616"/>
                </a:cubicBezTo>
                <a:lnTo>
                  <a:pt x="8412" y="5230"/>
                </a:lnTo>
                <a:cubicBezTo>
                  <a:pt x="8412" y="5041"/>
                  <a:pt x="8570" y="4884"/>
                  <a:pt x="8790" y="4884"/>
                </a:cubicBezTo>
                <a:cubicBezTo>
                  <a:pt x="8979" y="4884"/>
                  <a:pt x="9137" y="5041"/>
                  <a:pt x="9137" y="5230"/>
                </a:cubicBezTo>
                <a:lnTo>
                  <a:pt x="9137" y="6616"/>
                </a:lnTo>
                <a:cubicBezTo>
                  <a:pt x="9137" y="6805"/>
                  <a:pt x="9294" y="6963"/>
                  <a:pt x="9483" y="6963"/>
                </a:cubicBezTo>
                <a:cubicBezTo>
                  <a:pt x="9672" y="6963"/>
                  <a:pt x="9830" y="6805"/>
                  <a:pt x="9830" y="6616"/>
                </a:cubicBezTo>
                <a:lnTo>
                  <a:pt x="9830" y="5955"/>
                </a:lnTo>
                <a:cubicBezTo>
                  <a:pt x="9704" y="5703"/>
                  <a:pt x="9861" y="5545"/>
                  <a:pt x="10019" y="5545"/>
                </a:cubicBezTo>
                <a:cubicBezTo>
                  <a:pt x="10239" y="5545"/>
                  <a:pt x="10397" y="5703"/>
                  <a:pt x="10397" y="5892"/>
                </a:cubicBezTo>
                <a:lnTo>
                  <a:pt x="10397" y="7057"/>
                </a:lnTo>
                <a:cubicBezTo>
                  <a:pt x="10397" y="8003"/>
                  <a:pt x="10176" y="8885"/>
                  <a:pt x="9830" y="9672"/>
                </a:cubicBezTo>
                <a:lnTo>
                  <a:pt x="6144" y="9672"/>
                </a:lnTo>
                <a:lnTo>
                  <a:pt x="3812" y="7372"/>
                </a:lnTo>
                <a:cubicBezTo>
                  <a:pt x="3686" y="7246"/>
                  <a:pt x="3686" y="6994"/>
                  <a:pt x="3812" y="6900"/>
                </a:cubicBezTo>
                <a:cubicBezTo>
                  <a:pt x="3875" y="6837"/>
                  <a:pt x="3962" y="6805"/>
                  <a:pt x="4049" y="6805"/>
                </a:cubicBezTo>
                <a:cubicBezTo>
                  <a:pt x="4135" y="6805"/>
                  <a:pt x="4222" y="6837"/>
                  <a:pt x="4285" y="6900"/>
                </a:cubicBezTo>
                <a:lnTo>
                  <a:pt x="5010" y="7593"/>
                </a:lnTo>
                <a:cubicBezTo>
                  <a:pt x="5075" y="7659"/>
                  <a:pt x="5163" y="7690"/>
                  <a:pt x="5251" y="7690"/>
                </a:cubicBezTo>
                <a:cubicBezTo>
                  <a:pt x="5415" y="7690"/>
                  <a:pt x="5577" y="7578"/>
                  <a:pt x="5577" y="7372"/>
                </a:cubicBezTo>
                <a:lnTo>
                  <a:pt x="5577" y="3182"/>
                </a:lnTo>
                <a:cubicBezTo>
                  <a:pt x="5577" y="2993"/>
                  <a:pt x="5734" y="2836"/>
                  <a:pt x="5955" y="2836"/>
                </a:cubicBezTo>
                <a:close/>
                <a:moveTo>
                  <a:pt x="9672" y="10302"/>
                </a:moveTo>
                <a:lnTo>
                  <a:pt x="9672" y="10680"/>
                </a:lnTo>
                <a:cubicBezTo>
                  <a:pt x="9704" y="10869"/>
                  <a:pt x="9546" y="11027"/>
                  <a:pt x="9357" y="11027"/>
                </a:cubicBezTo>
                <a:lnTo>
                  <a:pt x="6616" y="11027"/>
                </a:lnTo>
                <a:cubicBezTo>
                  <a:pt x="6396" y="11027"/>
                  <a:pt x="6238" y="10869"/>
                  <a:pt x="6238" y="10680"/>
                </a:cubicBezTo>
                <a:lnTo>
                  <a:pt x="6238" y="10302"/>
                </a:lnTo>
                <a:close/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lnTo>
                  <a:pt x="0" y="1733"/>
                </a:lnTo>
                <a:cubicBezTo>
                  <a:pt x="0" y="1922"/>
                  <a:pt x="158" y="2080"/>
                  <a:pt x="347" y="2080"/>
                </a:cubicBezTo>
                <a:lnTo>
                  <a:pt x="693" y="2080"/>
                </a:lnTo>
                <a:lnTo>
                  <a:pt x="693" y="7593"/>
                </a:lnTo>
                <a:lnTo>
                  <a:pt x="347" y="7593"/>
                </a:lnTo>
                <a:cubicBezTo>
                  <a:pt x="158" y="7593"/>
                  <a:pt x="0" y="7751"/>
                  <a:pt x="0" y="7940"/>
                </a:cubicBezTo>
                <a:lnTo>
                  <a:pt x="0" y="9326"/>
                </a:lnTo>
                <a:cubicBezTo>
                  <a:pt x="0" y="9515"/>
                  <a:pt x="158" y="9672"/>
                  <a:pt x="347" y="9672"/>
                </a:cubicBezTo>
                <a:lnTo>
                  <a:pt x="1733" y="9672"/>
                </a:lnTo>
                <a:cubicBezTo>
                  <a:pt x="1922" y="9672"/>
                  <a:pt x="2080" y="9515"/>
                  <a:pt x="2080" y="9326"/>
                </a:cubicBezTo>
                <a:lnTo>
                  <a:pt x="2080" y="8979"/>
                </a:lnTo>
                <a:lnTo>
                  <a:pt x="4442" y="8979"/>
                </a:lnTo>
                <a:lnTo>
                  <a:pt x="5577" y="10113"/>
                </a:lnTo>
                <a:lnTo>
                  <a:pt x="5577" y="10712"/>
                </a:lnTo>
                <a:cubicBezTo>
                  <a:pt x="5577" y="11248"/>
                  <a:pt x="6049" y="11720"/>
                  <a:pt x="6616" y="11720"/>
                </a:cubicBezTo>
                <a:lnTo>
                  <a:pt x="9357" y="11720"/>
                </a:lnTo>
                <a:cubicBezTo>
                  <a:pt x="9924" y="11720"/>
                  <a:pt x="10397" y="11248"/>
                  <a:pt x="10397" y="10712"/>
                </a:cubicBezTo>
                <a:lnTo>
                  <a:pt x="10397" y="10113"/>
                </a:lnTo>
                <a:cubicBezTo>
                  <a:pt x="10806" y="9200"/>
                  <a:pt x="11058" y="8160"/>
                  <a:pt x="11058" y="7026"/>
                </a:cubicBezTo>
                <a:lnTo>
                  <a:pt x="11058" y="5892"/>
                </a:lnTo>
                <a:cubicBezTo>
                  <a:pt x="11058" y="5325"/>
                  <a:pt x="10617" y="4884"/>
                  <a:pt x="10019" y="4884"/>
                </a:cubicBezTo>
                <a:cubicBezTo>
                  <a:pt x="9924" y="4884"/>
                  <a:pt x="9767" y="4915"/>
                  <a:pt x="9641" y="4947"/>
                </a:cubicBezTo>
                <a:cubicBezTo>
                  <a:pt x="9546" y="4632"/>
                  <a:pt x="9326" y="4379"/>
                  <a:pt x="9011" y="4253"/>
                </a:cubicBezTo>
                <a:lnTo>
                  <a:pt x="9011" y="2080"/>
                </a:lnTo>
                <a:lnTo>
                  <a:pt x="9357" y="2080"/>
                </a:lnTo>
                <a:cubicBezTo>
                  <a:pt x="9546" y="2080"/>
                  <a:pt x="9735" y="1922"/>
                  <a:pt x="9735" y="1733"/>
                </a:cubicBezTo>
                <a:lnTo>
                  <a:pt x="9735" y="347"/>
                </a:lnTo>
                <a:cubicBezTo>
                  <a:pt x="9735" y="158"/>
                  <a:pt x="9546" y="0"/>
                  <a:pt x="9357" y="0"/>
                </a:cubicBezTo>
                <a:lnTo>
                  <a:pt x="7971" y="0"/>
                </a:lnTo>
                <a:cubicBezTo>
                  <a:pt x="7782" y="0"/>
                  <a:pt x="7624" y="158"/>
                  <a:pt x="7624" y="347"/>
                </a:cubicBezTo>
                <a:lnTo>
                  <a:pt x="7624" y="693"/>
                </a:lnTo>
                <a:lnTo>
                  <a:pt x="2080" y="693"/>
                </a:lnTo>
                <a:lnTo>
                  <a:pt x="2080" y="347"/>
                </a:lnTo>
                <a:cubicBezTo>
                  <a:pt x="2080" y="158"/>
                  <a:pt x="1922" y="0"/>
                  <a:pt x="173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"/>
          <p:cNvSpPr txBox="1"/>
          <p:nvPr/>
        </p:nvSpPr>
        <p:spPr>
          <a:xfrm>
            <a:off x="797825" y="1636100"/>
            <a:ext cx="6207600" cy="41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 dirty="0">
                <a:latin typeface="Montserrat"/>
                <a:ea typeface="Montserrat"/>
                <a:cs typeface="Montserrat"/>
                <a:sym typeface="Montserrat"/>
              </a:rPr>
              <a:t>Conceptos Clave: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 dirty="0" err="1">
                <a:latin typeface="Montserrat"/>
                <a:ea typeface="Montserrat"/>
                <a:cs typeface="Montserrat"/>
                <a:sym typeface="Montserrat"/>
              </a:rPr>
              <a:t>React</a:t>
            </a:r>
            <a:r>
              <a:rPr lang="es-ES" sz="1500" b="1" dirty="0"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s-ES" sz="1500" dirty="0">
                <a:latin typeface="Montserrat"/>
                <a:ea typeface="Montserrat"/>
                <a:cs typeface="Montserrat"/>
                <a:sym typeface="Montserrat"/>
              </a:rPr>
              <a:t>Biblioteca de JavaScript para construir interfaces de usuario.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 dirty="0">
                <a:latin typeface="Montserrat"/>
                <a:ea typeface="Montserrat"/>
                <a:cs typeface="Montserrat"/>
                <a:sym typeface="Montserrat"/>
              </a:rPr>
              <a:t>Angular:</a:t>
            </a:r>
            <a:r>
              <a:rPr lang="es-ES" sz="1500" dirty="0">
                <a:latin typeface="Montserrat"/>
                <a:ea typeface="Montserrat"/>
                <a:cs typeface="Montserrat"/>
                <a:sym typeface="Montserrat"/>
              </a:rPr>
              <a:t> Framework de desarrollo para aplicaciones web dinámicas.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 dirty="0">
                <a:latin typeface="Montserrat"/>
                <a:ea typeface="Montserrat"/>
                <a:cs typeface="Montserrat"/>
                <a:sym typeface="Montserrat"/>
              </a:rPr>
              <a:t>Vue.js: </a:t>
            </a:r>
            <a:r>
              <a:rPr lang="es-ES" sz="1500" dirty="0">
                <a:latin typeface="Montserrat"/>
                <a:ea typeface="Montserrat"/>
                <a:cs typeface="Montserrat"/>
                <a:sym typeface="Montserrat"/>
              </a:rPr>
              <a:t>Framework progresivo para construir interfaces de usuario.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 dirty="0">
                <a:latin typeface="Montserrat"/>
                <a:ea typeface="Montserrat"/>
                <a:cs typeface="Montserrat"/>
                <a:sym typeface="Montserrat"/>
              </a:rPr>
              <a:t>Beneficios: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latin typeface="Montserrat"/>
                <a:ea typeface="Montserrat"/>
                <a:cs typeface="Montserrat"/>
                <a:sym typeface="Montserrat"/>
              </a:rPr>
              <a:t>Aceleración del desarrollo.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latin typeface="Montserrat"/>
                <a:ea typeface="Montserrat"/>
                <a:cs typeface="Montserrat"/>
                <a:sym typeface="Montserrat"/>
              </a:rPr>
              <a:t>Mejora de la mantenibilidad del código.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latin typeface="Montserrat"/>
                <a:ea typeface="Montserrat"/>
                <a:cs typeface="Montserrat"/>
                <a:sym typeface="Montserrat"/>
              </a:rPr>
              <a:t>Fomento de las buenas prácticas de desarrollo.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 dirty="0">
                <a:latin typeface="Montserrat"/>
                <a:ea typeface="Montserrat"/>
                <a:cs typeface="Montserrat"/>
                <a:sym typeface="Montserrat"/>
              </a:rPr>
              <a:t>Aplicaciones Prácticas: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latin typeface="Montserrat"/>
                <a:ea typeface="Montserrat"/>
                <a:cs typeface="Montserrat"/>
                <a:sym typeface="Montserrat"/>
              </a:rPr>
              <a:t>Desarrollo de aplicaciones de una sola página (SPA).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latin typeface="Montserrat"/>
                <a:ea typeface="Montserrat"/>
                <a:cs typeface="Montserrat"/>
                <a:sym typeface="Montserrat"/>
              </a:rPr>
              <a:t>Creación de interfaces de usuario dinámicas y responsivas.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latin typeface="Montserrat"/>
                <a:ea typeface="Montserrat"/>
                <a:cs typeface="Montserrat"/>
                <a:sym typeface="Montserrat"/>
              </a:rPr>
              <a:t>Implementación de componentes reutilizables.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7" name="Google Shape;237;p1"/>
          <p:cNvSpPr/>
          <p:nvPr/>
        </p:nvSpPr>
        <p:spPr>
          <a:xfrm rot="10800000">
            <a:off x="-152640" y="525576"/>
            <a:ext cx="441900" cy="963300"/>
          </a:xfrm>
          <a:prstGeom prst="roundRect">
            <a:avLst>
              <a:gd name="adj" fmla="val 8798"/>
            </a:avLst>
          </a:prstGeom>
          <a:solidFill>
            <a:srgbClr val="000F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"/>
          <p:cNvSpPr txBox="1"/>
          <p:nvPr/>
        </p:nvSpPr>
        <p:spPr>
          <a:xfrm>
            <a:off x="797825" y="499325"/>
            <a:ext cx="63423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F5A"/>
              </a:buClr>
              <a:buSzPts val="3000"/>
              <a:buFont typeface="Montserrat ExtraBold"/>
              <a:buNone/>
            </a:pPr>
            <a:r>
              <a:rPr lang="es-ES" sz="3000" dirty="0" err="1">
                <a:solidFill>
                  <a:srgbClr val="000F5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Frameworks</a:t>
            </a:r>
            <a:r>
              <a:rPr lang="es-ES" sz="3000" dirty="0">
                <a:solidFill>
                  <a:srgbClr val="000F5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más empleados</a:t>
            </a:r>
            <a:endParaRPr sz="3000" dirty="0">
              <a:solidFill>
                <a:srgbClr val="000F5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F5A"/>
              </a:buClr>
              <a:buSzPts val="3000"/>
              <a:buFont typeface="Montserrat ExtraBold"/>
              <a:buNone/>
            </a:pPr>
            <a:r>
              <a:rPr lang="es-ES" sz="3000" dirty="0">
                <a:solidFill>
                  <a:srgbClr val="000F5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en Programación Web</a:t>
            </a:r>
            <a:endParaRPr sz="3000" dirty="0">
              <a:solidFill>
                <a:srgbClr val="000F5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239" name="Google Shape;239;p1"/>
          <p:cNvPicPr preferRelativeResize="0"/>
          <p:nvPr/>
        </p:nvPicPr>
        <p:blipFill rotWithShape="1">
          <a:blip r:embed="rId4">
            <a:alphaModFix/>
          </a:blip>
          <a:srcRect t="22933" b="23331"/>
          <a:stretch/>
        </p:blipFill>
        <p:spPr>
          <a:xfrm>
            <a:off x="7461000" y="3055089"/>
            <a:ext cx="3689175" cy="989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"/>
          <p:cNvPicPr preferRelativeResize="0"/>
          <p:nvPr/>
        </p:nvPicPr>
        <p:blipFill rotWithShape="1">
          <a:blip r:embed="rId5">
            <a:alphaModFix/>
          </a:blip>
          <a:srcRect l="17223" t="16568" r="23036" b="12171"/>
          <a:stretch/>
        </p:blipFill>
        <p:spPr>
          <a:xfrm>
            <a:off x="8011119" y="4358169"/>
            <a:ext cx="2588923" cy="1066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"/>
          <p:cNvPicPr preferRelativeResize="0"/>
          <p:nvPr/>
        </p:nvPicPr>
        <p:blipFill rotWithShape="1">
          <a:blip r:embed="rId6">
            <a:alphaModFix/>
          </a:blip>
          <a:srcRect l="13489" t="20100" r="11777" b="21279"/>
          <a:stretch/>
        </p:blipFill>
        <p:spPr>
          <a:xfrm>
            <a:off x="7933896" y="1636100"/>
            <a:ext cx="2743409" cy="121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-59625" y="6166100"/>
            <a:ext cx="12338525" cy="77327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"/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r>
              <a:rPr lang="es-E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45"/>
          <p:cNvPicPr preferRelativeResize="0"/>
          <p:nvPr/>
        </p:nvPicPr>
        <p:blipFill rotWithShape="1">
          <a:blip r:embed="rId3">
            <a:alphaModFix/>
          </a:blip>
          <a:srcRect l="279"/>
          <a:stretch/>
        </p:blipFill>
        <p:spPr>
          <a:xfrm>
            <a:off x="0" y="0"/>
            <a:ext cx="1220895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8336" y="228924"/>
            <a:ext cx="1580776" cy="747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4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5647" y="5452500"/>
            <a:ext cx="1165550" cy="1170299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45"/>
          <p:cNvSpPr txBox="1"/>
          <p:nvPr/>
        </p:nvSpPr>
        <p:spPr>
          <a:xfrm>
            <a:off x="248325" y="2298300"/>
            <a:ext cx="3191100" cy="18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SemiBold"/>
              <a:buNone/>
            </a:pPr>
            <a:r>
              <a:rPr lang="es-ES" sz="3300" b="1" i="0" u="none" strike="noStrike" cap="none">
                <a:solidFill>
                  <a:srgbClr val="2A8BFC"/>
                </a:solidFill>
                <a:latin typeface="Montserrat"/>
                <a:ea typeface="Montserrat"/>
                <a:cs typeface="Montserrat"/>
                <a:sym typeface="Montserrat"/>
              </a:rPr>
              <a:t>TEMA </a:t>
            </a:r>
            <a:r>
              <a:rPr lang="es-ES" sz="3300" b="1">
                <a:solidFill>
                  <a:srgbClr val="2A8BFC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3300" b="1" i="0" u="none" strike="noStrike" cap="none">
              <a:solidFill>
                <a:srgbClr val="2A8BF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SemiBold"/>
              <a:buNone/>
            </a:pPr>
            <a:endParaRPr sz="36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ES" sz="22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Bootstrap</a:t>
            </a:r>
            <a:endParaRPr sz="15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2" name="Google Shape;252;p45"/>
          <p:cNvPicPr preferRelativeResize="0"/>
          <p:nvPr/>
        </p:nvPicPr>
        <p:blipFill rotWithShape="1">
          <a:blip r:embed="rId6">
            <a:alphaModFix/>
          </a:blip>
          <a:srcRect r="11276"/>
          <a:stretch/>
        </p:blipFill>
        <p:spPr>
          <a:xfrm>
            <a:off x="3439425" y="0"/>
            <a:ext cx="875257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45"/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r>
              <a:rPr lang="es-E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g2ada6b3ec75_0_1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7738" y="209926"/>
            <a:ext cx="1626480" cy="7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g2ada6b3ec75_0_168"/>
          <p:cNvSpPr txBox="1"/>
          <p:nvPr/>
        </p:nvSpPr>
        <p:spPr>
          <a:xfrm>
            <a:off x="810100" y="1554025"/>
            <a:ext cx="5238300" cy="4339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 dirty="0">
                <a:latin typeface="Montserrat"/>
                <a:ea typeface="Montserrat"/>
                <a:cs typeface="Montserrat"/>
                <a:sym typeface="Montserrat"/>
              </a:rPr>
              <a:t>Conceptos Clave: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500" b="1" dirty="0" err="1">
                <a:latin typeface="Montserrat"/>
                <a:ea typeface="Montserrat"/>
                <a:cs typeface="Montserrat"/>
                <a:sym typeface="Montserrat"/>
              </a:rPr>
              <a:t>Grid</a:t>
            </a:r>
            <a:r>
              <a:rPr lang="es-ES" sz="1500" b="1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-ES" sz="1500" b="1" dirty="0" err="1">
                <a:latin typeface="Montserrat"/>
                <a:ea typeface="Montserrat"/>
                <a:cs typeface="Montserrat"/>
                <a:sym typeface="Montserrat"/>
              </a:rPr>
              <a:t>System</a:t>
            </a:r>
            <a:r>
              <a:rPr lang="es-ES" sz="1500" b="1" dirty="0"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lang="es-ES" sz="1500" dirty="0">
                <a:latin typeface="Montserrat"/>
                <a:ea typeface="Montserrat"/>
                <a:cs typeface="Montserrat"/>
                <a:sym typeface="Montserrat"/>
              </a:rPr>
              <a:t> Sistema de rejilla para crear </a:t>
            </a:r>
            <a:r>
              <a:rPr lang="es-ES" sz="1500" dirty="0" err="1">
                <a:latin typeface="Montserrat"/>
                <a:ea typeface="Montserrat"/>
                <a:cs typeface="Montserrat"/>
                <a:sym typeface="Montserrat"/>
              </a:rPr>
              <a:t>layouts</a:t>
            </a:r>
            <a:r>
              <a:rPr lang="es-ES" sz="1500" dirty="0">
                <a:latin typeface="Montserrat"/>
                <a:ea typeface="Montserrat"/>
                <a:cs typeface="Montserrat"/>
                <a:sym typeface="Montserrat"/>
              </a:rPr>
              <a:t> responsivos.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500" b="1" dirty="0">
                <a:latin typeface="Montserrat"/>
                <a:ea typeface="Montserrat"/>
                <a:cs typeface="Montserrat"/>
                <a:sym typeface="Montserrat"/>
              </a:rPr>
              <a:t>Componentes: </a:t>
            </a:r>
            <a:r>
              <a:rPr lang="es-ES" sz="1500" dirty="0">
                <a:latin typeface="Montserrat"/>
                <a:ea typeface="Montserrat"/>
                <a:cs typeface="Montserrat"/>
                <a:sym typeface="Montserrat"/>
              </a:rPr>
              <a:t>Elementos UI predefinidos como botones, formularios y modales.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500" b="1" dirty="0">
                <a:latin typeface="Montserrat"/>
                <a:ea typeface="Montserrat"/>
                <a:cs typeface="Montserrat"/>
                <a:sym typeface="Montserrat"/>
              </a:rPr>
              <a:t>Utilidades CSS:</a:t>
            </a:r>
            <a:r>
              <a:rPr lang="es-ES" sz="1500" dirty="0">
                <a:latin typeface="Montserrat"/>
                <a:ea typeface="Montserrat"/>
                <a:cs typeface="Montserrat"/>
                <a:sym typeface="Montserrat"/>
              </a:rPr>
              <a:t> Clases para aplicar estilos rápidamente.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 dirty="0">
                <a:latin typeface="Montserrat"/>
                <a:ea typeface="Montserrat"/>
                <a:cs typeface="Montserrat"/>
                <a:sym typeface="Montserrat"/>
              </a:rPr>
              <a:t>Beneficios: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500" dirty="0">
                <a:latin typeface="Montserrat"/>
                <a:ea typeface="Montserrat"/>
                <a:cs typeface="Montserrat"/>
                <a:sym typeface="Montserrat"/>
              </a:rPr>
              <a:t>Acelera el diseño y desarrollo de interfaces.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500" dirty="0">
                <a:latin typeface="Montserrat"/>
                <a:ea typeface="Montserrat"/>
                <a:cs typeface="Montserrat"/>
                <a:sym typeface="Montserrat"/>
              </a:rPr>
              <a:t>Asegura la consistencia y </a:t>
            </a:r>
            <a:r>
              <a:rPr lang="es-ES" sz="1500" dirty="0" err="1">
                <a:latin typeface="Montserrat"/>
                <a:ea typeface="Montserrat"/>
                <a:cs typeface="Montserrat"/>
                <a:sym typeface="Montserrat"/>
              </a:rPr>
              <a:t>responsividad</a:t>
            </a:r>
            <a:r>
              <a:rPr lang="es-ES" sz="1500" dirty="0">
                <a:latin typeface="Montserrat"/>
                <a:ea typeface="Montserrat"/>
                <a:cs typeface="Montserrat"/>
                <a:sym typeface="Montserrat"/>
              </a:rPr>
              <a:t> del diseño.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500" dirty="0">
                <a:latin typeface="Montserrat"/>
                <a:ea typeface="Montserrat"/>
                <a:cs typeface="Montserrat"/>
                <a:sym typeface="Montserrat"/>
              </a:rPr>
              <a:t>Amplia comunidad y soporte.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 dirty="0">
                <a:latin typeface="Montserrat"/>
                <a:ea typeface="Montserrat"/>
                <a:cs typeface="Montserrat"/>
                <a:sym typeface="Montserrat"/>
              </a:rPr>
              <a:t>Aplicaciones Prácticas: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500" dirty="0">
                <a:latin typeface="Montserrat"/>
                <a:ea typeface="Montserrat"/>
                <a:cs typeface="Montserrat"/>
                <a:sym typeface="Montserrat"/>
              </a:rPr>
              <a:t>Desarrollo rápido de prototipos.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500" dirty="0">
                <a:latin typeface="Montserrat"/>
                <a:ea typeface="Montserrat"/>
                <a:cs typeface="Montserrat"/>
                <a:sym typeface="Montserrat"/>
              </a:rPr>
              <a:t>Creación de sitios web y aplicaciones móviles.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500" dirty="0">
                <a:latin typeface="Montserrat"/>
                <a:ea typeface="Montserrat"/>
                <a:cs typeface="Montserrat"/>
                <a:sym typeface="Montserrat"/>
              </a:rPr>
              <a:t>Integración con otros </a:t>
            </a:r>
            <a:r>
              <a:rPr lang="es-ES" sz="1500" dirty="0" err="1">
                <a:latin typeface="Montserrat"/>
                <a:ea typeface="Montserrat"/>
                <a:cs typeface="Montserrat"/>
                <a:sym typeface="Montserrat"/>
              </a:rPr>
              <a:t>frameworks</a:t>
            </a:r>
            <a:r>
              <a:rPr lang="es-ES" sz="1500" dirty="0">
                <a:latin typeface="Montserrat"/>
                <a:ea typeface="Montserrat"/>
                <a:cs typeface="Montserrat"/>
                <a:sym typeface="Montserrat"/>
              </a:rPr>
              <a:t> y tecnologías.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g2ada6b3ec75_0_168"/>
          <p:cNvSpPr/>
          <p:nvPr/>
        </p:nvSpPr>
        <p:spPr>
          <a:xfrm rot="10800000">
            <a:off x="-152640" y="525576"/>
            <a:ext cx="441900" cy="963300"/>
          </a:xfrm>
          <a:prstGeom prst="roundRect">
            <a:avLst>
              <a:gd name="adj" fmla="val 8798"/>
            </a:avLst>
          </a:prstGeom>
          <a:solidFill>
            <a:srgbClr val="000F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2ada6b3ec75_0_168"/>
          <p:cNvSpPr txBox="1"/>
          <p:nvPr/>
        </p:nvSpPr>
        <p:spPr>
          <a:xfrm>
            <a:off x="810100" y="707075"/>
            <a:ext cx="5701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F5A"/>
              </a:buClr>
              <a:buSzPts val="3000"/>
              <a:buFont typeface="Montserrat ExtraBold"/>
              <a:buNone/>
            </a:pPr>
            <a:r>
              <a:rPr lang="es-ES" sz="3000">
                <a:solidFill>
                  <a:srgbClr val="000F5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Bootstrap</a:t>
            </a:r>
            <a:endParaRPr sz="3000">
              <a:solidFill>
                <a:srgbClr val="2A8BF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263" name="Google Shape;263;g2ada6b3ec75_0_16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59625" y="6166100"/>
            <a:ext cx="12338525" cy="77327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g2ada6b3ec75_0_168"/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8</a:t>
            </a:r>
            <a:r>
              <a:rPr lang="es-E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074" name="Picture 2" descr="Bootstrap Original Wordmark PNG Logo — Download Free Transparent Logo">
            <a:extLst>
              <a:ext uri="{FF2B5EF4-FFF2-40B4-BE49-F238E27FC236}">
                <a16:creationId xmlns:a16="http://schemas.microsoft.com/office/drawing/2014/main" id="{2B2F4E0C-BDCC-724C-5061-E57951521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4531" y="1851829"/>
            <a:ext cx="3473207" cy="3473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g2ada6b3ec75_0_242"/>
          <p:cNvPicPr preferRelativeResize="0"/>
          <p:nvPr/>
        </p:nvPicPr>
        <p:blipFill rotWithShape="1">
          <a:blip r:embed="rId3">
            <a:alphaModFix/>
          </a:blip>
          <a:srcRect l="279"/>
          <a:stretch/>
        </p:blipFill>
        <p:spPr>
          <a:xfrm>
            <a:off x="0" y="0"/>
            <a:ext cx="1220895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g2ada6b3ec75_0_2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8336" y="228924"/>
            <a:ext cx="1580776" cy="747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g2ada6b3ec75_0_24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5647" y="5452500"/>
            <a:ext cx="1165550" cy="1170299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g2ada6b3ec75_0_242"/>
          <p:cNvSpPr txBox="1"/>
          <p:nvPr/>
        </p:nvSpPr>
        <p:spPr>
          <a:xfrm>
            <a:off x="248325" y="2298300"/>
            <a:ext cx="3191100" cy="18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SemiBold"/>
              <a:buNone/>
            </a:pPr>
            <a:r>
              <a:rPr lang="es-ES" sz="3300" b="1" i="0" u="none" strike="noStrike" cap="none" dirty="0">
                <a:solidFill>
                  <a:srgbClr val="2A8BFC"/>
                </a:solidFill>
                <a:latin typeface="Montserrat"/>
                <a:ea typeface="Montserrat"/>
                <a:cs typeface="Montserrat"/>
                <a:sym typeface="Montserrat"/>
              </a:rPr>
              <a:t>TEMA </a:t>
            </a:r>
            <a:r>
              <a:rPr lang="es-ES" sz="3300" b="1" dirty="0">
                <a:solidFill>
                  <a:srgbClr val="2A8BFC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3300" b="1" i="0" u="none" strike="noStrike" cap="none" dirty="0">
              <a:solidFill>
                <a:srgbClr val="2A8BF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SemiBold"/>
              <a:buNone/>
            </a:pPr>
            <a:endParaRPr sz="36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ES" sz="22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Integración de Framework con Sistema de Diseño</a:t>
            </a:r>
            <a:endParaRPr sz="22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3" name="Google Shape;273;g2ada6b3ec75_0_242"/>
          <p:cNvPicPr preferRelativeResize="0"/>
          <p:nvPr/>
        </p:nvPicPr>
        <p:blipFill rotWithShape="1">
          <a:blip r:embed="rId6">
            <a:alphaModFix/>
          </a:blip>
          <a:srcRect r="11276"/>
          <a:stretch/>
        </p:blipFill>
        <p:spPr>
          <a:xfrm>
            <a:off x="3439425" y="0"/>
            <a:ext cx="875257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g2ada6b3ec75_0_242"/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9</a:t>
            </a:r>
            <a:r>
              <a:rPr lang="es-E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g2ada6b3ec75_0_2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7738" y="209926"/>
            <a:ext cx="1626480" cy="7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g2ada6b3ec75_0_251"/>
          <p:cNvSpPr txBox="1"/>
          <p:nvPr/>
        </p:nvSpPr>
        <p:spPr>
          <a:xfrm>
            <a:off x="797825" y="1930456"/>
            <a:ext cx="5618700" cy="249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 b="1" dirty="0">
                <a:latin typeface="Montserrat"/>
                <a:ea typeface="Montserrat"/>
                <a:cs typeface="Montserrat"/>
                <a:sym typeface="Montserrat"/>
              </a:rPr>
              <a:t>REACT + MATERIAL UI: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 dirty="0" err="1">
                <a:latin typeface="Montserrat"/>
                <a:ea typeface="Montserrat"/>
                <a:cs typeface="Montserrat"/>
                <a:sym typeface="Montserrat"/>
              </a:rPr>
              <a:t>React</a:t>
            </a:r>
            <a:r>
              <a:rPr lang="es-MX" sz="1500" dirty="0">
                <a:latin typeface="Montserrat"/>
                <a:ea typeface="Montserrat"/>
                <a:cs typeface="Montserrat"/>
                <a:sym typeface="Montserrat"/>
              </a:rPr>
              <a:t> es un </a:t>
            </a:r>
            <a:r>
              <a:rPr lang="es-MX" sz="1500" dirty="0" err="1">
                <a:latin typeface="Montserrat"/>
                <a:ea typeface="Montserrat"/>
                <a:cs typeface="Montserrat"/>
                <a:sym typeface="Montserrat"/>
              </a:rPr>
              <a:t>framework</a:t>
            </a:r>
            <a:r>
              <a:rPr lang="es-MX" sz="1500" dirty="0">
                <a:latin typeface="Montserrat"/>
                <a:ea typeface="Montserrat"/>
                <a:cs typeface="Montserrat"/>
                <a:sym typeface="Montserrat"/>
              </a:rPr>
              <a:t> popular para construir interfaces de usuario, y Material UI es un sistema de diseño de Google que proporciona componentes y estilos basados en Material </a:t>
            </a:r>
            <a:r>
              <a:rPr lang="es-MX" sz="1500" dirty="0" err="1">
                <a:latin typeface="Montserrat"/>
                <a:ea typeface="Montserrat"/>
                <a:cs typeface="Montserrat"/>
                <a:sym typeface="Montserrat"/>
              </a:rPr>
              <a:t>Design</a:t>
            </a:r>
            <a:r>
              <a:rPr lang="es-MX" sz="1500" dirty="0"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MX"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 b="1" dirty="0">
                <a:latin typeface="Montserrat"/>
                <a:ea typeface="Montserrat"/>
                <a:cs typeface="Montserrat"/>
                <a:sym typeface="Montserrat"/>
              </a:rPr>
              <a:t>ANGULAR + ANT DESIGN: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 dirty="0">
                <a:latin typeface="Montserrat"/>
                <a:ea typeface="Montserrat"/>
                <a:cs typeface="Montserrat"/>
                <a:sym typeface="Montserrat"/>
              </a:rPr>
              <a:t>Angular es otro </a:t>
            </a:r>
            <a:r>
              <a:rPr lang="es-MX" sz="1500" dirty="0" err="1">
                <a:latin typeface="Montserrat"/>
                <a:ea typeface="Montserrat"/>
                <a:cs typeface="Montserrat"/>
                <a:sym typeface="Montserrat"/>
              </a:rPr>
              <a:t>framework</a:t>
            </a:r>
            <a:r>
              <a:rPr lang="es-MX" sz="1500" dirty="0">
                <a:latin typeface="Montserrat"/>
                <a:ea typeface="Montserrat"/>
                <a:cs typeface="Montserrat"/>
                <a:sym typeface="Montserrat"/>
              </a:rPr>
              <a:t> popular, y </a:t>
            </a:r>
            <a:r>
              <a:rPr lang="es-MX" sz="1500" dirty="0" err="1">
                <a:latin typeface="Montserrat"/>
                <a:ea typeface="Montserrat"/>
                <a:cs typeface="Montserrat"/>
                <a:sym typeface="Montserrat"/>
              </a:rPr>
              <a:t>Ant</a:t>
            </a:r>
            <a:r>
              <a:rPr lang="es-MX" sz="1500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-MX" sz="1500" dirty="0" err="1">
                <a:latin typeface="Montserrat"/>
                <a:ea typeface="Montserrat"/>
                <a:cs typeface="Montserrat"/>
                <a:sym typeface="Montserrat"/>
              </a:rPr>
              <a:t>Design</a:t>
            </a:r>
            <a:r>
              <a:rPr lang="es-MX" sz="1500" dirty="0">
                <a:latin typeface="Montserrat"/>
                <a:ea typeface="Montserrat"/>
                <a:cs typeface="Montserrat"/>
                <a:sym typeface="Montserrat"/>
              </a:rPr>
              <a:t> es un sistema de diseño con muchos componentes y herramientas útiles. 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1" name="Google Shape;281;g2ada6b3ec75_0_251"/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 i="0" u="none" strike="noStrike" cap="none">
                <a:solidFill>
                  <a:srgbClr val="000F5A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s-ES" sz="1300" b="1">
                <a:solidFill>
                  <a:srgbClr val="000F5A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r>
              <a:rPr lang="es-ES" sz="1300" b="1" i="0" u="none" strike="noStrike" cap="none">
                <a:solidFill>
                  <a:srgbClr val="000F5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 b="1" i="0" u="none" strike="noStrike" cap="none">
              <a:solidFill>
                <a:srgbClr val="000F5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2" name="Google Shape;282;g2ada6b3ec75_0_251"/>
          <p:cNvSpPr/>
          <p:nvPr/>
        </p:nvSpPr>
        <p:spPr>
          <a:xfrm rot="10800000">
            <a:off x="-152640" y="525576"/>
            <a:ext cx="441900" cy="963300"/>
          </a:xfrm>
          <a:prstGeom prst="roundRect">
            <a:avLst>
              <a:gd name="adj" fmla="val 8798"/>
            </a:avLst>
          </a:prstGeom>
          <a:solidFill>
            <a:srgbClr val="000F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2ada6b3ec75_0_251"/>
          <p:cNvSpPr/>
          <p:nvPr/>
        </p:nvSpPr>
        <p:spPr>
          <a:xfrm rot="10800000">
            <a:off x="-152640" y="525576"/>
            <a:ext cx="441900" cy="963300"/>
          </a:xfrm>
          <a:prstGeom prst="roundRect">
            <a:avLst>
              <a:gd name="adj" fmla="val 8798"/>
            </a:avLst>
          </a:prstGeom>
          <a:solidFill>
            <a:srgbClr val="000F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2ada6b3ec75_0_251"/>
          <p:cNvSpPr txBox="1"/>
          <p:nvPr/>
        </p:nvSpPr>
        <p:spPr>
          <a:xfrm>
            <a:off x="797825" y="499325"/>
            <a:ext cx="8012688" cy="101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F5A"/>
              </a:buClr>
              <a:buSzPts val="3000"/>
              <a:buFont typeface="Montserrat ExtraBold"/>
              <a:buNone/>
            </a:pPr>
            <a:r>
              <a:rPr lang="es-ES" sz="3000" dirty="0">
                <a:solidFill>
                  <a:srgbClr val="000F5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Integración de Framework con Sistemas de Diseño</a:t>
            </a:r>
            <a:endParaRPr sz="3000" dirty="0">
              <a:solidFill>
                <a:srgbClr val="000F5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2" name="Google Shape;239;p1">
            <a:extLst>
              <a:ext uri="{FF2B5EF4-FFF2-40B4-BE49-F238E27FC236}">
                <a16:creationId xmlns:a16="http://schemas.microsoft.com/office/drawing/2014/main" id="{0341649C-500C-1499-C224-D8F8DBB6603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22933" b="23331"/>
          <a:stretch/>
        </p:blipFill>
        <p:spPr>
          <a:xfrm>
            <a:off x="6758134" y="3861914"/>
            <a:ext cx="2243381" cy="699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41;p1">
            <a:extLst>
              <a:ext uri="{FF2B5EF4-FFF2-40B4-BE49-F238E27FC236}">
                <a16:creationId xmlns:a16="http://schemas.microsoft.com/office/drawing/2014/main" id="{114ECF26-0785-E339-3B60-E509B191A2C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13489" t="20100" r="11777" b="21279"/>
          <a:stretch/>
        </p:blipFill>
        <p:spPr>
          <a:xfrm>
            <a:off x="6889422" y="2173984"/>
            <a:ext cx="2157760" cy="989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Material UI: A Guide to Build Modern and Responsive Web Applications | by  Gokul Abisheak | MS Club of SLIIT | Medium">
            <a:extLst>
              <a:ext uri="{FF2B5EF4-FFF2-40B4-BE49-F238E27FC236}">
                <a16:creationId xmlns:a16="http://schemas.microsoft.com/office/drawing/2014/main" id="{3A2C62D2-5043-B3FF-0085-9DD63B8B99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3125" y="2103823"/>
            <a:ext cx="2049975" cy="1076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NT DESIGN">
            <a:extLst>
              <a:ext uri="{FF2B5EF4-FFF2-40B4-BE49-F238E27FC236}">
                <a16:creationId xmlns:a16="http://schemas.microsoft.com/office/drawing/2014/main" id="{0861F590-0304-32F7-440D-E2559DA4E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5786" y="3093628"/>
            <a:ext cx="2372449" cy="2372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g1ee9218af08_0_6"/>
          <p:cNvPicPr preferRelativeResize="0"/>
          <p:nvPr/>
        </p:nvPicPr>
        <p:blipFill rotWithShape="1">
          <a:blip r:embed="rId3">
            <a:alphaModFix/>
          </a:blip>
          <a:srcRect l="279"/>
          <a:stretch/>
        </p:blipFill>
        <p:spPr>
          <a:xfrm>
            <a:off x="0" y="0"/>
            <a:ext cx="1220895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g1ee9218af08_0_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8336" y="228924"/>
            <a:ext cx="1580776" cy="747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g1ee9218af08_0_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5647" y="5452500"/>
            <a:ext cx="1165550" cy="1170299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g1ee9218af08_0_6"/>
          <p:cNvSpPr txBox="1"/>
          <p:nvPr/>
        </p:nvSpPr>
        <p:spPr>
          <a:xfrm>
            <a:off x="248325" y="2298300"/>
            <a:ext cx="3191100" cy="18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SemiBold"/>
              <a:buNone/>
            </a:pPr>
            <a:r>
              <a:rPr lang="es-ES" sz="3300" b="1" i="0" u="none" strike="noStrike" cap="none" dirty="0">
                <a:solidFill>
                  <a:srgbClr val="2A8BFC"/>
                </a:solidFill>
                <a:latin typeface="Montserrat"/>
                <a:ea typeface="Montserrat"/>
                <a:cs typeface="Montserrat"/>
                <a:sym typeface="Montserrat"/>
              </a:rPr>
              <a:t>TEMA </a:t>
            </a:r>
            <a:r>
              <a:rPr lang="es-ES" sz="3300" b="1" dirty="0">
                <a:solidFill>
                  <a:srgbClr val="2A8BFC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3300" b="1" i="0" u="none" strike="noStrike" cap="none" dirty="0">
              <a:solidFill>
                <a:srgbClr val="2A8BF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SemiBold"/>
              <a:buNone/>
            </a:pPr>
            <a:endParaRPr sz="36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ES" sz="22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Mejora de código web con Bootstrap</a:t>
            </a:r>
            <a:endParaRPr sz="15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4" name="Google Shape;294;g1ee9218af08_0_6"/>
          <p:cNvPicPr preferRelativeResize="0"/>
          <p:nvPr/>
        </p:nvPicPr>
        <p:blipFill rotWithShape="1">
          <a:blip r:embed="rId6">
            <a:alphaModFix/>
          </a:blip>
          <a:srcRect r="11276"/>
          <a:stretch/>
        </p:blipFill>
        <p:spPr>
          <a:xfrm>
            <a:off x="3439425" y="0"/>
            <a:ext cx="875257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g1ee9218af08_0_6"/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s-ES" sz="13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s-E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g2ae66c03690_0_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7738" y="209926"/>
            <a:ext cx="1626480" cy="7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g2ae66c03690_0_30"/>
          <p:cNvSpPr txBox="1"/>
          <p:nvPr/>
        </p:nvSpPr>
        <p:spPr>
          <a:xfrm>
            <a:off x="895349" y="1099459"/>
            <a:ext cx="7301977" cy="5032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 dirty="0">
                <a:latin typeface="Montserrat"/>
                <a:ea typeface="Montserrat"/>
                <a:cs typeface="Montserrat"/>
                <a:sym typeface="Montserrat"/>
              </a:rPr>
              <a:t>Bootstrap puede mejorar un sitio web mejorando la </a:t>
            </a:r>
            <a:r>
              <a:rPr lang="es-MX" sz="1500" dirty="0" err="1">
                <a:latin typeface="Montserrat"/>
                <a:ea typeface="Montserrat"/>
                <a:cs typeface="Montserrat"/>
                <a:sym typeface="Montserrat"/>
              </a:rPr>
              <a:t>responsividad</a:t>
            </a:r>
            <a:r>
              <a:rPr lang="es-MX" sz="1500" dirty="0">
                <a:latin typeface="Montserrat"/>
                <a:ea typeface="Montserrat"/>
                <a:cs typeface="Montserrat"/>
                <a:sym typeface="Montserrat"/>
              </a:rPr>
              <a:t>, la velocidad de desarrollo y la consistencia visual, además de ofrecer una variedad de componentes prefabricados. Para optimizar aún más, considera </a:t>
            </a:r>
            <a:r>
              <a:rPr lang="es-MX" sz="1500" dirty="0" err="1">
                <a:latin typeface="Montserrat"/>
                <a:ea typeface="Montserrat"/>
                <a:cs typeface="Montserrat"/>
                <a:sym typeface="Montserrat"/>
              </a:rPr>
              <a:t>minificar</a:t>
            </a:r>
            <a:r>
              <a:rPr lang="es-MX" sz="1500" dirty="0">
                <a:latin typeface="Montserrat"/>
                <a:ea typeface="Montserrat"/>
                <a:cs typeface="Montserrat"/>
                <a:sym typeface="Montserrat"/>
              </a:rPr>
              <a:t> y comprimir los archivos CSS y JavaScript de Bootstrap, usar solo los componentes necesarios, y personalizar los estilos existentes para evitar la sobrecarga. 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MX"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sz="1500" b="1" dirty="0">
                <a:latin typeface="Montserrat"/>
                <a:ea typeface="Montserrat"/>
                <a:cs typeface="Montserrat"/>
                <a:sym typeface="Montserrat"/>
              </a:rPr>
              <a:t>Diseño responsivo: </a:t>
            </a:r>
            <a:r>
              <a:rPr lang="es-MX" sz="1500" dirty="0">
                <a:latin typeface="Montserrat"/>
                <a:ea typeface="Montserrat"/>
                <a:cs typeface="Montserrat"/>
                <a:sym typeface="Montserrat"/>
              </a:rPr>
              <a:t>Bootstrap facilita la creación de diseños adaptables a diferentes tamaños de pantalla, mejorando la experiencia del usuario en dispositivos móviles y </a:t>
            </a:r>
            <a:r>
              <a:rPr lang="es-MX" sz="1500" dirty="0" err="1">
                <a:latin typeface="Montserrat"/>
                <a:ea typeface="Montserrat"/>
                <a:cs typeface="Montserrat"/>
                <a:sym typeface="Montserrat"/>
              </a:rPr>
              <a:t>tablets</a:t>
            </a:r>
            <a:r>
              <a:rPr lang="es-MX" sz="1500" dirty="0">
                <a:latin typeface="Montserrat"/>
                <a:ea typeface="Montserrat"/>
                <a:cs typeface="Montserrat"/>
                <a:sym typeface="Montserrat"/>
              </a:rPr>
              <a:t>. 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endParaRPr lang="es-MX"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sz="1500" b="1" dirty="0">
                <a:latin typeface="Montserrat"/>
                <a:ea typeface="Montserrat"/>
                <a:cs typeface="Montserrat"/>
                <a:sym typeface="Montserrat"/>
              </a:rPr>
              <a:t>Componentes preconstruidos: </a:t>
            </a:r>
            <a:r>
              <a:rPr lang="es-MX" sz="1500" dirty="0">
                <a:latin typeface="Montserrat"/>
                <a:ea typeface="Montserrat"/>
                <a:cs typeface="Montserrat"/>
                <a:sym typeface="Montserrat"/>
              </a:rPr>
              <a:t>Ofrece una amplia gama de componentes como botones, formularios, menús desplegables, etc., que aceleran el desarrollo y mantienen la consistencia visual. 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MX"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sz="1500" b="1" dirty="0">
                <a:latin typeface="Montserrat"/>
                <a:ea typeface="Montserrat"/>
                <a:cs typeface="Montserrat"/>
                <a:sym typeface="Montserrat"/>
              </a:rPr>
              <a:t>Sistema de cuadrícula: </a:t>
            </a:r>
            <a:r>
              <a:rPr lang="es-MX" sz="1500" dirty="0">
                <a:latin typeface="Montserrat"/>
                <a:ea typeface="Montserrat"/>
                <a:cs typeface="Montserrat"/>
                <a:sym typeface="Montserrat"/>
              </a:rPr>
              <a:t>Facilita la creación de diseños basados en columnas y filas, permitiendo una estructura organizada y adaptable. </a:t>
            </a: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MX" sz="15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sz="1500" b="1" dirty="0">
                <a:latin typeface="Montserrat"/>
                <a:ea typeface="Montserrat"/>
                <a:cs typeface="Montserrat"/>
                <a:sym typeface="Montserrat"/>
              </a:rPr>
              <a:t>Personalización: </a:t>
            </a:r>
            <a:r>
              <a:rPr lang="es-MX" sz="1500" dirty="0">
                <a:latin typeface="Montserrat"/>
                <a:ea typeface="Montserrat"/>
                <a:cs typeface="Montserrat"/>
                <a:sym typeface="Montserrat"/>
              </a:rPr>
              <a:t>Aunque Bootstrap ofrece estilos predefinidos, es posible personalizarlo con CSS propio para adaptarlo a la identidad visual de la marca. </a:t>
            </a:r>
            <a:endParaRPr sz="15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2" name="Google Shape;302;g2ae66c03690_0_30"/>
          <p:cNvSpPr/>
          <p:nvPr/>
        </p:nvSpPr>
        <p:spPr>
          <a:xfrm rot="10800000">
            <a:off x="-152640" y="525576"/>
            <a:ext cx="441900" cy="963300"/>
          </a:xfrm>
          <a:prstGeom prst="roundRect">
            <a:avLst>
              <a:gd name="adj" fmla="val 8798"/>
            </a:avLst>
          </a:prstGeom>
          <a:solidFill>
            <a:srgbClr val="000F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2ae66c03690_0_30"/>
          <p:cNvSpPr/>
          <p:nvPr/>
        </p:nvSpPr>
        <p:spPr>
          <a:xfrm rot="10800000">
            <a:off x="-152640" y="525576"/>
            <a:ext cx="441900" cy="963300"/>
          </a:xfrm>
          <a:prstGeom prst="roundRect">
            <a:avLst>
              <a:gd name="adj" fmla="val 8798"/>
            </a:avLst>
          </a:prstGeom>
          <a:solidFill>
            <a:srgbClr val="000F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g2ae66c03690_0_30"/>
          <p:cNvSpPr txBox="1"/>
          <p:nvPr/>
        </p:nvSpPr>
        <p:spPr>
          <a:xfrm>
            <a:off x="797825" y="499325"/>
            <a:ext cx="818481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F5A"/>
              </a:buClr>
              <a:buSzPts val="3000"/>
              <a:buFont typeface="Montserrat ExtraBold"/>
              <a:buNone/>
            </a:pPr>
            <a:r>
              <a:rPr lang="es-PE" sz="3000" dirty="0">
                <a:solidFill>
                  <a:srgbClr val="000F5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Mejora de código web con </a:t>
            </a:r>
            <a:r>
              <a:rPr lang="es-ES" sz="3000" dirty="0">
                <a:solidFill>
                  <a:srgbClr val="000F5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Bootstrap</a:t>
            </a:r>
            <a:endParaRPr sz="3000" dirty="0">
              <a:solidFill>
                <a:srgbClr val="000F5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306" name="Google Shape;306;g2ae66c03690_0_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59625" y="6166100"/>
            <a:ext cx="12338525" cy="77327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g2ae66c03690_0_30"/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12</a:t>
            </a:r>
            <a:r>
              <a:rPr lang="es-E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50" name="Picture 2" descr="Bootstrap Original Wordmark PNG Logo — Download Free Transparent Logo">
            <a:extLst>
              <a:ext uri="{FF2B5EF4-FFF2-40B4-BE49-F238E27FC236}">
                <a16:creationId xmlns:a16="http://schemas.microsoft.com/office/drawing/2014/main" id="{8AD562C3-56E6-B4F6-0DF4-FC3A1F20A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4736" y="2120769"/>
            <a:ext cx="2978356" cy="2978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g2aec3b0e815_0_5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86287"/>
            <a:ext cx="4395700" cy="6944276"/>
          </a:xfrm>
          <a:prstGeom prst="rect">
            <a:avLst/>
          </a:prstGeom>
          <a:noFill/>
          <a:ln>
            <a:noFill/>
          </a:ln>
          <a:effectLst>
            <a:reflection endPos="35000" dist="38100" dir="5400000" fadeDir="5400012" sy="-100000" algn="bl" rotWithShape="0"/>
          </a:effectLst>
        </p:spPr>
      </p:pic>
      <p:pic>
        <p:nvPicPr>
          <p:cNvPr id="313" name="Google Shape;313;g2aec3b0e815_0_5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72150" y="-148025"/>
            <a:ext cx="4567849" cy="8375726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g2aec3b0e815_0_551"/>
          <p:cNvSpPr/>
          <p:nvPr/>
        </p:nvSpPr>
        <p:spPr>
          <a:xfrm>
            <a:off x="11416034" y="645600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18.</a:t>
            </a:r>
            <a:endParaRPr sz="13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5" name="Google Shape;315;g2aec3b0e815_0_551"/>
          <p:cNvSpPr txBox="1"/>
          <p:nvPr/>
        </p:nvSpPr>
        <p:spPr>
          <a:xfrm>
            <a:off x="438900" y="1705745"/>
            <a:ext cx="3695010" cy="879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s-ES" sz="4100" b="0" i="0" u="none" strike="noStrike" cap="none" dirty="0">
                <a:solidFill>
                  <a:schemeClr val="bg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TALLER</a:t>
            </a:r>
            <a:r>
              <a:rPr lang="es-ES" sz="4100" dirty="0">
                <a:solidFill>
                  <a:srgbClr val="000F5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s-ES" sz="4100" dirty="0">
                <a:solidFill>
                  <a:schemeClr val="bg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6</a:t>
            </a:r>
            <a:endParaRPr lang="es-ES" sz="4100" b="0" i="0" u="none" strike="noStrike" cap="none" dirty="0">
              <a:solidFill>
                <a:schemeClr val="bg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316" name="Google Shape;316;g2aec3b0e815_0_5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62225" y="5270375"/>
            <a:ext cx="1226575" cy="1403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7" name="Google Shape;317;g2aec3b0e815_0_551"/>
          <p:cNvCxnSpPr/>
          <p:nvPr/>
        </p:nvCxnSpPr>
        <p:spPr>
          <a:xfrm flipH="1">
            <a:off x="290300" y="1180925"/>
            <a:ext cx="9900" cy="2624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8" name="Google Shape;318;g2aec3b0e815_0_551"/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 i="0" u="none" strike="noStrike" cap="none">
                <a:solidFill>
                  <a:srgbClr val="000F5A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s-ES" sz="1300" b="1">
                <a:solidFill>
                  <a:srgbClr val="000F5A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lang="es-ES" sz="1300" b="1" i="0" u="none" strike="noStrike" cap="none">
                <a:solidFill>
                  <a:srgbClr val="000F5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 b="1" i="0" u="none" strike="noStrike" cap="none">
              <a:solidFill>
                <a:srgbClr val="000F5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9" name="Google Shape;319;g2aec3b0e815_0_55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347738" y="195976"/>
            <a:ext cx="1626480" cy="7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g2aec3b0e815_0_551"/>
          <p:cNvSpPr txBox="1"/>
          <p:nvPr/>
        </p:nvSpPr>
        <p:spPr>
          <a:xfrm>
            <a:off x="5116525" y="1741475"/>
            <a:ext cx="64497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g2aec3b0e815_0_551"/>
          <p:cNvSpPr txBox="1"/>
          <p:nvPr/>
        </p:nvSpPr>
        <p:spPr>
          <a:xfrm>
            <a:off x="5081875" y="2117575"/>
            <a:ext cx="6892500" cy="2539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dirty="0">
                <a:latin typeface="Montserrat"/>
                <a:ea typeface="Montserrat"/>
                <a:cs typeface="Montserrat"/>
                <a:sym typeface="Montserrat"/>
              </a:rPr>
              <a:t>Andrés necesita subir su proyecto web a un servidor gratuito. El proyecto es un sitio web de cursos en el cual ha utilizado principalmente tecnologías como HTML5, CSS, GRID, FLEXBOX, VARIABLES CSS, MEDIA QUERY, GIT y JAVASCRIPT.</a:t>
            </a:r>
            <a:endParaRPr sz="17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 dirty="0">
                <a:latin typeface="Montserrat"/>
                <a:ea typeface="Montserrat"/>
                <a:cs typeface="Montserrat"/>
                <a:sym typeface="Montserrat"/>
              </a:rPr>
              <a:t>¡Ayuda a Andrés a subir su proyecto web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 dirty="0">
                <a:latin typeface="Montserrat"/>
                <a:ea typeface="Montserrat"/>
                <a:cs typeface="Montserrat"/>
                <a:sym typeface="Montserrat"/>
              </a:rPr>
              <a:t>a un servidor gratuito!</a:t>
            </a:r>
            <a:endParaRPr sz="17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2" name="Google Shape;322;g2aec3b0e815_0_551"/>
          <p:cNvSpPr txBox="1"/>
          <p:nvPr/>
        </p:nvSpPr>
        <p:spPr>
          <a:xfrm>
            <a:off x="5149222" y="1248875"/>
            <a:ext cx="6384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ES" sz="2000" dirty="0">
                <a:solidFill>
                  <a:srgbClr val="000F5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Subir proyecto web a un servidor gratuito</a:t>
            </a:r>
            <a:endParaRPr sz="2000" b="0" i="0" u="none" strike="noStrike" cap="none" dirty="0">
              <a:solidFill>
                <a:srgbClr val="000F5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b055251057_0_128"/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 i="0" u="none" strike="noStrike" cap="none">
                <a:solidFill>
                  <a:srgbClr val="000F5A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s-ES" sz="1300" b="1">
                <a:solidFill>
                  <a:srgbClr val="000F5A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lang="es-ES" sz="1300" b="1" i="0" u="none" strike="noStrike" cap="none">
                <a:solidFill>
                  <a:srgbClr val="000F5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 b="1" i="0" u="none" strike="noStrike" cap="none">
              <a:solidFill>
                <a:srgbClr val="000F5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g2b055251057_0_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-369650" y="0"/>
            <a:ext cx="12708175" cy="67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784" y="785457"/>
            <a:ext cx="5846476" cy="2869811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6218" y="785457"/>
            <a:ext cx="5552586" cy="2869811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948" y="3991225"/>
            <a:ext cx="5092489" cy="266442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6218" y="3991225"/>
            <a:ext cx="5112327" cy="2642538"/>
          </a:xfrm>
          <a:prstGeom prst="rect">
            <a:avLst/>
          </a:prstGeom>
        </p:spPr>
      </p:pic>
      <p:sp>
        <p:nvSpPr>
          <p:cNvPr id="9" name="Google Shape;322;g2aec3b0e815_0_551"/>
          <p:cNvSpPr txBox="1"/>
          <p:nvPr/>
        </p:nvSpPr>
        <p:spPr>
          <a:xfrm>
            <a:off x="371669" y="1221167"/>
            <a:ext cx="3066523" cy="635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ES" sz="2800" dirty="0">
                <a:solidFill>
                  <a:srgbClr val="000F5A"/>
                </a:solidFill>
                <a:latin typeface="Montserrat ExtraBold"/>
                <a:ea typeface="Montserrat ExtraBold"/>
                <a:cs typeface="Montserrat ExtraBold"/>
                <a:sym typeface="Montserrat ExtraBold"/>
                <a:hlinkClick r:id="rId8"/>
              </a:rPr>
              <a:t>VERCEL.COM</a:t>
            </a:r>
            <a:endParaRPr sz="2800" b="0" i="0" u="none" strike="noStrike" cap="none" dirty="0">
              <a:solidFill>
                <a:srgbClr val="000F5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0" name="Google Shape;322;g2aec3b0e815_0_551"/>
          <p:cNvSpPr txBox="1"/>
          <p:nvPr/>
        </p:nvSpPr>
        <p:spPr>
          <a:xfrm>
            <a:off x="7479119" y="1221167"/>
            <a:ext cx="3066523" cy="635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ES" sz="2800" dirty="0">
                <a:solidFill>
                  <a:srgbClr val="000F5A"/>
                </a:solidFill>
                <a:latin typeface="Montserrat ExtraBold"/>
                <a:ea typeface="Montserrat ExtraBold"/>
                <a:cs typeface="Montserrat ExtraBold"/>
                <a:sym typeface="Montserrat ExtraBold"/>
                <a:hlinkClick r:id="rId9"/>
              </a:rPr>
              <a:t>RENDER.COM</a:t>
            </a:r>
            <a:endParaRPr sz="2800" b="0" i="0" u="none" strike="noStrike" cap="none" dirty="0">
              <a:solidFill>
                <a:srgbClr val="000F5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1" name="Google Shape;322;g2aec3b0e815_0_551">
            <a:hlinkClick r:id="rId10"/>
          </p:cNvPr>
          <p:cNvSpPr txBox="1"/>
          <p:nvPr/>
        </p:nvSpPr>
        <p:spPr>
          <a:xfrm>
            <a:off x="3072240" y="5323437"/>
            <a:ext cx="3066523" cy="635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ES" sz="2800" dirty="0">
                <a:solidFill>
                  <a:schemeClr val="bg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NETLIFY.COM</a:t>
            </a:r>
            <a:endParaRPr sz="2800" b="0" i="0" u="none" strike="noStrike" cap="none" dirty="0">
              <a:solidFill>
                <a:schemeClr val="bg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2" name="Google Shape;322;g2aec3b0e815_0_551">
            <a:hlinkClick r:id="rId11"/>
          </p:cNvPr>
          <p:cNvSpPr txBox="1"/>
          <p:nvPr/>
        </p:nvSpPr>
        <p:spPr>
          <a:xfrm>
            <a:off x="6634588" y="5980069"/>
            <a:ext cx="3066523" cy="635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ES" sz="2800" dirty="0">
                <a:solidFill>
                  <a:schemeClr val="bg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FIREBASE.COM</a:t>
            </a:r>
            <a:endParaRPr sz="2800" b="0" i="0" u="none" strike="noStrike" cap="none" dirty="0">
              <a:solidFill>
                <a:schemeClr val="bg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>
          <a:extLst>
            <a:ext uri="{FF2B5EF4-FFF2-40B4-BE49-F238E27FC236}">
              <a16:creationId xmlns:a16="http://schemas.microsoft.com/office/drawing/2014/main" id="{365DB035-E4DE-DBB6-5476-CCBC64517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b055251057_0_128">
            <a:extLst>
              <a:ext uri="{FF2B5EF4-FFF2-40B4-BE49-F238E27FC236}">
                <a16:creationId xmlns:a16="http://schemas.microsoft.com/office/drawing/2014/main" id="{8C4A414E-28FA-B475-0DC5-F247B7D3785D}"/>
              </a:ext>
            </a:extLst>
          </p:cNvPr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 i="0" u="none" strike="noStrike" cap="none">
                <a:solidFill>
                  <a:srgbClr val="000F5A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s-ES" sz="1300" b="1">
                <a:solidFill>
                  <a:srgbClr val="000F5A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lang="es-ES" sz="1300" b="1" i="0" u="none" strike="noStrike" cap="none">
                <a:solidFill>
                  <a:srgbClr val="000F5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 b="1" i="0" u="none" strike="noStrike" cap="none">
              <a:solidFill>
                <a:srgbClr val="000F5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g2b055251057_0_128">
            <a:extLst>
              <a:ext uri="{FF2B5EF4-FFF2-40B4-BE49-F238E27FC236}">
                <a16:creationId xmlns:a16="http://schemas.microsoft.com/office/drawing/2014/main" id="{AC71B25E-0CAE-6B8E-DAEB-91EC61442AD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 flipH="1">
            <a:off x="-369650" y="0"/>
            <a:ext cx="12708175" cy="6712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322;g2aec3b0e815_0_551">
            <a:extLst>
              <a:ext uri="{FF2B5EF4-FFF2-40B4-BE49-F238E27FC236}">
                <a16:creationId xmlns:a16="http://schemas.microsoft.com/office/drawing/2014/main" id="{0D0D2475-3E04-7374-4423-4371AD087314}"/>
              </a:ext>
            </a:extLst>
          </p:cNvPr>
          <p:cNvSpPr txBox="1"/>
          <p:nvPr/>
        </p:nvSpPr>
        <p:spPr>
          <a:xfrm>
            <a:off x="296366" y="899221"/>
            <a:ext cx="96437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ES" sz="2800" dirty="0">
                <a:solidFill>
                  <a:srgbClr val="000F5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SUBIR PROYECTO A UN SERVIDOR DE FIREBASE</a:t>
            </a:r>
            <a:endParaRPr sz="2800" b="0" i="0" u="none" strike="noStrike" cap="none" dirty="0">
              <a:solidFill>
                <a:srgbClr val="000F5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1" name="Google Shape;322;g2aec3b0e815_0_551">
            <a:hlinkClick r:id="rId5"/>
            <a:extLst>
              <a:ext uri="{FF2B5EF4-FFF2-40B4-BE49-F238E27FC236}">
                <a16:creationId xmlns:a16="http://schemas.microsoft.com/office/drawing/2014/main" id="{776CE059-E081-F820-0EB2-A07F6B08474E}"/>
              </a:ext>
            </a:extLst>
          </p:cNvPr>
          <p:cNvSpPr txBox="1"/>
          <p:nvPr/>
        </p:nvSpPr>
        <p:spPr>
          <a:xfrm>
            <a:off x="3072240" y="5323437"/>
            <a:ext cx="3066523" cy="635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ES" sz="2800" dirty="0">
                <a:solidFill>
                  <a:schemeClr val="bg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NETLIFY.COM</a:t>
            </a:r>
            <a:endParaRPr sz="2800" b="0" i="0" u="none" strike="noStrike" cap="none" dirty="0">
              <a:solidFill>
                <a:schemeClr val="bg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2" name="Google Shape;322;g2aec3b0e815_0_551">
            <a:hlinkClick r:id="rId6"/>
            <a:extLst>
              <a:ext uri="{FF2B5EF4-FFF2-40B4-BE49-F238E27FC236}">
                <a16:creationId xmlns:a16="http://schemas.microsoft.com/office/drawing/2014/main" id="{7480BECA-3C56-19A3-A7D7-3C8DC241A5DA}"/>
              </a:ext>
            </a:extLst>
          </p:cNvPr>
          <p:cNvSpPr txBox="1"/>
          <p:nvPr/>
        </p:nvSpPr>
        <p:spPr>
          <a:xfrm>
            <a:off x="6634588" y="5980069"/>
            <a:ext cx="3066523" cy="635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ES" sz="2800" dirty="0">
                <a:solidFill>
                  <a:schemeClr val="bg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FIREBASE.COM</a:t>
            </a:r>
            <a:endParaRPr sz="2800" b="0" i="0" u="none" strike="noStrike" cap="none" dirty="0">
              <a:solidFill>
                <a:schemeClr val="bg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6" name="Online Media 5" title="Firebase | 1. Crear un Proyecto y subir nuestro sitio web | Parte 1">
            <a:hlinkClick r:id="" action="ppaction://media"/>
            <a:extLst>
              <a:ext uri="{FF2B5EF4-FFF2-40B4-BE49-F238E27FC236}">
                <a16:creationId xmlns:a16="http://schemas.microsoft.com/office/drawing/2014/main" id="{950E7FF1-D156-C7D4-95A6-A2290844666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7"/>
          <a:stretch>
            <a:fillRect/>
          </a:stretch>
        </p:blipFill>
        <p:spPr>
          <a:xfrm>
            <a:off x="1517537" y="1690350"/>
            <a:ext cx="8723742" cy="4925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207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1689" y="3797644"/>
            <a:ext cx="3533018" cy="2279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8508" y="0"/>
            <a:ext cx="12229014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17"/>
          <p:cNvSpPr/>
          <p:nvPr/>
        </p:nvSpPr>
        <p:spPr>
          <a:xfrm>
            <a:off x="11393100" y="6344850"/>
            <a:ext cx="492900" cy="310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-ES" sz="13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lang="es-ES" sz="13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r>
              <a:rPr lang="es-ES" sz="13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3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4506" y="-24382"/>
            <a:ext cx="12269304" cy="6882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697</Words>
  <Application>Microsoft Office PowerPoint</Application>
  <PresentationFormat>Panorámica</PresentationFormat>
  <Paragraphs>106</Paragraphs>
  <Slides>16</Slides>
  <Notes>16</Notes>
  <HiddenSlides>0</HiddenSlides>
  <MMClips>1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16</vt:i4>
      </vt:variant>
    </vt:vector>
  </HeadingPairs>
  <TitlesOfParts>
    <vt:vector size="26" baseType="lpstr">
      <vt:lpstr>Montserrat ExtraBold</vt:lpstr>
      <vt:lpstr>IBM Plex Mono Medium</vt:lpstr>
      <vt:lpstr>Montserrat SemiBold</vt:lpstr>
      <vt:lpstr>Calibri</vt:lpstr>
      <vt:lpstr>Arial</vt:lpstr>
      <vt:lpstr>Poppins</vt:lpstr>
      <vt:lpstr>Montserrat</vt:lpstr>
      <vt:lpstr>Montserrat Medium</vt:lpstr>
      <vt:lpstr>Tema de Office</vt:lpstr>
      <vt:lpstr>Tema de Office</vt:lpstr>
      <vt:lpstr>Presentación de PowerPoint</vt:lpstr>
      <vt:lpstr>REVIEW DE LA SESIÓN ANTERIOR</vt:lpstr>
      <vt:lpstr>SESIÓN 6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Giancarlos Barboza N.</dc:creator>
  <cp:lastModifiedBy>BARBOZA NIETO, GIANCARLOS</cp:lastModifiedBy>
  <cp:revision>20</cp:revision>
  <dcterms:modified xsi:type="dcterms:W3CDTF">2025-08-09T06:19:20Z</dcterms:modified>
</cp:coreProperties>
</file>
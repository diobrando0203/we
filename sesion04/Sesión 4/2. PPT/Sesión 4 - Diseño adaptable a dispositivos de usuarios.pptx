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28"/>
  </p:notesMasterIdLst>
  <p:sldIdLst>
    <p:sldId id="256" r:id="rId3"/>
    <p:sldId id="257" r:id="rId4"/>
    <p:sldId id="258" r:id="rId5"/>
    <p:sldId id="259" r:id="rId6"/>
    <p:sldId id="260" r:id="rId7"/>
    <p:sldId id="261" r:id="rId8"/>
    <p:sldId id="281" r:id="rId9"/>
    <p:sldId id="282" r:id="rId10"/>
    <p:sldId id="283" r:id="rId11"/>
    <p:sldId id="262" r:id="rId12"/>
    <p:sldId id="263" r:id="rId13"/>
    <p:sldId id="274" r:id="rId14"/>
    <p:sldId id="275" r:id="rId15"/>
    <p:sldId id="276" r:id="rId16"/>
    <p:sldId id="264" r:id="rId17"/>
    <p:sldId id="265" r:id="rId18"/>
    <p:sldId id="266" r:id="rId19"/>
    <p:sldId id="267" r:id="rId20"/>
    <p:sldId id="277" r:id="rId21"/>
    <p:sldId id="268" r:id="rId22"/>
    <p:sldId id="269" r:id="rId23"/>
    <p:sldId id="280" r:id="rId24"/>
    <p:sldId id="270" r:id="rId25"/>
    <p:sldId id="272" r:id="rId26"/>
    <p:sldId id="273" r:id="rId27"/>
  </p:sldIdLst>
  <p:sldSz cx="12192000" cy="6858000"/>
  <p:notesSz cx="6858000" cy="9144000"/>
  <p:embeddedFontLst>
    <p:embeddedFont>
      <p:font typeface="IBM Plex Mono Medium" panose="020B0609050203000203" pitchFamily="49" charset="0"/>
      <p:regular r:id="rId29"/>
      <p:bold r:id="rId30"/>
      <p:italic r:id="rId31"/>
      <p:boldItalic r:id="rId32"/>
    </p:embeddedFont>
    <p:embeddedFont>
      <p:font typeface="Montserrat" panose="02000505000000020004" pitchFamily="2" charset="0"/>
      <p:regular r:id="rId33"/>
      <p:bold r:id="rId34"/>
      <p:italic r:id="rId35"/>
      <p:boldItalic r:id="rId36"/>
    </p:embeddedFont>
    <p:embeddedFont>
      <p:font typeface="Montserrat ExtraBold" panose="00000900000000000000" pitchFamily="2" charset="0"/>
      <p:bold r:id="rId37"/>
      <p:boldItalic r:id="rId38"/>
    </p:embeddedFont>
    <p:embeddedFont>
      <p:font typeface="Montserrat Medium" panose="00000600000000000000" pitchFamily="2" charset="0"/>
      <p:regular r:id="rId39"/>
      <p:bold r:id="rId40"/>
      <p:italic r:id="rId41"/>
      <p:boldItalic r:id="rId42"/>
    </p:embeddedFont>
    <p:embeddedFont>
      <p:font typeface="Montserrat SemiBold" panose="00000700000000000000" pitchFamily="2" charset="0"/>
      <p:regular r:id="rId43"/>
      <p:bold r:id="rId44"/>
      <p:italic r:id="rId45"/>
      <p:boldItalic r:id="rId46"/>
    </p:embeddedFont>
    <p:embeddedFont>
      <p:font typeface="Poppins" panose="000005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50">
          <p15:clr>
            <a:srgbClr val="A4A3A4"/>
          </p15:clr>
        </p15:guide>
        <p15:guide id="2" pos="6562">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IK9kPsnlKPpxpc/OeNLPksVpu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EE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67" autoAdjust="0"/>
    <p:restoredTop sz="94660"/>
  </p:normalViewPr>
  <p:slideViewPr>
    <p:cSldViewPr snapToGrid="0">
      <p:cViewPr varScale="1">
        <p:scale>
          <a:sx n="79" d="100"/>
          <a:sy n="79" d="100"/>
        </p:scale>
        <p:origin x="221" y="62"/>
      </p:cViewPr>
      <p:guideLst>
        <p:guide orient="horz" pos="550"/>
        <p:guide pos="656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1.fntdata"/><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fntdata"/><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8" Type="http://schemas.openxmlformats.org/officeDocument/2006/relationships/slide" Target="slides/slide6.xml"/><Relationship Id="rId51" Type="http://customschemas.google.com/relationships/presentationmetadata" Target="meta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8.xml"/><Relationship Id="rId41" Type="http://schemas.openxmlformats.org/officeDocument/2006/relationships/font" Target="fonts/font13.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ada6b3ec7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g2ada6b3ec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0" name="Google Shape;18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0fcd679d50_0_1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ES"/>
              <a:t>completar nombre de los temas de la sesiòn 1</a:t>
            </a:r>
            <a:endParaRPr/>
          </a:p>
        </p:txBody>
      </p:sp>
      <p:sp>
        <p:nvSpPr>
          <p:cNvPr id="220" name="Google Shape;220;g20fcd679d50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 name="Google Shape;23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95FD1C24-8575-9F81-FBE6-5E84CE3BD58A}"/>
            </a:ext>
          </a:extLst>
        </p:cNvPr>
        <p:cNvGrpSpPr/>
        <p:nvPr/>
      </p:nvGrpSpPr>
      <p:grpSpPr>
        <a:xfrm>
          <a:off x="0" y="0"/>
          <a:ext cx="0" cy="0"/>
          <a:chOff x="0" y="0"/>
          <a:chExt cx="0" cy="0"/>
        </a:xfrm>
      </p:grpSpPr>
      <p:sp>
        <p:nvSpPr>
          <p:cNvPr id="229" name="Google Shape;229;p1:notes">
            <a:extLst>
              <a:ext uri="{FF2B5EF4-FFF2-40B4-BE49-F238E27FC236}">
                <a16:creationId xmlns:a16="http://schemas.microsoft.com/office/drawing/2014/main" id="{7C616D52-6FFB-666B-9780-F990A6EAD3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 name="Google Shape;230;p1:notes">
            <a:extLst>
              <a:ext uri="{FF2B5EF4-FFF2-40B4-BE49-F238E27FC236}">
                <a16:creationId xmlns:a16="http://schemas.microsoft.com/office/drawing/2014/main" id="{4909FDDF-E80C-1007-F969-40846AF388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9289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E21C4647-E68E-1513-8323-67DDCB48612A}"/>
            </a:ext>
          </a:extLst>
        </p:cNvPr>
        <p:cNvGrpSpPr/>
        <p:nvPr/>
      </p:nvGrpSpPr>
      <p:grpSpPr>
        <a:xfrm>
          <a:off x="0" y="0"/>
          <a:ext cx="0" cy="0"/>
          <a:chOff x="0" y="0"/>
          <a:chExt cx="0" cy="0"/>
        </a:xfrm>
      </p:grpSpPr>
      <p:sp>
        <p:nvSpPr>
          <p:cNvPr id="229" name="Google Shape;229;p1:notes">
            <a:extLst>
              <a:ext uri="{FF2B5EF4-FFF2-40B4-BE49-F238E27FC236}">
                <a16:creationId xmlns:a16="http://schemas.microsoft.com/office/drawing/2014/main" id="{AAF18D8A-8514-3D3C-4E60-2248FA6D79E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 name="Google Shape;230;p1:notes">
            <a:extLst>
              <a:ext uri="{FF2B5EF4-FFF2-40B4-BE49-F238E27FC236}">
                <a16:creationId xmlns:a16="http://schemas.microsoft.com/office/drawing/2014/main" id="{58C06358-EEAC-BA27-0BC5-0B46F86A75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661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B6D909BD-E0E1-7591-67C7-D6A63D29F6DC}"/>
            </a:ext>
          </a:extLst>
        </p:cNvPr>
        <p:cNvGrpSpPr/>
        <p:nvPr/>
      </p:nvGrpSpPr>
      <p:grpSpPr>
        <a:xfrm>
          <a:off x="0" y="0"/>
          <a:ext cx="0" cy="0"/>
          <a:chOff x="0" y="0"/>
          <a:chExt cx="0" cy="0"/>
        </a:xfrm>
      </p:grpSpPr>
      <p:sp>
        <p:nvSpPr>
          <p:cNvPr id="229" name="Google Shape;229;p1:notes">
            <a:extLst>
              <a:ext uri="{FF2B5EF4-FFF2-40B4-BE49-F238E27FC236}">
                <a16:creationId xmlns:a16="http://schemas.microsoft.com/office/drawing/2014/main" id="{998A89CA-A0E5-0521-DD6F-024BA956E6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 name="Google Shape;230;p1:notes">
            <a:extLst>
              <a:ext uri="{FF2B5EF4-FFF2-40B4-BE49-F238E27FC236}">
                <a16:creationId xmlns:a16="http://schemas.microsoft.com/office/drawing/2014/main" id="{DCF4654E-845A-91F5-AA5D-62F77A660E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1421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ES"/>
              <a:t>completar nombre de los temas de la sesiòn 1</a:t>
            </a:r>
            <a:endParaRPr/>
          </a:p>
        </p:txBody>
      </p:sp>
      <p:sp>
        <p:nvSpPr>
          <p:cNvPr id="242" name="Google Shape;24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ada6b3ec75_0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g2ada6b3ec75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B7DB8A15-201D-F84E-611C-9764CA83CFF1}"/>
            </a:ext>
          </a:extLst>
        </p:cNvPr>
        <p:cNvGrpSpPr/>
        <p:nvPr/>
      </p:nvGrpSpPr>
      <p:grpSpPr>
        <a:xfrm>
          <a:off x="0" y="0"/>
          <a:ext cx="0" cy="0"/>
          <a:chOff x="0" y="0"/>
          <a:chExt cx="0" cy="0"/>
        </a:xfrm>
      </p:grpSpPr>
      <p:sp>
        <p:nvSpPr>
          <p:cNvPr id="251" name="Google Shape;251;g2ada6b3ec75_0_168:notes">
            <a:extLst>
              <a:ext uri="{FF2B5EF4-FFF2-40B4-BE49-F238E27FC236}">
                <a16:creationId xmlns:a16="http://schemas.microsoft.com/office/drawing/2014/main" id="{93C78845-F816-4F70-8AF9-3AE7CFECC8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g2ada6b3ec75_0_168:notes">
            <a:extLst>
              <a:ext uri="{FF2B5EF4-FFF2-40B4-BE49-F238E27FC236}">
                <a16:creationId xmlns:a16="http://schemas.microsoft.com/office/drawing/2014/main" id="{40A459E9-564B-11B8-8ECD-E8F77205C7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8212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D1FD04E6-3FF0-4785-73BF-0ED271E48BF4}"/>
            </a:ext>
          </a:extLst>
        </p:cNvPr>
        <p:cNvGrpSpPr/>
        <p:nvPr/>
      </p:nvGrpSpPr>
      <p:grpSpPr>
        <a:xfrm>
          <a:off x="0" y="0"/>
          <a:ext cx="0" cy="0"/>
          <a:chOff x="0" y="0"/>
          <a:chExt cx="0" cy="0"/>
        </a:xfrm>
      </p:grpSpPr>
      <p:sp>
        <p:nvSpPr>
          <p:cNvPr id="251" name="Google Shape;251;g2ada6b3ec75_0_168:notes">
            <a:extLst>
              <a:ext uri="{FF2B5EF4-FFF2-40B4-BE49-F238E27FC236}">
                <a16:creationId xmlns:a16="http://schemas.microsoft.com/office/drawing/2014/main" id="{2E9DBC3D-0735-6732-7E72-E879503ED3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g2ada6b3ec75_0_168:notes">
            <a:extLst>
              <a:ext uri="{FF2B5EF4-FFF2-40B4-BE49-F238E27FC236}">
                <a16:creationId xmlns:a16="http://schemas.microsoft.com/office/drawing/2014/main" id="{F8FFCD8B-0640-891E-CFA6-FE274BA1DA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029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102DB20E-A07F-AAC4-C2C4-7EC5BC691F92}"/>
            </a:ext>
          </a:extLst>
        </p:cNvPr>
        <p:cNvGrpSpPr/>
        <p:nvPr/>
      </p:nvGrpSpPr>
      <p:grpSpPr>
        <a:xfrm>
          <a:off x="0" y="0"/>
          <a:ext cx="0" cy="0"/>
          <a:chOff x="0" y="0"/>
          <a:chExt cx="0" cy="0"/>
        </a:xfrm>
      </p:grpSpPr>
      <p:sp>
        <p:nvSpPr>
          <p:cNvPr id="251" name="Google Shape;251;g2ada6b3ec75_0_168:notes">
            <a:extLst>
              <a:ext uri="{FF2B5EF4-FFF2-40B4-BE49-F238E27FC236}">
                <a16:creationId xmlns:a16="http://schemas.microsoft.com/office/drawing/2014/main" id="{FFB2D475-1368-A08B-FDE0-B56A28C317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g2ada6b3ec75_0_168:notes">
            <a:extLst>
              <a:ext uri="{FF2B5EF4-FFF2-40B4-BE49-F238E27FC236}">
                <a16:creationId xmlns:a16="http://schemas.microsoft.com/office/drawing/2014/main" id="{BD989DD2-0930-F976-71C7-8C866F0B3B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54078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ada6b3ec75_0_2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ES"/>
              <a:t>completar nombre de los temas de la sesiòn 1</a:t>
            </a:r>
            <a:endParaRPr/>
          </a:p>
        </p:txBody>
      </p:sp>
      <p:sp>
        <p:nvSpPr>
          <p:cNvPr id="264" name="Google Shape;264;g2ada6b3ec75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ada6b3ec75_0_2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sz="1400">
              <a:solidFill>
                <a:schemeClr val="dk1"/>
              </a:solidFill>
            </a:endParaRPr>
          </a:p>
          <a:p>
            <a:pPr marL="0" lvl="0" indent="0" algn="l" rtl="0">
              <a:lnSpc>
                <a:spcPct val="100000"/>
              </a:lnSpc>
              <a:spcBef>
                <a:spcPts val="0"/>
              </a:spcBef>
              <a:spcAft>
                <a:spcPts val="0"/>
              </a:spcAft>
              <a:buSzPts val="1100"/>
              <a:buNone/>
            </a:pPr>
            <a:endParaRPr/>
          </a:p>
        </p:txBody>
      </p:sp>
      <p:sp>
        <p:nvSpPr>
          <p:cNvPr id="274" name="Google Shape;274;g2ada6b3ec75_0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ee9218af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ES"/>
              <a:t>completar nombre de los temas de la sesiòn 1</a:t>
            </a:r>
            <a:endParaRPr/>
          </a:p>
        </p:txBody>
      </p:sp>
      <p:sp>
        <p:nvSpPr>
          <p:cNvPr id="286" name="Google Shape;286;g1ee9218af0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ae66c03690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6" name="Google Shape;296;g2ae66c0369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a:extLst>
            <a:ext uri="{FF2B5EF4-FFF2-40B4-BE49-F238E27FC236}">
              <a16:creationId xmlns:a16="http://schemas.microsoft.com/office/drawing/2014/main" id="{EDD79F72-169A-27BD-C881-68A5FDA8E56A}"/>
            </a:ext>
          </a:extLst>
        </p:cNvPr>
        <p:cNvGrpSpPr/>
        <p:nvPr/>
      </p:nvGrpSpPr>
      <p:grpSpPr>
        <a:xfrm>
          <a:off x="0" y="0"/>
          <a:ext cx="0" cy="0"/>
          <a:chOff x="0" y="0"/>
          <a:chExt cx="0" cy="0"/>
        </a:xfrm>
      </p:grpSpPr>
      <p:sp>
        <p:nvSpPr>
          <p:cNvPr id="295" name="Google Shape;295;g2ae66c03690_0_30:notes">
            <a:extLst>
              <a:ext uri="{FF2B5EF4-FFF2-40B4-BE49-F238E27FC236}">
                <a16:creationId xmlns:a16="http://schemas.microsoft.com/office/drawing/2014/main" id="{8C84EE1B-3E72-F741-569C-01D6E0BE47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6" name="Google Shape;296;g2ae66c03690_0_30:notes">
            <a:extLst>
              <a:ext uri="{FF2B5EF4-FFF2-40B4-BE49-F238E27FC236}">
                <a16:creationId xmlns:a16="http://schemas.microsoft.com/office/drawing/2014/main" id="{219F8500-6754-BDB9-7A92-B680B27CE8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60689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aec3b0e815_0_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g2aec3b0e815_0_5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2b055251057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g2b055251057_0_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a:extLst>
            <a:ext uri="{FF2B5EF4-FFF2-40B4-BE49-F238E27FC236}">
              <a16:creationId xmlns:a16="http://schemas.microsoft.com/office/drawing/2014/main" id="{A84A4A1C-55B8-F0A1-FA97-34544F772C42}"/>
            </a:ext>
          </a:extLst>
        </p:cNvPr>
        <p:cNvGrpSpPr/>
        <p:nvPr/>
      </p:nvGrpSpPr>
      <p:grpSpPr>
        <a:xfrm>
          <a:off x="0" y="0"/>
          <a:ext cx="0" cy="0"/>
          <a:chOff x="0" y="0"/>
          <a:chExt cx="0" cy="0"/>
        </a:xfrm>
      </p:grpSpPr>
      <p:sp>
        <p:nvSpPr>
          <p:cNvPr id="323" name="Google Shape;323;g2b055251057_0_128:notes">
            <a:extLst>
              <a:ext uri="{FF2B5EF4-FFF2-40B4-BE49-F238E27FC236}">
                <a16:creationId xmlns:a16="http://schemas.microsoft.com/office/drawing/2014/main" id="{2BF7C70D-C541-A414-1688-05B0A57CC2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g2b055251057_0_128:notes">
            <a:extLst>
              <a:ext uri="{FF2B5EF4-FFF2-40B4-BE49-F238E27FC236}">
                <a16:creationId xmlns:a16="http://schemas.microsoft.com/office/drawing/2014/main" id="{36A50208-A547-0881-4B5B-762521BC4E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47269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b055251057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2b055251057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3" name="Google Shape;39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0" name="Google Shape;40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20"/>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0"/>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2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4"/>
        <p:cNvGrpSpPr/>
        <p:nvPr/>
      </p:nvGrpSpPr>
      <p:grpSpPr>
        <a:xfrm>
          <a:off x="0" y="0"/>
          <a:ext cx="0" cy="0"/>
          <a:chOff x="0" y="0"/>
          <a:chExt cx="0" cy="0"/>
        </a:xfrm>
      </p:grpSpPr>
      <p:sp>
        <p:nvSpPr>
          <p:cNvPr id="25" name="Google Shape;25;p3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4"/>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7" name="Google Shape;27;p3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0"/>
        <p:cNvGrpSpPr/>
        <p:nvPr/>
      </p:nvGrpSpPr>
      <p:grpSpPr>
        <a:xfrm>
          <a:off x="0" y="0"/>
          <a:ext cx="0" cy="0"/>
          <a:chOff x="0" y="0"/>
          <a:chExt cx="0" cy="0"/>
        </a:xfrm>
      </p:grpSpPr>
      <p:sp>
        <p:nvSpPr>
          <p:cNvPr id="31" name="Google Shape;31;p3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3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7"/>
        <p:cNvGrpSpPr/>
        <p:nvPr/>
      </p:nvGrpSpPr>
      <p:grpSpPr>
        <a:xfrm>
          <a:off x="0" y="0"/>
          <a:ext cx="0" cy="0"/>
          <a:chOff x="0" y="0"/>
          <a:chExt cx="0" cy="0"/>
        </a:xfrm>
      </p:grpSpPr>
      <p:sp>
        <p:nvSpPr>
          <p:cNvPr id="38" name="Google Shape;38;p3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0" name="Google Shape;40;p3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3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3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3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6"/>
        <p:cNvGrpSpPr/>
        <p:nvPr/>
      </p:nvGrpSpPr>
      <p:grpSpPr>
        <a:xfrm>
          <a:off x="0" y="0"/>
          <a:ext cx="0" cy="0"/>
          <a:chOff x="0" y="0"/>
          <a:chExt cx="0" cy="0"/>
        </a:xfrm>
      </p:grpSpPr>
      <p:sp>
        <p:nvSpPr>
          <p:cNvPr id="47" name="Google Shape;47;p3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1"/>
        <p:cNvGrpSpPr/>
        <p:nvPr/>
      </p:nvGrpSpPr>
      <p:grpSpPr>
        <a:xfrm>
          <a:off x="0" y="0"/>
          <a:ext cx="0" cy="0"/>
          <a:chOff x="0" y="0"/>
          <a:chExt cx="0" cy="0"/>
        </a:xfrm>
      </p:grpSpPr>
      <p:sp>
        <p:nvSpPr>
          <p:cNvPr id="52" name="Google Shape;52;p3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9"/>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4" name="Google Shape;54;p3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5" name="Google Shape;55;p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58"/>
        <p:cNvGrpSpPr/>
        <p:nvPr/>
      </p:nvGrpSpPr>
      <p:grpSpPr>
        <a:xfrm>
          <a:off x="0" y="0"/>
          <a:ext cx="0" cy="0"/>
          <a:chOff x="0" y="0"/>
          <a:chExt cx="0" cy="0"/>
        </a:xfrm>
      </p:grpSpPr>
      <p:sp>
        <p:nvSpPr>
          <p:cNvPr id="59" name="Google Shape;59;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0"/>
          <p:cNvSpPr>
            <a:spLocks noGrp="1"/>
          </p:cNvSpPr>
          <p:nvPr>
            <p:ph type="pic" idx="2"/>
          </p:nvPr>
        </p:nvSpPr>
        <p:spPr>
          <a:xfrm>
            <a:off x="5183188" y="987425"/>
            <a:ext cx="6172200" cy="4873500"/>
          </a:xfrm>
          <a:prstGeom prst="rect">
            <a:avLst/>
          </a:prstGeom>
          <a:noFill/>
          <a:ln>
            <a:noFill/>
          </a:ln>
        </p:spPr>
      </p:sp>
      <p:sp>
        <p:nvSpPr>
          <p:cNvPr id="61" name="Google Shape;61;p4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5"/>
        <p:cNvGrpSpPr/>
        <p:nvPr/>
      </p:nvGrpSpPr>
      <p:grpSpPr>
        <a:xfrm>
          <a:off x="0" y="0"/>
          <a:ext cx="0" cy="0"/>
          <a:chOff x="0" y="0"/>
          <a:chExt cx="0" cy="0"/>
        </a:xfrm>
      </p:grpSpPr>
      <p:sp>
        <p:nvSpPr>
          <p:cNvPr id="66" name="Google Shape;66;p4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4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1"/>
        <p:cNvGrpSpPr/>
        <p:nvPr/>
      </p:nvGrpSpPr>
      <p:grpSpPr>
        <a:xfrm>
          <a:off x="0" y="0"/>
          <a:ext cx="0" cy="0"/>
          <a:chOff x="0" y="0"/>
          <a:chExt cx="0" cy="0"/>
        </a:xfrm>
      </p:grpSpPr>
      <p:sp>
        <p:nvSpPr>
          <p:cNvPr id="72" name="Google Shape;72;p42"/>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2"/>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4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4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 Diapositiva interna 1">
  <p:cSld name="TITLE_1_6">
    <p:spTree>
      <p:nvGrpSpPr>
        <p:cNvPr id="1" name="Shape 77"/>
        <p:cNvGrpSpPr/>
        <p:nvPr/>
      </p:nvGrpSpPr>
      <p:grpSpPr>
        <a:xfrm>
          <a:off x="0" y="0"/>
          <a:ext cx="0" cy="0"/>
          <a:chOff x="0" y="0"/>
          <a:chExt cx="0" cy="0"/>
        </a:xfrm>
      </p:grpSpPr>
      <p:pic>
        <p:nvPicPr>
          <p:cNvPr id="78" name="Google Shape;78;g2ae66c03690_0_880"/>
          <p:cNvPicPr preferRelativeResize="0"/>
          <p:nvPr/>
        </p:nvPicPr>
        <p:blipFill rotWithShape="1">
          <a:blip r:embed="rId2">
            <a:alphaModFix/>
          </a:blip>
          <a:srcRect/>
          <a:stretch/>
        </p:blipFill>
        <p:spPr>
          <a:xfrm>
            <a:off x="11480333" y="312800"/>
            <a:ext cx="343471" cy="264466"/>
          </a:xfrm>
          <a:prstGeom prst="rect">
            <a:avLst/>
          </a:prstGeom>
          <a:noFill/>
          <a:ln>
            <a:noFill/>
          </a:ln>
        </p:spPr>
      </p:pic>
      <p:sp>
        <p:nvSpPr>
          <p:cNvPr id="79" name="Google Shape;79;g2ae66c03690_0_880"/>
          <p:cNvSpPr txBox="1">
            <a:spLocks noGrp="1"/>
          </p:cNvSpPr>
          <p:nvPr>
            <p:ph type="subTitle" idx="1"/>
          </p:nvPr>
        </p:nvSpPr>
        <p:spPr>
          <a:xfrm>
            <a:off x="415600" y="190633"/>
            <a:ext cx="4911900" cy="508800"/>
          </a:xfrm>
          <a:prstGeom prst="rect">
            <a:avLst/>
          </a:prstGeom>
          <a:noFill/>
          <a:ln>
            <a:noFill/>
          </a:ln>
        </p:spPr>
        <p:txBody>
          <a:bodyPr spcFirstLastPara="1" wrap="square" lIns="121900" tIns="121900" rIns="121900" bIns="121900" anchor="t" anchorCtr="0">
            <a:noAutofit/>
          </a:bodyPr>
          <a:lstStyle>
            <a:lvl1pPr lvl="0" algn="l">
              <a:lnSpc>
                <a:spcPct val="115000"/>
              </a:lnSpc>
              <a:spcBef>
                <a:spcPts val="0"/>
              </a:spcBef>
              <a:spcAft>
                <a:spcPts val="0"/>
              </a:spcAft>
              <a:buSzPts val="1900"/>
              <a:buFont typeface="IBM Plex Mono Medium"/>
              <a:buNone/>
              <a:defRPr sz="1500">
                <a:solidFill>
                  <a:srgbClr val="104DE5"/>
                </a:solidFill>
                <a:latin typeface="IBM Plex Mono Medium"/>
                <a:ea typeface="IBM Plex Mono Medium"/>
                <a:cs typeface="IBM Plex Mono Medium"/>
                <a:sym typeface="IBM Plex Mono Medium"/>
              </a:defRPr>
            </a:lvl1pPr>
            <a:lvl2pPr lvl="1" algn="l">
              <a:lnSpc>
                <a:spcPct val="115000"/>
              </a:lnSpc>
              <a:spcBef>
                <a:spcPts val="2100"/>
              </a:spcBef>
              <a:spcAft>
                <a:spcPts val="0"/>
              </a:spcAft>
              <a:buSzPts val="1600"/>
              <a:buFont typeface="IBM Plex Mono Medium"/>
              <a:buNone/>
              <a:defRPr sz="1500">
                <a:solidFill>
                  <a:srgbClr val="104DE5"/>
                </a:solidFill>
                <a:latin typeface="IBM Plex Mono Medium"/>
                <a:ea typeface="IBM Plex Mono Medium"/>
                <a:cs typeface="IBM Plex Mono Medium"/>
                <a:sym typeface="IBM Plex Mono Medium"/>
              </a:defRPr>
            </a:lvl2pPr>
            <a:lvl3pPr lvl="2" algn="l">
              <a:lnSpc>
                <a:spcPct val="115000"/>
              </a:lnSpc>
              <a:spcBef>
                <a:spcPts val="2100"/>
              </a:spcBef>
              <a:spcAft>
                <a:spcPts val="0"/>
              </a:spcAft>
              <a:buSzPts val="1600"/>
              <a:buFont typeface="IBM Plex Mono Medium"/>
              <a:buNone/>
              <a:defRPr sz="1500">
                <a:solidFill>
                  <a:srgbClr val="104DE5"/>
                </a:solidFill>
                <a:latin typeface="IBM Plex Mono Medium"/>
                <a:ea typeface="IBM Plex Mono Medium"/>
                <a:cs typeface="IBM Plex Mono Medium"/>
                <a:sym typeface="IBM Plex Mono Medium"/>
              </a:defRPr>
            </a:lvl3pPr>
            <a:lvl4pPr lvl="3" algn="l">
              <a:lnSpc>
                <a:spcPct val="115000"/>
              </a:lnSpc>
              <a:spcBef>
                <a:spcPts val="2100"/>
              </a:spcBef>
              <a:spcAft>
                <a:spcPts val="0"/>
              </a:spcAft>
              <a:buSzPts val="1600"/>
              <a:buFont typeface="IBM Plex Mono Medium"/>
              <a:buNone/>
              <a:defRPr sz="1500">
                <a:solidFill>
                  <a:srgbClr val="104DE5"/>
                </a:solidFill>
                <a:latin typeface="IBM Plex Mono Medium"/>
                <a:ea typeface="IBM Plex Mono Medium"/>
                <a:cs typeface="IBM Plex Mono Medium"/>
                <a:sym typeface="IBM Plex Mono Medium"/>
              </a:defRPr>
            </a:lvl4pPr>
            <a:lvl5pPr lvl="4" algn="l">
              <a:lnSpc>
                <a:spcPct val="115000"/>
              </a:lnSpc>
              <a:spcBef>
                <a:spcPts val="2100"/>
              </a:spcBef>
              <a:spcAft>
                <a:spcPts val="0"/>
              </a:spcAft>
              <a:buSzPts val="1600"/>
              <a:buFont typeface="IBM Plex Mono Medium"/>
              <a:buNone/>
              <a:defRPr sz="1500">
                <a:solidFill>
                  <a:srgbClr val="104DE5"/>
                </a:solidFill>
                <a:latin typeface="IBM Plex Mono Medium"/>
                <a:ea typeface="IBM Plex Mono Medium"/>
                <a:cs typeface="IBM Plex Mono Medium"/>
                <a:sym typeface="IBM Plex Mono Medium"/>
              </a:defRPr>
            </a:lvl5pPr>
            <a:lvl6pPr lvl="5" algn="l">
              <a:lnSpc>
                <a:spcPct val="115000"/>
              </a:lnSpc>
              <a:spcBef>
                <a:spcPts val="2100"/>
              </a:spcBef>
              <a:spcAft>
                <a:spcPts val="0"/>
              </a:spcAft>
              <a:buSzPts val="1600"/>
              <a:buFont typeface="IBM Plex Mono Medium"/>
              <a:buNone/>
              <a:defRPr sz="1500">
                <a:solidFill>
                  <a:srgbClr val="104DE5"/>
                </a:solidFill>
                <a:latin typeface="IBM Plex Mono Medium"/>
                <a:ea typeface="IBM Plex Mono Medium"/>
                <a:cs typeface="IBM Plex Mono Medium"/>
                <a:sym typeface="IBM Plex Mono Medium"/>
              </a:defRPr>
            </a:lvl6pPr>
            <a:lvl7pPr lvl="6" algn="l">
              <a:lnSpc>
                <a:spcPct val="115000"/>
              </a:lnSpc>
              <a:spcBef>
                <a:spcPts val="2100"/>
              </a:spcBef>
              <a:spcAft>
                <a:spcPts val="0"/>
              </a:spcAft>
              <a:buSzPts val="1600"/>
              <a:buFont typeface="IBM Plex Mono Medium"/>
              <a:buNone/>
              <a:defRPr sz="1500">
                <a:solidFill>
                  <a:srgbClr val="104DE5"/>
                </a:solidFill>
                <a:latin typeface="IBM Plex Mono Medium"/>
                <a:ea typeface="IBM Plex Mono Medium"/>
                <a:cs typeface="IBM Plex Mono Medium"/>
                <a:sym typeface="IBM Plex Mono Medium"/>
              </a:defRPr>
            </a:lvl7pPr>
            <a:lvl8pPr lvl="7" algn="l">
              <a:lnSpc>
                <a:spcPct val="115000"/>
              </a:lnSpc>
              <a:spcBef>
                <a:spcPts val="2100"/>
              </a:spcBef>
              <a:spcAft>
                <a:spcPts val="0"/>
              </a:spcAft>
              <a:buSzPts val="1600"/>
              <a:buFont typeface="IBM Plex Mono Medium"/>
              <a:buNone/>
              <a:defRPr sz="1500">
                <a:solidFill>
                  <a:srgbClr val="104DE5"/>
                </a:solidFill>
                <a:latin typeface="IBM Plex Mono Medium"/>
                <a:ea typeface="IBM Plex Mono Medium"/>
                <a:cs typeface="IBM Plex Mono Medium"/>
                <a:sym typeface="IBM Plex Mono Medium"/>
              </a:defRPr>
            </a:lvl8pPr>
            <a:lvl9pPr lvl="8" algn="l">
              <a:lnSpc>
                <a:spcPct val="115000"/>
              </a:lnSpc>
              <a:spcBef>
                <a:spcPts val="2100"/>
              </a:spcBef>
              <a:spcAft>
                <a:spcPts val="2100"/>
              </a:spcAft>
              <a:buSzPts val="1600"/>
              <a:buFont typeface="IBM Plex Mono Medium"/>
              <a:buNone/>
              <a:defRPr sz="1500">
                <a:solidFill>
                  <a:srgbClr val="104DE5"/>
                </a:solidFill>
                <a:latin typeface="IBM Plex Mono Medium"/>
                <a:ea typeface="IBM Plex Mono Medium"/>
                <a:cs typeface="IBM Plex Mono Medium"/>
                <a:sym typeface="IBM Plex Mono Medium"/>
              </a:defRPr>
            </a:lvl9pPr>
          </a:lstStyle>
          <a:p>
            <a:endParaRPr/>
          </a:p>
        </p:txBody>
      </p:sp>
      <p:sp>
        <p:nvSpPr>
          <p:cNvPr id="80" name="Google Shape;80;g2ae66c03690_0_880"/>
          <p:cNvSpPr txBox="1">
            <a:spLocks noGrp="1"/>
          </p:cNvSpPr>
          <p:nvPr>
            <p:ph type="title"/>
          </p:nvPr>
        </p:nvSpPr>
        <p:spPr>
          <a:xfrm>
            <a:off x="1208400" y="1013233"/>
            <a:ext cx="9775200" cy="6573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sz="3200"/>
            </a:lvl2pPr>
            <a:lvl3pPr lvl="2" algn="l">
              <a:lnSpc>
                <a:spcPct val="100000"/>
              </a:lnSpc>
              <a:spcBef>
                <a:spcPts val="0"/>
              </a:spcBef>
              <a:spcAft>
                <a:spcPts val="0"/>
              </a:spcAft>
              <a:buSzPts val="3700"/>
              <a:buNone/>
              <a:defRPr sz="3200"/>
            </a:lvl3pPr>
            <a:lvl4pPr lvl="3" algn="l">
              <a:lnSpc>
                <a:spcPct val="100000"/>
              </a:lnSpc>
              <a:spcBef>
                <a:spcPts val="0"/>
              </a:spcBef>
              <a:spcAft>
                <a:spcPts val="0"/>
              </a:spcAft>
              <a:buSzPts val="3700"/>
              <a:buNone/>
              <a:defRPr sz="3200"/>
            </a:lvl4pPr>
            <a:lvl5pPr lvl="4" algn="l">
              <a:lnSpc>
                <a:spcPct val="100000"/>
              </a:lnSpc>
              <a:spcBef>
                <a:spcPts val="0"/>
              </a:spcBef>
              <a:spcAft>
                <a:spcPts val="0"/>
              </a:spcAft>
              <a:buSzPts val="3700"/>
              <a:buNone/>
              <a:defRPr sz="3200"/>
            </a:lvl5pPr>
            <a:lvl6pPr lvl="5" algn="l">
              <a:lnSpc>
                <a:spcPct val="100000"/>
              </a:lnSpc>
              <a:spcBef>
                <a:spcPts val="0"/>
              </a:spcBef>
              <a:spcAft>
                <a:spcPts val="0"/>
              </a:spcAft>
              <a:buSzPts val="3700"/>
              <a:buNone/>
              <a:defRPr sz="3200"/>
            </a:lvl6pPr>
            <a:lvl7pPr lvl="6" algn="l">
              <a:lnSpc>
                <a:spcPct val="100000"/>
              </a:lnSpc>
              <a:spcBef>
                <a:spcPts val="0"/>
              </a:spcBef>
              <a:spcAft>
                <a:spcPts val="0"/>
              </a:spcAft>
              <a:buSzPts val="3700"/>
              <a:buNone/>
              <a:defRPr sz="3200"/>
            </a:lvl7pPr>
            <a:lvl8pPr lvl="7" algn="l">
              <a:lnSpc>
                <a:spcPct val="100000"/>
              </a:lnSpc>
              <a:spcBef>
                <a:spcPts val="0"/>
              </a:spcBef>
              <a:spcAft>
                <a:spcPts val="0"/>
              </a:spcAft>
              <a:buSzPts val="3700"/>
              <a:buNone/>
              <a:defRPr sz="3200"/>
            </a:lvl8pPr>
            <a:lvl9pPr lvl="8" algn="l">
              <a:lnSpc>
                <a:spcPct val="100000"/>
              </a:lnSpc>
              <a:spcBef>
                <a:spcPts val="0"/>
              </a:spcBef>
              <a:spcAft>
                <a:spcPts val="0"/>
              </a:spcAft>
              <a:buSzPts val="3700"/>
              <a:buNone/>
              <a:defRPr sz="3200"/>
            </a:lvl9pPr>
          </a:lstStyle>
          <a:p>
            <a:endParaRPr/>
          </a:p>
        </p:txBody>
      </p:sp>
      <p:sp>
        <p:nvSpPr>
          <p:cNvPr id="81" name="Google Shape;81;g2ae66c03690_0_880"/>
          <p:cNvSpPr txBox="1">
            <a:spLocks noGrp="1"/>
          </p:cNvSpPr>
          <p:nvPr>
            <p:ph type="body" idx="2"/>
          </p:nvPr>
        </p:nvSpPr>
        <p:spPr>
          <a:xfrm>
            <a:off x="1289133" y="2399500"/>
            <a:ext cx="7562700" cy="3081600"/>
          </a:xfrm>
          <a:prstGeom prst="rect">
            <a:avLst/>
          </a:prstGeom>
          <a:noFill/>
          <a:ln>
            <a:noFill/>
          </a:ln>
        </p:spPr>
        <p:txBody>
          <a:bodyPr spcFirstLastPara="1" wrap="square" lIns="121900" tIns="121900" rIns="121900" bIns="121900" anchor="t" anchorCtr="0">
            <a:noAutofit/>
          </a:bodyPr>
          <a:lstStyle>
            <a:lvl1pPr marL="457200" lvl="0" indent="-349250" algn="l">
              <a:lnSpc>
                <a:spcPct val="115000"/>
              </a:lnSpc>
              <a:spcBef>
                <a:spcPts val="0"/>
              </a:spcBef>
              <a:spcAft>
                <a:spcPts val="0"/>
              </a:spcAft>
              <a:buClr>
                <a:srgbClr val="124DE3"/>
              </a:buClr>
              <a:buSzPts val="1900"/>
              <a:buFont typeface="Poppins"/>
              <a:buChar char="➔"/>
              <a:defRPr>
                <a:latin typeface="Poppins"/>
                <a:ea typeface="Poppins"/>
                <a:cs typeface="Poppins"/>
                <a:sym typeface="Poppins"/>
              </a:defRPr>
            </a:lvl1pPr>
            <a:lvl2pPr marL="914400" lvl="1" indent="-330200" algn="l">
              <a:lnSpc>
                <a:spcPct val="115000"/>
              </a:lnSpc>
              <a:spcBef>
                <a:spcPts val="2100"/>
              </a:spcBef>
              <a:spcAft>
                <a:spcPts val="0"/>
              </a:spcAft>
              <a:buClr>
                <a:srgbClr val="114DE5"/>
              </a:buClr>
              <a:buSzPts val="1600"/>
              <a:buChar char="◆"/>
              <a:defRPr sz="1600"/>
            </a:lvl2pPr>
            <a:lvl3pPr marL="1371600" lvl="2" indent="-330200" algn="l">
              <a:lnSpc>
                <a:spcPct val="115000"/>
              </a:lnSpc>
              <a:spcBef>
                <a:spcPts val="2100"/>
              </a:spcBef>
              <a:spcAft>
                <a:spcPts val="0"/>
              </a:spcAft>
              <a:buClr>
                <a:srgbClr val="124DE3"/>
              </a:buClr>
              <a:buSzPts val="1600"/>
              <a:buChar char="●"/>
              <a:defRPr sz="1600"/>
            </a:lvl3pPr>
            <a:lvl4pPr marL="1828800" lvl="3" indent="-330200" algn="l">
              <a:lnSpc>
                <a:spcPct val="115000"/>
              </a:lnSpc>
              <a:spcBef>
                <a:spcPts val="2100"/>
              </a:spcBef>
              <a:spcAft>
                <a:spcPts val="0"/>
              </a:spcAft>
              <a:buSzPts val="1600"/>
              <a:buChar char="○"/>
              <a:defRPr sz="1600"/>
            </a:lvl4pPr>
            <a:lvl5pPr marL="2286000" lvl="4" indent="-330200" algn="l">
              <a:lnSpc>
                <a:spcPct val="115000"/>
              </a:lnSpc>
              <a:spcBef>
                <a:spcPts val="2100"/>
              </a:spcBef>
              <a:spcAft>
                <a:spcPts val="0"/>
              </a:spcAft>
              <a:buSzPts val="1600"/>
              <a:buChar char="◆"/>
              <a:defRPr sz="1600"/>
            </a:lvl5pPr>
            <a:lvl6pPr marL="2743200" lvl="5" indent="-330200" algn="l">
              <a:lnSpc>
                <a:spcPct val="115000"/>
              </a:lnSpc>
              <a:spcBef>
                <a:spcPts val="2100"/>
              </a:spcBef>
              <a:spcAft>
                <a:spcPts val="0"/>
              </a:spcAft>
              <a:buSzPts val="1600"/>
              <a:buChar char="●"/>
              <a:defRPr sz="1600"/>
            </a:lvl6pPr>
            <a:lvl7pPr marL="3200400" lvl="6" indent="-330200" algn="l">
              <a:lnSpc>
                <a:spcPct val="115000"/>
              </a:lnSpc>
              <a:spcBef>
                <a:spcPts val="2100"/>
              </a:spcBef>
              <a:spcAft>
                <a:spcPts val="0"/>
              </a:spcAft>
              <a:buSzPts val="1600"/>
              <a:buChar char="○"/>
              <a:defRPr sz="1600"/>
            </a:lvl7pPr>
            <a:lvl8pPr marL="3657600" lvl="7" indent="-330200" algn="l">
              <a:lnSpc>
                <a:spcPct val="115000"/>
              </a:lnSpc>
              <a:spcBef>
                <a:spcPts val="2100"/>
              </a:spcBef>
              <a:spcAft>
                <a:spcPts val="0"/>
              </a:spcAft>
              <a:buSzPts val="1600"/>
              <a:buChar char="◆"/>
              <a:defRPr sz="1600"/>
            </a:lvl8pPr>
            <a:lvl9pPr marL="4114800" lvl="8" indent="-330200" algn="l">
              <a:lnSpc>
                <a:spcPct val="115000"/>
              </a:lnSpc>
              <a:spcBef>
                <a:spcPts val="2100"/>
              </a:spcBef>
              <a:spcAft>
                <a:spcPts val="2100"/>
              </a:spcAft>
              <a:buSzPts val="1600"/>
              <a:buChar char="●"/>
              <a:defRPr sz="16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88"/>
        <p:cNvGrpSpPr/>
        <p:nvPr/>
      </p:nvGrpSpPr>
      <p:grpSpPr>
        <a:xfrm>
          <a:off x="0" y="0"/>
          <a:ext cx="0" cy="0"/>
          <a:chOff x="0" y="0"/>
          <a:chExt cx="0" cy="0"/>
        </a:xfrm>
      </p:grpSpPr>
      <p:sp>
        <p:nvSpPr>
          <p:cNvPr id="89" name="Google Shape;89;g2aec3b0e815_0_47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g2aec3b0e815_0_47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2aec3b0e815_0_47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2aec3b0e815_0_47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2aec3b0e815_0_47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4"/>
        <p:cNvGrpSpPr/>
        <p:nvPr/>
      </p:nvGrpSpPr>
      <p:grpSpPr>
        <a:xfrm>
          <a:off x="0" y="0"/>
          <a:ext cx="0" cy="0"/>
          <a:chOff x="0" y="0"/>
          <a:chExt cx="0" cy="0"/>
        </a:xfrm>
      </p:grpSpPr>
      <p:sp>
        <p:nvSpPr>
          <p:cNvPr id="95" name="Google Shape;95;g2aec3b0e815_0_47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g2aec3b0e815_0_47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7" name="Google Shape;97;g2aec3b0e815_0_47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g2aec3b0e815_0_47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g2aec3b0e815_0_47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00"/>
        <p:cNvGrpSpPr/>
        <p:nvPr/>
      </p:nvGrpSpPr>
      <p:grpSpPr>
        <a:xfrm>
          <a:off x="0" y="0"/>
          <a:ext cx="0" cy="0"/>
          <a:chOff x="0" y="0"/>
          <a:chExt cx="0" cy="0"/>
        </a:xfrm>
      </p:grpSpPr>
      <p:sp>
        <p:nvSpPr>
          <p:cNvPr id="101" name="Google Shape;101;g2aec3b0e815_0_48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g2aec3b0e815_0_48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g2aec3b0e815_0_48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g2aec3b0e815_0_48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5"/>
        <p:cNvGrpSpPr/>
        <p:nvPr/>
      </p:nvGrpSpPr>
      <p:grpSpPr>
        <a:xfrm>
          <a:off x="0" y="0"/>
          <a:ext cx="0" cy="0"/>
          <a:chOff x="0" y="0"/>
          <a:chExt cx="0" cy="0"/>
        </a:xfrm>
      </p:grpSpPr>
      <p:sp>
        <p:nvSpPr>
          <p:cNvPr id="106" name="Google Shape;106;g2aec3b0e815_0_490"/>
          <p:cNvSpPr txBox="1">
            <a:spLocks noGrp="1"/>
          </p:cNvSpPr>
          <p:nvPr>
            <p:ph type="title"/>
          </p:nvPr>
        </p:nvSpPr>
        <p:spPr>
          <a:xfrm>
            <a:off x="3252600" y="3116677"/>
            <a:ext cx="5686800" cy="1976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sz="6133">
                <a:solidFill>
                  <a:schemeClr val="accent6"/>
                </a:solidFill>
              </a:defRPr>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107" name="Google Shape;107;g2aec3b0e815_0_490"/>
          <p:cNvSpPr txBox="1">
            <a:spLocks noGrp="1"/>
          </p:cNvSpPr>
          <p:nvPr>
            <p:ph type="subTitle" idx="1"/>
          </p:nvPr>
        </p:nvSpPr>
        <p:spPr>
          <a:xfrm>
            <a:off x="4177867" y="5013669"/>
            <a:ext cx="3836400" cy="791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108" name="Google Shape;108;g2aec3b0e815_0_490"/>
          <p:cNvSpPr txBox="1">
            <a:spLocks noGrp="1"/>
          </p:cNvSpPr>
          <p:nvPr>
            <p:ph type="title" idx="2"/>
          </p:nvPr>
        </p:nvSpPr>
        <p:spPr>
          <a:xfrm>
            <a:off x="4109800" y="1093767"/>
            <a:ext cx="3972300" cy="1734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6"/>
              </a:buClr>
              <a:buSzPts val="12000"/>
              <a:buNone/>
              <a:defRPr sz="14666">
                <a:solidFill>
                  <a:schemeClr val="accent5"/>
                </a:solidFill>
              </a:defRPr>
            </a:lvl1pPr>
            <a:lvl2pPr lvl="1" algn="ctr">
              <a:lnSpc>
                <a:spcPct val="100000"/>
              </a:lnSpc>
              <a:spcBef>
                <a:spcPts val="0"/>
              </a:spcBef>
              <a:spcAft>
                <a:spcPts val="0"/>
              </a:spcAft>
              <a:buClr>
                <a:schemeClr val="accent6"/>
              </a:buClr>
              <a:buSzPts val="12000"/>
              <a:buNone/>
              <a:defRPr sz="16000">
                <a:solidFill>
                  <a:schemeClr val="accent6"/>
                </a:solidFill>
              </a:defRPr>
            </a:lvl2pPr>
            <a:lvl3pPr lvl="2" algn="ctr">
              <a:lnSpc>
                <a:spcPct val="100000"/>
              </a:lnSpc>
              <a:spcBef>
                <a:spcPts val="0"/>
              </a:spcBef>
              <a:spcAft>
                <a:spcPts val="0"/>
              </a:spcAft>
              <a:buClr>
                <a:schemeClr val="accent6"/>
              </a:buClr>
              <a:buSzPts val="12000"/>
              <a:buNone/>
              <a:defRPr sz="16000">
                <a:solidFill>
                  <a:schemeClr val="accent6"/>
                </a:solidFill>
              </a:defRPr>
            </a:lvl3pPr>
            <a:lvl4pPr lvl="3" algn="ctr">
              <a:lnSpc>
                <a:spcPct val="100000"/>
              </a:lnSpc>
              <a:spcBef>
                <a:spcPts val="0"/>
              </a:spcBef>
              <a:spcAft>
                <a:spcPts val="0"/>
              </a:spcAft>
              <a:buClr>
                <a:schemeClr val="accent6"/>
              </a:buClr>
              <a:buSzPts val="12000"/>
              <a:buNone/>
              <a:defRPr sz="16000">
                <a:solidFill>
                  <a:schemeClr val="accent6"/>
                </a:solidFill>
              </a:defRPr>
            </a:lvl4pPr>
            <a:lvl5pPr lvl="4" algn="ctr">
              <a:lnSpc>
                <a:spcPct val="100000"/>
              </a:lnSpc>
              <a:spcBef>
                <a:spcPts val="0"/>
              </a:spcBef>
              <a:spcAft>
                <a:spcPts val="0"/>
              </a:spcAft>
              <a:buClr>
                <a:schemeClr val="accent6"/>
              </a:buClr>
              <a:buSzPts val="12000"/>
              <a:buNone/>
              <a:defRPr sz="16000">
                <a:solidFill>
                  <a:schemeClr val="accent6"/>
                </a:solidFill>
              </a:defRPr>
            </a:lvl5pPr>
            <a:lvl6pPr lvl="5" algn="ctr">
              <a:lnSpc>
                <a:spcPct val="100000"/>
              </a:lnSpc>
              <a:spcBef>
                <a:spcPts val="0"/>
              </a:spcBef>
              <a:spcAft>
                <a:spcPts val="0"/>
              </a:spcAft>
              <a:buClr>
                <a:schemeClr val="accent6"/>
              </a:buClr>
              <a:buSzPts val="12000"/>
              <a:buNone/>
              <a:defRPr sz="16000">
                <a:solidFill>
                  <a:schemeClr val="accent6"/>
                </a:solidFill>
              </a:defRPr>
            </a:lvl6pPr>
            <a:lvl7pPr lvl="6" algn="ctr">
              <a:lnSpc>
                <a:spcPct val="100000"/>
              </a:lnSpc>
              <a:spcBef>
                <a:spcPts val="0"/>
              </a:spcBef>
              <a:spcAft>
                <a:spcPts val="0"/>
              </a:spcAft>
              <a:buClr>
                <a:schemeClr val="accent6"/>
              </a:buClr>
              <a:buSzPts val="12000"/>
              <a:buNone/>
              <a:defRPr sz="16000">
                <a:solidFill>
                  <a:schemeClr val="accent6"/>
                </a:solidFill>
              </a:defRPr>
            </a:lvl7pPr>
            <a:lvl8pPr lvl="7" algn="ctr">
              <a:lnSpc>
                <a:spcPct val="100000"/>
              </a:lnSpc>
              <a:spcBef>
                <a:spcPts val="0"/>
              </a:spcBef>
              <a:spcAft>
                <a:spcPts val="0"/>
              </a:spcAft>
              <a:buClr>
                <a:schemeClr val="accent6"/>
              </a:buClr>
              <a:buSzPts val="12000"/>
              <a:buNone/>
              <a:defRPr sz="16000">
                <a:solidFill>
                  <a:schemeClr val="accent6"/>
                </a:solidFill>
              </a:defRPr>
            </a:lvl8pPr>
            <a:lvl9pPr lvl="8" algn="ctr">
              <a:lnSpc>
                <a:spcPct val="100000"/>
              </a:lnSpc>
              <a:spcBef>
                <a:spcPts val="0"/>
              </a:spcBef>
              <a:spcAft>
                <a:spcPts val="0"/>
              </a:spcAft>
              <a:buClr>
                <a:schemeClr val="accent6"/>
              </a:buClr>
              <a:buSzPts val="12000"/>
              <a:buNone/>
              <a:defRPr sz="16000">
                <a:solidFill>
                  <a:schemeClr val="accent6"/>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Encabezado de sección">
  <p:cSld name="SECTION_HEADER 2">
    <p:spTree>
      <p:nvGrpSpPr>
        <p:cNvPr id="1" name="Shape 109"/>
        <p:cNvGrpSpPr/>
        <p:nvPr/>
      </p:nvGrpSpPr>
      <p:grpSpPr>
        <a:xfrm>
          <a:off x="0" y="0"/>
          <a:ext cx="0" cy="0"/>
          <a:chOff x="0" y="0"/>
          <a:chExt cx="0" cy="0"/>
        </a:xfrm>
      </p:grpSpPr>
      <p:sp>
        <p:nvSpPr>
          <p:cNvPr id="110" name="Google Shape;110;g2aec3b0e815_0_49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g2aec3b0e815_0_494"/>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12" name="Google Shape;112;g2aec3b0e815_0_49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g2aec3b0e815_0_49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g2aec3b0e815_0_49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15"/>
        <p:cNvGrpSpPr/>
        <p:nvPr/>
      </p:nvGrpSpPr>
      <p:grpSpPr>
        <a:xfrm>
          <a:off x="0" y="0"/>
          <a:ext cx="0" cy="0"/>
          <a:chOff x="0" y="0"/>
          <a:chExt cx="0" cy="0"/>
        </a:xfrm>
      </p:grpSpPr>
      <p:sp>
        <p:nvSpPr>
          <p:cNvPr id="116" name="Google Shape;116;g2aec3b0e815_0_50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g2aec3b0e815_0_50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g2aec3b0e815_0_50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g2aec3b0e815_0_50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2aec3b0e815_0_50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g2aec3b0e815_0_50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22"/>
        <p:cNvGrpSpPr/>
        <p:nvPr/>
      </p:nvGrpSpPr>
      <p:grpSpPr>
        <a:xfrm>
          <a:off x="0" y="0"/>
          <a:ext cx="0" cy="0"/>
          <a:chOff x="0" y="0"/>
          <a:chExt cx="0" cy="0"/>
        </a:xfrm>
      </p:grpSpPr>
      <p:sp>
        <p:nvSpPr>
          <p:cNvPr id="123" name="Google Shape;123;g2aec3b0e815_0_507"/>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2aec3b0e815_0_507"/>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5" name="Google Shape;125;g2aec3b0e815_0_507"/>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g2aec3b0e815_0_507"/>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7" name="Google Shape;127;g2aec3b0e815_0_507"/>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g2aec3b0e815_0_50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g2aec3b0e815_0_50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g2aec3b0e815_0_50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31"/>
        <p:cNvGrpSpPr/>
        <p:nvPr/>
      </p:nvGrpSpPr>
      <p:grpSpPr>
        <a:xfrm>
          <a:off x="0" y="0"/>
          <a:ext cx="0" cy="0"/>
          <a:chOff x="0" y="0"/>
          <a:chExt cx="0" cy="0"/>
        </a:xfrm>
      </p:grpSpPr>
      <p:sp>
        <p:nvSpPr>
          <p:cNvPr id="132" name="Google Shape;132;g2aec3b0e815_0_51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g2aec3b0e815_0_51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g2aec3b0e815_0_51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5"/>
        <p:cNvGrpSpPr/>
        <p:nvPr/>
      </p:nvGrpSpPr>
      <p:grpSpPr>
        <a:xfrm>
          <a:off x="0" y="0"/>
          <a:ext cx="0" cy="0"/>
          <a:chOff x="0" y="0"/>
          <a:chExt cx="0" cy="0"/>
        </a:xfrm>
      </p:grpSpPr>
      <p:sp>
        <p:nvSpPr>
          <p:cNvPr id="136" name="Google Shape;136;g2aec3b0e815_0_52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g2aec3b0e815_0_520"/>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8" name="Google Shape;138;g2aec3b0e815_0_52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9" name="Google Shape;139;g2aec3b0e815_0_52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g2aec3b0e815_0_52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g2aec3b0e815_0_52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2"/>
        <p:cNvGrpSpPr/>
        <p:nvPr/>
      </p:nvGrpSpPr>
      <p:grpSpPr>
        <a:xfrm>
          <a:off x="0" y="0"/>
          <a:ext cx="0" cy="0"/>
          <a:chOff x="0" y="0"/>
          <a:chExt cx="0" cy="0"/>
        </a:xfrm>
      </p:grpSpPr>
      <p:sp>
        <p:nvSpPr>
          <p:cNvPr id="143" name="Google Shape;143;g2aec3b0e815_0_527"/>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g2aec3b0e815_0_527"/>
          <p:cNvSpPr>
            <a:spLocks noGrp="1"/>
          </p:cNvSpPr>
          <p:nvPr>
            <p:ph type="pic" idx="2"/>
          </p:nvPr>
        </p:nvSpPr>
        <p:spPr>
          <a:xfrm>
            <a:off x="5183188" y="987425"/>
            <a:ext cx="6172200" cy="4873500"/>
          </a:xfrm>
          <a:prstGeom prst="rect">
            <a:avLst/>
          </a:prstGeom>
          <a:noFill/>
          <a:ln>
            <a:noFill/>
          </a:ln>
        </p:spPr>
      </p:sp>
      <p:sp>
        <p:nvSpPr>
          <p:cNvPr id="145" name="Google Shape;145;g2aec3b0e815_0_527"/>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6" name="Google Shape;146;g2aec3b0e815_0_5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g2aec3b0e815_0_5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g2aec3b0e815_0_5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9"/>
        <p:cNvGrpSpPr/>
        <p:nvPr/>
      </p:nvGrpSpPr>
      <p:grpSpPr>
        <a:xfrm>
          <a:off x="0" y="0"/>
          <a:ext cx="0" cy="0"/>
          <a:chOff x="0" y="0"/>
          <a:chExt cx="0" cy="0"/>
        </a:xfrm>
      </p:grpSpPr>
      <p:sp>
        <p:nvSpPr>
          <p:cNvPr id="150" name="Google Shape;150;g2aec3b0e815_0_5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g2aec3b0e815_0_534"/>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g2aec3b0e815_0_53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g2aec3b0e815_0_53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g2aec3b0e815_0_53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5"/>
        <p:cNvGrpSpPr/>
        <p:nvPr/>
      </p:nvGrpSpPr>
      <p:grpSpPr>
        <a:xfrm>
          <a:off x="0" y="0"/>
          <a:ext cx="0" cy="0"/>
          <a:chOff x="0" y="0"/>
          <a:chExt cx="0" cy="0"/>
        </a:xfrm>
      </p:grpSpPr>
      <p:sp>
        <p:nvSpPr>
          <p:cNvPr id="156" name="Google Shape;156;g2aec3b0e815_0_540"/>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g2aec3b0e815_0_540"/>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g2aec3b0e815_0_54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g2aec3b0e815_0_54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g2aec3b0e815_0_54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16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
        <p:nvSpPr>
          <p:cNvPr id="83" name="Google Shape;83;g2aec3b0e815_0_46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4" name="Google Shape;84;g2aec3b0e815_0_46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g2aec3b0e815_0_46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6" name="Google Shape;86;g2aec3b0e815_0_46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g2aec3b0e815_0_46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jpg"/></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18.jp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6.jpg"/><Relationship Id="rId5" Type="http://schemas.openxmlformats.org/officeDocument/2006/relationships/image" Target="../media/image4.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4.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6.jp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g2ada6b3ec75_0_0"/>
          <p:cNvPicPr preferRelativeResize="0"/>
          <p:nvPr/>
        </p:nvPicPr>
        <p:blipFill rotWithShape="1">
          <a:blip r:embed="rId3">
            <a:alphaModFix/>
          </a:blip>
          <a:srcRect/>
          <a:stretch/>
        </p:blipFill>
        <p:spPr>
          <a:xfrm>
            <a:off x="1" y="0"/>
            <a:ext cx="12192000" cy="6858000"/>
          </a:xfrm>
          <a:prstGeom prst="rect">
            <a:avLst/>
          </a:prstGeom>
          <a:noFill/>
          <a:ln>
            <a:noFill/>
          </a:ln>
        </p:spPr>
      </p:pic>
      <p:grpSp>
        <p:nvGrpSpPr>
          <p:cNvPr id="167" name="Google Shape;167;g2ada6b3ec75_0_0"/>
          <p:cNvGrpSpPr/>
          <p:nvPr/>
        </p:nvGrpSpPr>
        <p:grpSpPr>
          <a:xfrm>
            <a:off x="-19874" y="-180800"/>
            <a:ext cx="7014451" cy="7098825"/>
            <a:chOff x="818326" y="-180800"/>
            <a:chExt cx="7014451" cy="7098825"/>
          </a:xfrm>
        </p:grpSpPr>
        <p:pic>
          <p:nvPicPr>
            <p:cNvPr id="168" name="Google Shape;168;g2ada6b3ec75_0_0"/>
            <p:cNvPicPr preferRelativeResize="0"/>
            <p:nvPr/>
          </p:nvPicPr>
          <p:blipFill rotWithShape="1">
            <a:blip r:embed="rId4">
              <a:alphaModFix/>
            </a:blip>
            <a:srcRect l="10897"/>
            <a:stretch/>
          </p:blipFill>
          <p:spPr>
            <a:xfrm>
              <a:off x="818326" y="-180800"/>
              <a:ext cx="7014451" cy="7098825"/>
            </a:xfrm>
            <a:prstGeom prst="rect">
              <a:avLst/>
            </a:prstGeom>
            <a:noFill/>
            <a:ln>
              <a:noFill/>
            </a:ln>
          </p:spPr>
        </p:pic>
        <p:pic>
          <p:nvPicPr>
            <p:cNvPr id="169" name="Google Shape;169;g2ada6b3ec75_0_0"/>
            <p:cNvPicPr preferRelativeResize="0"/>
            <p:nvPr/>
          </p:nvPicPr>
          <p:blipFill rotWithShape="1">
            <a:blip r:embed="rId5">
              <a:alphaModFix/>
            </a:blip>
            <a:srcRect/>
            <a:stretch/>
          </p:blipFill>
          <p:spPr>
            <a:xfrm>
              <a:off x="4365401" y="235434"/>
              <a:ext cx="1153418" cy="1320097"/>
            </a:xfrm>
            <a:prstGeom prst="rect">
              <a:avLst/>
            </a:prstGeom>
            <a:noFill/>
            <a:ln>
              <a:noFill/>
            </a:ln>
          </p:spPr>
        </p:pic>
        <p:pic>
          <p:nvPicPr>
            <p:cNvPr id="170" name="Google Shape;170;g2ada6b3ec75_0_0"/>
            <p:cNvPicPr preferRelativeResize="0"/>
            <p:nvPr/>
          </p:nvPicPr>
          <p:blipFill rotWithShape="1">
            <a:blip r:embed="rId6">
              <a:alphaModFix/>
            </a:blip>
            <a:srcRect/>
            <a:stretch/>
          </p:blipFill>
          <p:spPr>
            <a:xfrm>
              <a:off x="6894046" y="6126013"/>
              <a:ext cx="520640" cy="513878"/>
            </a:xfrm>
            <a:prstGeom prst="rect">
              <a:avLst/>
            </a:prstGeom>
            <a:noFill/>
            <a:ln>
              <a:noFill/>
            </a:ln>
          </p:spPr>
        </p:pic>
      </p:grpSp>
      <p:sp>
        <p:nvSpPr>
          <p:cNvPr id="171" name="Google Shape;171;g2ada6b3ec75_0_0"/>
          <p:cNvSpPr txBox="1"/>
          <p:nvPr/>
        </p:nvSpPr>
        <p:spPr>
          <a:xfrm>
            <a:off x="292750" y="3153900"/>
            <a:ext cx="5062800" cy="1077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600"/>
              </a:spcBef>
              <a:spcAft>
                <a:spcPts val="0"/>
              </a:spcAft>
              <a:buClr>
                <a:srgbClr val="000000"/>
              </a:buClr>
              <a:buSzPts val="3200"/>
              <a:buFont typeface="Arial"/>
              <a:buNone/>
            </a:pPr>
            <a:r>
              <a:rPr lang="es-ES" sz="3200" b="0" i="0" u="none" strike="noStrike" cap="none">
                <a:solidFill>
                  <a:schemeClr val="lt1"/>
                </a:solidFill>
                <a:latin typeface="Montserrat ExtraBold"/>
                <a:ea typeface="Montserrat ExtraBold"/>
                <a:cs typeface="Montserrat ExtraBold"/>
                <a:sym typeface="Montserrat ExtraBold"/>
              </a:rPr>
              <a:t>Programación Web con HTML &amp; CSS</a:t>
            </a:r>
            <a:endParaRPr sz="500" b="0" i="0" u="none" strike="noStrike" cap="none">
              <a:solidFill>
                <a:schemeClr val="lt1"/>
              </a:solidFill>
              <a:latin typeface="Calibri"/>
              <a:ea typeface="Calibri"/>
              <a:cs typeface="Calibri"/>
              <a:sym typeface="Calibri"/>
            </a:endParaRPr>
          </a:p>
        </p:txBody>
      </p:sp>
      <p:sp>
        <p:nvSpPr>
          <p:cNvPr id="172" name="Google Shape;172;g2ada6b3ec75_0_0"/>
          <p:cNvSpPr txBox="1"/>
          <p:nvPr/>
        </p:nvSpPr>
        <p:spPr>
          <a:xfrm>
            <a:off x="446494" y="4362979"/>
            <a:ext cx="35082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1" i="0" u="none" strike="noStrike" cap="none">
                <a:solidFill>
                  <a:srgbClr val="FFC300"/>
                </a:solidFill>
                <a:latin typeface="Montserrat SemiBold"/>
                <a:ea typeface="Montserrat SemiBold"/>
                <a:cs typeface="Montserrat SemiBold"/>
                <a:sym typeface="Montserrat SemiBold"/>
              </a:rPr>
              <a:t>CURSO APLICATIVO</a:t>
            </a:r>
            <a:endParaRPr sz="2000" b="1" i="0" u="none" strike="noStrike" cap="none">
              <a:solidFill>
                <a:srgbClr val="FFC300"/>
              </a:solidFill>
              <a:latin typeface="Montserrat SemiBold"/>
              <a:ea typeface="Montserrat SemiBold"/>
              <a:cs typeface="Montserrat SemiBold"/>
              <a:sym typeface="Montserrat SemiBold"/>
            </a:endParaRPr>
          </a:p>
        </p:txBody>
      </p:sp>
      <p:pic>
        <p:nvPicPr>
          <p:cNvPr id="173" name="Google Shape;173;g2ada6b3ec75_0_0"/>
          <p:cNvPicPr preferRelativeResize="0"/>
          <p:nvPr/>
        </p:nvPicPr>
        <p:blipFill rotWithShape="1">
          <a:blip r:embed="rId7">
            <a:alphaModFix/>
          </a:blip>
          <a:srcRect/>
          <a:stretch/>
        </p:blipFill>
        <p:spPr>
          <a:xfrm>
            <a:off x="10488437" y="198408"/>
            <a:ext cx="1420497" cy="672043"/>
          </a:xfrm>
          <a:prstGeom prst="rect">
            <a:avLst/>
          </a:prstGeom>
          <a:noFill/>
          <a:ln>
            <a:noFill/>
          </a:ln>
        </p:spPr>
      </p:pic>
      <p:sp>
        <p:nvSpPr>
          <p:cNvPr id="174" name="Google Shape;174;g2ada6b3ec75_0_0"/>
          <p:cNvSpPr txBox="1"/>
          <p:nvPr/>
        </p:nvSpPr>
        <p:spPr>
          <a:xfrm>
            <a:off x="573897" y="4967669"/>
            <a:ext cx="1317600" cy="223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ES" sz="1000" b="0" i="1" u="none" strike="noStrike" cap="none">
                <a:solidFill>
                  <a:srgbClr val="FFFFFF"/>
                </a:solidFill>
                <a:latin typeface="Montserrat"/>
                <a:ea typeface="Montserrat"/>
                <a:cs typeface="Montserrat"/>
                <a:sym typeface="Montserrat"/>
              </a:rPr>
              <a:t>Avalado por:</a:t>
            </a:r>
            <a:endParaRPr sz="1000" b="0" i="1" u="none" strike="noStrike" cap="none">
              <a:solidFill>
                <a:srgbClr val="FFFFFF"/>
              </a:solidFill>
              <a:latin typeface="Montserrat"/>
              <a:ea typeface="Montserrat"/>
              <a:cs typeface="Montserrat"/>
              <a:sym typeface="Montserrat"/>
            </a:endParaRPr>
          </a:p>
        </p:txBody>
      </p:sp>
      <p:sp>
        <p:nvSpPr>
          <p:cNvPr id="175" name="Google Shape;175;g2ada6b3ec75_0_0"/>
          <p:cNvSpPr txBox="1"/>
          <p:nvPr/>
        </p:nvSpPr>
        <p:spPr>
          <a:xfrm>
            <a:off x="459395" y="6544597"/>
            <a:ext cx="4729500" cy="315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s-ES" sz="800" b="0" i="0" u="none" strike="noStrike" cap="none">
                <a:solidFill>
                  <a:srgbClr val="FFFFFF"/>
                </a:solidFill>
                <a:latin typeface="Montserrat Medium"/>
                <a:ea typeface="Montserrat Medium"/>
                <a:cs typeface="Montserrat Medium"/>
                <a:sym typeface="Montserrat Medium"/>
              </a:rPr>
              <a:t>Derechos reservados WE Educación Ejecutiva: S001303560 / Registro INDECOPI</a:t>
            </a:r>
            <a:endParaRPr sz="800" b="0" i="0" u="none" strike="noStrike" cap="none">
              <a:solidFill>
                <a:srgbClr val="FFFFFF"/>
              </a:solidFill>
              <a:latin typeface="Montserrat Medium"/>
              <a:ea typeface="Montserrat Medium"/>
              <a:cs typeface="Montserrat Medium"/>
              <a:sym typeface="Montserrat Medium"/>
            </a:endParaRPr>
          </a:p>
          <a:p>
            <a:pPr marL="0" marR="0" lvl="0" indent="0" algn="l" rtl="0">
              <a:lnSpc>
                <a:spcPct val="100000"/>
              </a:lnSpc>
              <a:spcBef>
                <a:spcPts val="0"/>
              </a:spcBef>
              <a:spcAft>
                <a:spcPts val="0"/>
              </a:spcAft>
              <a:buClr>
                <a:srgbClr val="000000"/>
              </a:buClr>
              <a:buSzPts val="600"/>
              <a:buFont typeface="Arial"/>
              <a:buNone/>
            </a:pPr>
            <a:endParaRPr sz="800" b="0" i="0" u="none" strike="noStrike" cap="none">
              <a:solidFill>
                <a:srgbClr val="212121"/>
              </a:solidFill>
              <a:latin typeface="Calibri"/>
              <a:ea typeface="Calibri"/>
              <a:cs typeface="Calibri"/>
              <a:sym typeface="Calibri"/>
            </a:endParaRPr>
          </a:p>
        </p:txBody>
      </p:sp>
      <p:pic>
        <p:nvPicPr>
          <p:cNvPr id="176" name="Google Shape;176;g2ada6b3ec75_0_0"/>
          <p:cNvPicPr preferRelativeResize="0"/>
          <p:nvPr/>
        </p:nvPicPr>
        <p:blipFill rotWithShape="1">
          <a:blip r:embed="rId8">
            <a:alphaModFix/>
          </a:blip>
          <a:srcRect/>
          <a:stretch/>
        </p:blipFill>
        <p:spPr>
          <a:xfrm>
            <a:off x="709950" y="5284363"/>
            <a:ext cx="1147050" cy="426949"/>
          </a:xfrm>
          <a:prstGeom prst="rect">
            <a:avLst/>
          </a:prstGeom>
          <a:noFill/>
          <a:ln>
            <a:noFill/>
          </a:ln>
        </p:spPr>
      </p:pic>
      <p:pic>
        <p:nvPicPr>
          <p:cNvPr id="177" name="Google Shape;177;g2ada6b3ec75_0_0"/>
          <p:cNvPicPr preferRelativeResize="0"/>
          <p:nvPr/>
        </p:nvPicPr>
        <p:blipFill rotWithShape="1">
          <a:blip r:embed="rId9">
            <a:alphaModFix/>
          </a:blip>
          <a:srcRect/>
          <a:stretch/>
        </p:blipFill>
        <p:spPr>
          <a:xfrm>
            <a:off x="2014338" y="5293188"/>
            <a:ext cx="1147050" cy="418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
          <p:cNvSpPr/>
          <p:nvPr/>
        </p:nvSpPr>
        <p:spPr>
          <a:xfrm>
            <a:off x="0" y="768700"/>
            <a:ext cx="12192000" cy="6089100"/>
          </a:xfrm>
          <a:prstGeom prst="rect">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83" name="Google Shape;183;p2"/>
          <p:cNvPicPr preferRelativeResize="0"/>
          <p:nvPr/>
        </p:nvPicPr>
        <p:blipFill rotWithShape="1">
          <a:blip r:embed="rId3">
            <a:alphaModFix/>
          </a:blip>
          <a:srcRect/>
          <a:stretch/>
        </p:blipFill>
        <p:spPr>
          <a:xfrm>
            <a:off x="10384871" y="219859"/>
            <a:ext cx="1578501" cy="746795"/>
          </a:xfrm>
          <a:prstGeom prst="rect">
            <a:avLst/>
          </a:prstGeom>
          <a:noFill/>
          <a:ln>
            <a:noFill/>
          </a:ln>
        </p:spPr>
      </p:pic>
      <p:pic>
        <p:nvPicPr>
          <p:cNvPr id="184" name="Google Shape;184;p2"/>
          <p:cNvPicPr preferRelativeResize="0"/>
          <p:nvPr/>
        </p:nvPicPr>
        <p:blipFill rotWithShape="1">
          <a:blip r:embed="rId4">
            <a:alphaModFix/>
          </a:blip>
          <a:srcRect/>
          <a:stretch/>
        </p:blipFill>
        <p:spPr>
          <a:xfrm>
            <a:off x="9422923" y="4103463"/>
            <a:ext cx="2436932" cy="2405283"/>
          </a:xfrm>
          <a:prstGeom prst="rect">
            <a:avLst/>
          </a:prstGeom>
          <a:noFill/>
          <a:ln>
            <a:noFill/>
          </a:ln>
        </p:spPr>
      </p:pic>
      <p:pic>
        <p:nvPicPr>
          <p:cNvPr id="185" name="Google Shape;185;p2"/>
          <p:cNvPicPr preferRelativeResize="0"/>
          <p:nvPr/>
        </p:nvPicPr>
        <p:blipFill rotWithShape="1">
          <a:blip r:embed="rId5">
            <a:alphaModFix/>
          </a:blip>
          <a:srcRect/>
          <a:stretch/>
        </p:blipFill>
        <p:spPr>
          <a:xfrm>
            <a:off x="-22500" y="-18874"/>
            <a:ext cx="12237000" cy="1258600"/>
          </a:xfrm>
          <a:prstGeom prst="rect">
            <a:avLst/>
          </a:prstGeom>
          <a:noFill/>
          <a:ln>
            <a:noFill/>
          </a:ln>
        </p:spPr>
      </p:pic>
      <p:sp>
        <p:nvSpPr>
          <p:cNvPr id="186" name="Google Shape;186;p2"/>
          <p:cNvSpPr txBox="1"/>
          <p:nvPr/>
        </p:nvSpPr>
        <p:spPr>
          <a:xfrm>
            <a:off x="665293" y="290164"/>
            <a:ext cx="3417900" cy="79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ES" sz="4800">
                <a:solidFill>
                  <a:srgbClr val="FFFFFF"/>
                </a:solidFill>
                <a:latin typeface="Montserrat ExtraBold"/>
                <a:ea typeface="Montserrat ExtraBold"/>
                <a:cs typeface="Montserrat ExtraBold"/>
                <a:sym typeface="Montserrat ExtraBold"/>
              </a:rPr>
              <a:t>ÍNDICE</a:t>
            </a:r>
            <a:endParaRPr sz="4800">
              <a:solidFill>
                <a:srgbClr val="FFFFFF"/>
              </a:solidFill>
              <a:latin typeface="Montserrat ExtraBold"/>
              <a:ea typeface="Montserrat ExtraBold"/>
              <a:cs typeface="Montserrat ExtraBold"/>
              <a:sym typeface="Montserrat ExtraBold"/>
            </a:endParaRPr>
          </a:p>
        </p:txBody>
      </p:sp>
      <p:sp>
        <p:nvSpPr>
          <p:cNvPr id="187" name="Google Shape;187;p2"/>
          <p:cNvSpPr txBox="1"/>
          <p:nvPr/>
        </p:nvSpPr>
        <p:spPr>
          <a:xfrm>
            <a:off x="834850" y="1562825"/>
            <a:ext cx="8515200" cy="2401200"/>
          </a:xfrm>
          <a:prstGeom prst="rect">
            <a:avLst/>
          </a:prstGeom>
          <a:noFill/>
          <a:ln>
            <a:noFill/>
          </a:ln>
        </p:spPr>
        <p:txBody>
          <a:bodyPr spcFirstLastPara="1" wrap="square" lIns="91425" tIns="45700" rIns="91425" bIns="45700" anchor="t" anchorCtr="0">
            <a:spAutoFit/>
          </a:bodyPr>
          <a:lstStyle/>
          <a:p>
            <a:pPr marL="457200" lvl="0" indent="-323850" algn="l" rtl="0">
              <a:lnSpc>
                <a:spcPct val="150000"/>
              </a:lnSpc>
              <a:spcBef>
                <a:spcPts val="0"/>
              </a:spcBef>
              <a:spcAft>
                <a:spcPts val="0"/>
              </a:spcAft>
              <a:buClr>
                <a:srgbClr val="FFFFFF"/>
              </a:buClr>
              <a:buSzPts val="1500"/>
              <a:buFont typeface="Montserrat"/>
              <a:buAutoNum type="arabicPeriod"/>
            </a:pPr>
            <a:r>
              <a:rPr lang="es-ES" sz="1500" b="1" dirty="0">
                <a:solidFill>
                  <a:srgbClr val="FFFFFF"/>
                </a:solidFill>
                <a:latin typeface="Montserrat"/>
                <a:ea typeface="Montserrat"/>
                <a:cs typeface="Montserrat"/>
                <a:sym typeface="Montserrat"/>
              </a:rPr>
              <a:t>Tema 1: </a:t>
            </a:r>
            <a:r>
              <a:rPr lang="es-ES" sz="1500" dirty="0">
                <a:solidFill>
                  <a:srgbClr val="FFFFFF"/>
                </a:solidFill>
                <a:latin typeface="Montserrat"/>
                <a:ea typeface="Montserrat"/>
                <a:cs typeface="Montserrat"/>
                <a:sym typeface="Montserrat"/>
              </a:rPr>
              <a:t>Modelo de caja, flujos y posicionamiento</a:t>
            </a:r>
            <a:endParaRPr sz="1500" dirty="0">
              <a:solidFill>
                <a:srgbClr val="FFFFFF"/>
              </a:solidFill>
              <a:latin typeface="Montserrat"/>
              <a:ea typeface="Montserrat"/>
              <a:cs typeface="Montserrat"/>
              <a:sym typeface="Montserrat"/>
            </a:endParaRPr>
          </a:p>
          <a:p>
            <a:pPr marL="457200" lvl="0" indent="-323850" algn="l" rtl="0">
              <a:lnSpc>
                <a:spcPct val="150000"/>
              </a:lnSpc>
              <a:spcBef>
                <a:spcPts val="0"/>
              </a:spcBef>
              <a:spcAft>
                <a:spcPts val="0"/>
              </a:spcAft>
              <a:buClr>
                <a:srgbClr val="FFFFFF"/>
              </a:buClr>
              <a:buSzPts val="1500"/>
              <a:buFont typeface="Montserrat"/>
              <a:buAutoNum type="arabicPeriod"/>
            </a:pPr>
            <a:r>
              <a:rPr lang="es-ES" sz="1500" b="1" dirty="0">
                <a:solidFill>
                  <a:srgbClr val="FFFFFF"/>
                </a:solidFill>
                <a:latin typeface="Montserrat"/>
                <a:ea typeface="Montserrat"/>
                <a:cs typeface="Montserrat"/>
                <a:sym typeface="Montserrat"/>
              </a:rPr>
              <a:t>Tema 2: </a:t>
            </a:r>
            <a:r>
              <a:rPr lang="es-ES" sz="1500" dirty="0">
                <a:solidFill>
                  <a:srgbClr val="FFFFFF"/>
                </a:solidFill>
                <a:latin typeface="Montserrat"/>
                <a:ea typeface="Montserrat"/>
                <a:cs typeface="Montserrat"/>
                <a:sym typeface="Montserrat"/>
              </a:rPr>
              <a:t>Aplicaciones con </a:t>
            </a:r>
            <a:r>
              <a:rPr lang="es-ES" sz="1500" dirty="0" err="1">
                <a:solidFill>
                  <a:srgbClr val="FFFFFF"/>
                </a:solidFill>
                <a:latin typeface="Montserrat"/>
                <a:ea typeface="Montserrat"/>
                <a:cs typeface="Montserrat"/>
                <a:sym typeface="Montserrat"/>
              </a:rPr>
              <a:t>Flexbox</a:t>
            </a:r>
            <a:endParaRPr sz="1500" dirty="0">
              <a:solidFill>
                <a:srgbClr val="FFFFFF"/>
              </a:solidFill>
              <a:latin typeface="Montserrat"/>
              <a:ea typeface="Montserrat"/>
              <a:cs typeface="Montserrat"/>
              <a:sym typeface="Montserrat"/>
            </a:endParaRPr>
          </a:p>
          <a:p>
            <a:pPr marL="457200" lvl="0" indent="-323850" algn="l" rtl="0">
              <a:lnSpc>
                <a:spcPct val="150000"/>
              </a:lnSpc>
              <a:spcBef>
                <a:spcPts val="0"/>
              </a:spcBef>
              <a:spcAft>
                <a:spcPts val="0"/>
              </a:spcAft>
              <a:buClr>
                <a:srgbClr val="FFFFFF"/>
              </a:buClr>
              <a:buSzPts val="1500"/>
              <a:buFont typeface="Montserrat"/>
              <a:buAutoNum type="arabicPeriod"/>
            </a:pPr>
            <a:r>
              <a:rPr lang="es-ES" sz="1500" b="1" dirty="0">
                <a:solidFill>
                  <a:srgbClr val="FFFFFF"/>
                </a:solidFill>
                <a:latin typeface="Montserrat"/>
                <a:ea typeface="Montserrat"/>
                <a:cs typeface="Montserrat"/>
                <a:sym typeface="Montserrat"/>
              </a:rPr>
              <a:t>Tema 3: </a:t>
            </a:r>
            <a:r>
              <a:rPr lang="es-ES" sz="1500" dirty="0" err="1">
                <a:solidFill>
                  <a:srgbClr val="FFFFFF"/>
                </a:solidFill>
                <a:latin typeface="Montserrat"/>
                <a:ea typeface="Montserrat"/>
                <a:cs typeface="Montserrat"/>
                <a:sym typeface="Montserrat"/>
              </a:rPr>
              <a:t>Grids</a:t>
            </a:r>
            <a:r>
              <a:rPr lang="es-ES" sz="1500" dirty="0">
                <a:solidFill>
                  <a:srgbClr val="FFFFFF"/>
                </a:solidFill>
                <a:latin typeface="Montserrat"/>
                <a:ea typeface="Montserrat"/>
                <a:cs typeface="Montserrat"/>
                <a:sym typeface="Montserrat"/>
              </a:rPr>
              <a:t> I</a:t>
            </a:r>
            <a:endParaRPr sz="1500" dirty="0">
              <a:solidFill>
                <a:srgbClr val="FFFFFF"/>
              </a:solidFill>
              <a:latin typeface="Montserrat"/>
              <a:ea typeface="Montserrat"/>
              <a:cs typeface="Montserrat"/>
              <a:sym typeface="Montserrat"/>
            </a:endParaRPr>
          </a:p>
          <a:p>
            <a:pPr marL="457200" lvl="0" indent="-323850" algn="l" rtl="0">
              <a:lnSpc>
                <a:spcPct val="150000"/>
              </a:lnSpc>
              <a:spcBef>
                <a:spcPts val="0"/>
              </a:spcBef>
              <a:spcAft>
                <a:spcPts val="0"/>
              </a:spcAft>
              <a:buClr>
                <a:srgbClr val="FFFFFF"/>
              </a:buClr>
              <a:buSzPts val="1500"/>
              <a:buFont typeface="Montserrat"/>
              <a:buAutoNum type="arabicPeriod"/>
            </a:pPr>
            <a:r>
              <a:rPr lang="es-ES" sz="1500" b="1" dirty="0">
                <a:solidFill>
                  <a:srgbClr val="FFFFFF"/>
                </a:solidFill>
                <a:latin typeface="Montserrat"/>
                <a:ea typeface="Montserrat"/>
                <a:cs typeface="Montserrat"/>
                <a:sym typeface="Montserrat"/>
              </a:rPr>
              <a:t>Tema 4: </a:t>
            </a:r>
            <a:r>
              <a:rPr lang="es-ES" sz="1500" dirty="0" err="1">
                <a:solidFill>
                  <a:srgbClr val="FFFFFF"/>
                </a:solidFill>
                <a:latin typeface="Montserrat"/>
                <a:ea typeface="Montserrat"/>
                <a:cs typeface="Montserrat"/>
                <a:sym typeface="Montserrat"/>
              </a:rPr>
              <a:t>Grids</a:t>
            </a:r>
            <a:r>
              <a:rPr lang="es-ES" sz="1500" dirty="0">
                <a:solidFill>
                  <a:srgbClr val="FFFFFF"/>
                </a:solidFill>
                <a:latin typeface="Montserrat"/>
                <a:ea typeface="Montserrat"/>
                <a:cs typeface="Montserrat"/>
                <a:sym typeface="Montserrat"/>
              </a:rPr>
              <a:t> II</a:t>
            </a:r>
            <a:endParaRPr sz="1500" dirty="0">
              <a:solidFill>
                <a:srgbClr val="FFFFFF"/>
              </a:solidFill>
              <a:latin typeface="Montserrat"/>
              <a:ea typeface="Montserrat"/>
              <a:cs typeface="Montserrat"/>
              <a:sym typeface="Montserrat"/>
            </a:endParaRPr>
          </a:p>
          <a:p>
            <a:pPr marL="457200" lvl="0" indent="-323850" algn="l" rtl="0">
              <a:lnSpc>
                <a:spcPct val="150000"/>
              </a:lnSpc>
              <a:spcBef>
                <a:spcPts val="0"/>
              </a:spcBef>
              <a:spcAft>
                <a:spcPts val="0"/>
              </a:spcAft>
              <a:buClr>
                <a:srgbClr val="FFFFFF"/>
              </a:buClr>
              <a:buSzPts val="1500"/>
              <a:buFont typeface="Montserrat"/>
              <a:buAutoNum type="arabicPeriod"/>
            </a:pPr>
            <a:r>
              <a:rPr lang="es-ES" sz="1500" b="1" dirty="0">
                <a:solidFill>
                  <a:srgbClr val="FFFFFF"/>
                </a:solidFill>
                <a:latin typeface="Montserrat"/>
                <a:ea typeface="Montserrat"/>
                <a:cs typeface="Montserrat"/>
                <a:sym typeface="Montserrat"/>
              </a:rPr>
              <a:t>Caso 4: </a:t>
            </a:r>
            <a:r>
              <a:rPr lang="es-ES" sz="1500" dirty="0">
                <a:solidFill>
                  <a:srgbClr val="FFFFFF"/>
                </a:solidFill>
                <a:latin typeface="Montserrat"/>
                <a:ea typeface="Montserrat"/>
                <a:cs typeface="Montserrat"/>
                <a:sym typeface="Montserrat"/>
              </a:rPr>
              <a:t>Programación de diseños web responsivos</a:t>
            </a:r>
            <a:endParaRPr sz="1500" dirty="0">
              <a:solidFill>
                <a:srgbClr val="FFFFFF"/>
              </a:solidFill>
              <a:latin typeface="Montserrat"/>
              <a:ea typeface="Montserrat"/>
              <a:cs typeface="Montserrat"/>
              <a:sym typeface="Montserrat"/>
            </a:endParaRPr>
          </a:p>
          <a:p>
            <a:pPr marL="457200" lvl="0" indent="-323850" algn="l" rtl="0">
              <a:lnSpc>
                <a:spcPct val="150000"/>
              </a:lnSpc>
              <a:spcBef>
                <a:spcPts val="0"/>
              </a:spcBef>
              <a:spcAft>
                <a:spcPts val="0"/>
              </a:spcAft>
              <a:buClr>
                <a:srgbClr val="FFFFFF"/>
              </a:buClr>
              <a:buSzPts val="1500"/>
              <a:buFont typeface="Montserrat"/>
              <a:buAutoNum type="arabicPeriod"/>
            </a:pPr>
            <a:r>
              <a:rPr lang="es-ES" sz="1500" b="1" dirty="0">
                <a:solidFill>
                  <a:srgbClr val="FFFFFF"/>
                </a:solidFill>
                <a:latin typeface="Montserrat"/>
                <a:ea typeface="Montserrat"/>
                <a:cs typeface="Montserrat"/>
                <a:sym typeface="Montserrat"/>
              </a:rPr>
              <a:t>Taller 4: </a:t>
            </a:r>
            <a:r>
              <a:rPr lang="es-ES" sz="1500" dirty="0">
                <a:solidFill>
                  <a:srgbClr val="FFFFFF"/>
                </a:solidFill>
                <a:latin typeface="Montserrat"/>
                <a:ea typeface="Montserrat"/>
                <a:cs typeface="Montserrat"/>
                <a:sym typeface="Montserrat"/>
              </a:rPr>
              <a:t>Adaptando tu página web a diversos dispositivos</a:t>
            </a:r>
            <a:endParaRPr sz="1500" dirty="0">
              <a:solidFill>
                <a:srgbClr val="FFFFFF"/>
              </a:solidFill>
              <a:latin typeface="Montserrat"/>
              <a:ea typeface="Montserrat"/>
              <a:cs typeface="Montserrat"/>
              <a:sym typeface="Montserrat"/>
            </a:endParaRPr>
          </a:p>
          <a:p>
            <a:pPr marL="0" marR="0" lvl="0" indent="0" algn="l" rtl="0">
              <a:lnSpc>
                <a:spcPct val="150000"/>
              </a:lnSpc>
              <a:spcBef>
                <a:spcPts val="0"/>
              </a:spcBef>
              <a:spcAft>
                <a:spcPts val="0"/>
              </a:spcAft>
              <a:buClr>
                <a:srgbClr val="000000"/>
              </a:buClr>
              <a:buSzPts val="1500"/>
              <a:buFont typeface="Arial"/>
              <a:buNone/>
            </a:pPr>
            <a:endParaRPr sz="1500" dirty="0">
              <a:solidFill>
                <a:srgbClr val="FFFFFF"/>
              </a:solidFill>
              <a:latin typeface="Montserrat"/>
              <a:ea typeface="Montserrat"/>
              <a:cs typeface="Montserrat"/>
              <a:sym typeface="Montserrat"/>
            </a:endParaRPr>
          </a:p>
        </p:txBody>
      </p:sp>
      <p:pic>
        <p:nvPicPr>
          <p:cNvPr id="188" name="Google Shape;188;p2"/>
          <p:cNvPicPr preferRelativeResize="0"/>
          <p:nvPr/>
        </p:nvPicPr>
        <p:blipFill rotWithShape="1">
          <a:blip r:embed="rId6">
            <a:alphaModFix/>
          </a:blip>
          <a:srcRect/>
          <a:stretch/>
        </p:blipFill>
        <p:spPr>
          <a:xfrm>
            <a:off x="7108726" y="768701"/>
            <a:ext cx="7065326" cy="3663701"/>
          </a:xfrm>
          <a:prstGeom prst="rect">
            <a:avLst/>
          </a:prstGeom>
          <a:noFill/>
          <a:ln>
            <a:noFill/>
          </a:ln>
        </p:spPr>
      </p:pic>
      <p:pic>
        <p:nvPicPr>
          <p:cNvPr id="189" name="Google Shape;189;p2"/>
          <p:cNvPicPr preferRelativeResize="0"/>
          <p:nvPr/>
        </p:nvPicPr>
        <p:blipFill rotWithShape="1">
          <a:blip r:embed="rId3">
            <a:alphaModFix/>
          </a:blip>
          <a:srcRect/>
          <a:stretch/>
        </p:blipFill>
        <p:spPr>
          <a:xfrm>
            <a:off x="10384871" y="219859"/>
            <a:ext cx="1578501" cy="7467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3"/>
          <p:cNvPicPr preferRelativeResize="0"/>
          <p:nvPr/>
        </p:nvPicPr>
        <p:blipFill rotWithShape="1">
          <a:blip r:embed="rId3">
            <a:alphaModFix/>
          </a:blip>
          <a:srcRect/>
          <a:stretch/>
        </p:blipFill>
        <p:spPr>
          <a:xfrm>
            <a:off x="1870375" y="-17875"/>
            <a:ext cx="10515133" cy="7008374"/>
          </a:xfrm>
          <a:prstGeom prst="rect">
            <a:avLst/>
          </a:prstGeom>
          <a:noFill/>
          <a:ln>
            <a:noFill/>
          </a:ln>
        </p:spPr>
      </p:pic>
      <p:pic>
        <p:nvPicPr>
          <p:cNvPr id="195" name="Google Shape;195;p3"/>
          <p:cNvPicPr preferRelativeResize="0"/>
          <p:nvPr/>
        </p:nvPicPr>
        <p:blipFill rotWithShape="1">
          <a:blip r:embed="rId4">
            <a:alphaModFix/>
          </a:blip>
          <a:srcRect b="2629"/>
          <a:stretch/>
        </p:blipFill>
        <p:spPr>
          <a:xfrm flipH="1">
            <a:off x="-245475" y="-17875"/>
            <a:ext cx="4271475" cy="7008377"/>
          </a:xfrm>
          <a:prstGeom prst="rect">
            <a:avLst/>
          </a:prstGeom>
          <a:noFill/>
          <a:ln>
            <a:noFill/>
          </a:ln>
        </p:spPr>
      </p:pic>
      <p:sp>
        <p:nvSpPr>
          <p:cNvPr id="196" name="Google Shape;196;p3"/>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i="0" u="none" strike="noStrike" cap="none">
                <a:solidFill>
                  <a:schemeClr val="lt1"/>
                </a:solidFill>
                <a:latin typeface="Montserrat"/>
                <a:ea typeface="Montserrat"/>
                <a:cs typeface="Montserrat"/>
                <a:sym typeface="Montserrat"/>
              </a:rPr>
              <a:t>3.</a:t>
            </a:r>
            <a:endParaRPr sz="1300" b="1" i="0" u="none" strike="noStrike" cap="none">
              <a:solidFill>
                <a:schemeClr val="lt1"/>
              </a:solidFill>
              <a:latin typeface="Montserrat"/>
              <a:ea typeface="Montserrat"/>
              <a:cs typeface="Montserrat"/>
              <a:sym typeface="Montserrat"/>
            </a:endParaRPr>
          </a:p>
        </p:txBody>
      </p:sp>
      <p:pic>
        <p:nvPicPr>
          <p:cNvPr id="197" name="Google Shape;197;p3"/>
          <p:cNvPicPr preferRelativeResize="0"/>
          <p:nvPr/>
        </p:nvPicPr>
        <p:blipFill rotWithShape="1">
          <a:blip r:embed="rId5">
            <a:alphaModFix/>
          </a:blip>
          <a:srcRect/>
          <a:stretch/>
        </p:blipFill>
        <p:spPr>
          <a:xfrm>
            <a:off x="2700300" y="5919727"/>
            <a:ext cx="720923" cy="825100"/>
          </a:xfrm>
          <a:prstGeom prst="rect">
            <a:avLst/>
          </a:prstGeom>
          <a:noFill/>
          <a:ln>
            <a:noFill/>
          </a:ln>
        </p:spPr>
      </p:pic>
      <p:pic>
        <p:nvPicPr>
          <p:cNvPr id="198" name="Google Shape;198;p3"/>
          <p:cNvPicPr preferRelativeResize="0"/>
          <p:nvPr/>
        </p:nvPicPr>
        <p:blipFill rotWithShape="1">
          <a:blip r:embed="rId6">
            <a:alphaModFix/>
          </a:blip>
          <a:srcRect/>
          <a:stretch/>
        </p:blipFill>
        <p:spPr>
          <a:xfrm>
            <a:off x="142488" y="196051"/>
            <a:ext cx="1626480" cy="769500"/>
          </a:xfrm>
          <a:prstGeom prst="rect">
            <a:avLst/>
          </a:prstGeom>
          <a:noFill/>
          <a:ln>
            <a:noFill/>
          </a:ln>
        </p:spPr>
      </p:pic>
      <p:sp>
        <p:nvSpPr>
          <p:cNvPr id="199" name="Google Shape;199;p3"/>
          <p:cNvSpPr txBox="1">
            <a:spLocks noGrp="1"/>
          </p:cNvSpPr>
          <p:nvPr>
            <p:ph type="title"/>
          </p:nvPr>
        </p:nvSpPr>
        <p:spPr>
          <a:xfrm>
            <a:off x="142500" y="1647250"/>
            <a:ext cx="3276600" cy="157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F5A"/>
              </a:buClr>
              <a:buSzPts val="3000"/>
              <a:buFont typeface="Montserrat ExtraBold"/>
              <a:buNone/>
            </a:pPr>
            <a:r>
              <a:rPr lang="es-ES" sz="3200">
                <a:solidFill>
                  <a:schemeClr val="lt1"/>
                </a:solidFill>
                <a:latin typeface="Montserrat ExtraBold"/>
                <a:ea typeface="Montserrat ExtraBold"/>
                <a:cs typeface="Montserrat ExtraBold"/>
                <a:sym typeface="Montserrat ExtraBold"/>
              </a:rPr>
              <a:t>REVIEW DE LA </a:t>
            </a:r>
            <a:r>
              <a:rPr lang="es-ES" sz="3200">
                <a:solidFill>
                  <a:srgbClr val="2A8BFC"/>
                </a:solidFill>
                <a:latin typeface="Montserrat ExtraBold"/>
                <a:ea typeface="Montserrat ExtraBold"/>
                <a:cs typeface="Montserrat ExtraBold"/>
                <a:sym typeface="Montserrat ExtraBold"/>
              </a:rPr>
              <a:t>SESIÓN ANTERIOR</a:t>
            </a:r>
            <a:endParaRPr sz="3200">
              <a:solidFill>
                <a:srgbClr val="2A8BFC"/>
              </a:solidFill>
              <a:latin typeface="Montserrat ExtraBold"/>
              <a:ea typeface="Montserrat ExtraBold"/>
              <a:cs typeface="Montserrat ExtraBold"/>
              <a:sym typeface="Montserrat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5"/>
          <p:cNvPicPr preferRelativeResize="0"/>
          <p:nvPr/>
        </p:nvPicPr>
        <p:blipFill rotWithShape="1">
          <a:blip r:embed="rId3">
            <a:alphaModFix/>
          </a:blip>
          <a:srcRect/>
          <a:stretch/>
        </p:blipFill>
        <p:spPr>
          <a:xfrm>
            <a:off x="-16897" y="1"/>
            <a:ext cx="12225852" cy="6858000"/>
          </a:xfrm>
          <a:prstGeom prst="rect">
            <a:avLst/>
          </a:prstGeom>
          <a:noFill/>
          <a:ln>
            <a:noFill/>
          </a:ln>
        </p:spPr>
      </p:pic>
      <p:sp>
        <p:nvSpPr>
          <p:cNvPr id="205" name="Google Shape;205;p5"/>
          <p:cNvSpPr/>
          <p:nvPr/>
        </p:nvSpPr>
        <p:spPr>
          <a:xfrm>
            <a:off x="3159450" y="1033850"/>
            <a:ext cx="9049500" cy="4998300"/>
          </a:xfrm>
          <a:prstGeom prst="roundRect">
            <a:avLst>
              <a:gd name="adj" fmla="val 4363"/>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5"/>
          <p:cNvSpPr txBox="1">
            <a:spLocks noGrp="1"/>
          </p:cNvSpPr>
          <p:nvPr>
            <p:ph type="title"/>
          </p:nvPr>
        </p:nvSpPr>
        <p:spPr>
          <a:xfrm>
            <a:off x="3331450" y="1538700"/>
            <a:ext cx="2911500" cy="6720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00F5A"/>
              </a:buClr>
              <a:buSzPct val="100000"/>
              <a:buFont typeface="Montserrat ExtraBold"/>
              <a:buNone/>
            </a:pPr>
            <a:r>
              <a:rPr lang="es-ES">
                <a:solidFill>
                  <a:srgbClr val="000F5A"/>
                </a:solidFill>
                <a:latin typeface="Montserrat ExtraBold"/>
                <a:ea typeface="Montserrat ExtraBold"/>
                <a:cs typeface="Montserrat ExtraBold"/>
                <a:sym typeface="Montserrat ExtraBold"/>
              </a:rPr>
              <a:t>SESIÓN 4</a:t>
            </a:r>
            <a:endParaRPr>
              <a:solidFill>
                <a:srgbClr val="000F5A"/>
              </a:solidFill>
              <a:latin typeface="Montserrat ExtraBold"/>
              <a:ea typeface="Montserrat ExtraBold"/>
              <a:cs typeface="Montserrat ExtraBold"/>
              <a:sym typeface="Montserrat ExtraBold"/>
            </a:endParaRPr>
          </a:p>
        </p:txBody>
      </p:sp>
      <p:sp>
        <p:nvSpPr>
          <p:cNvPr id="207" name="Google Shape;207;p5"/>
          <p:cNvSpPr txBox="1"/>
          <p:nvPr/>
        </p:nvSpPr>
        <p:spPr>
          <a:xfrm>
            <a:off x="3751625" y="3533450"/>
            <a:ext cx="8067000" cy="323100"/>
          </a:xfrm>
          <a:prstGeom prst="rect">
            <a:avLst/>
          </a:prstGeom>
          <a:noFill/>
          <a:ln>
            <a:noFill/>
          </a:ln>
        </p:spPr>
        <p:txBody>
          <a:bodyPr spcFirstLastPara="1" wrap="square" lIns="91425" tIns="45700" rIns="91425" bIns="45700" anchor="t" anchorCtr="0">
            <a:spAutoFit/>
          </a:bodyPr>
          <a:lstStyle/>
          <a:p>
            <a:pPr lvl="0">
              <a:buSzPts val="1500"/>
            </a:pPr>
            <a:r>
              <a:rPr lang="es-ES" sz="1500" b="1" i="0" u="none" strike="noStrike" cap="none" dirty="0">
                <a:solidFill>
                  <a:schemeClr val="dk1"/>
                </a:solidFill>
                <a:latin typeface="Montserrat"/>
                <a:ea typeface="Montserrat"/>
                <a:cs typeface="Montserrat"/>
                <a:sym typeface="Montserrat"/>
              </a:rPr>
              <a:t>Tema 1: </a:t>
            </a:r>
            <a:r>
              <a:rPr lang="es-MX" sz="1500" dirty="0">
                <a:solidFill>
                  <a:schemeClr val="dk1"/>
                </a:solidFill>
                <a:latin typeface="Montserrat"/>
                <a:ea typeface="Montserrat"/>
                <a:cs typeface="Montserrat"/>
                <a:sym typeface="Montserrat"/>
              </a:rPr>
              <a:t>Modelo de caja, flujos y posicionamiento</a:t>
            </a:r>
            <a:endParaRPr sz="1500" b="0" i="0" u="none" strike="noStrike" cap="none" dirty="0">
              <a:solidFill>
                <a:srgbClr val="C00000"/>
              </a:solidFill>
              <a:highlight>
                <a:srgbClr val="FFFF00"/>
              </a:highlight>
              <a:latin typeface="Montserrat Medium"/>
              <a:ea typeface="Montserrat Medium"/>
              <a:cs typeface="Montserrat Medium"/>
              <a:sym typeface="Montserrat Medium"/>
            </a:endParaRPr>
          </a:p>
        </p:txBody>
      </p:sp>
      <p:sp>
        <p:nvSpPr>
          <p:cNvPr id="208" name="Google Shape;208;p5"/>
          <p:cNvSpPr txBox="1"/>
          <p:nvPr/>
        </p:nvSpPr>
        <p:spPr>
          <a:xfrm>
            <a:off x="3751625" y="3962475"/>
            <a:ext cx="80670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s-ES" sz="1500" b="1" i="0" u="none" strike="noStrike" cap="none" dirty="0">
                <a:solidFill>
                  <a:schemeClr val="dk1"/>
                </a:solidFill>
                <a:latin typeface="Montserrat"/>
                <a:ea typeface="Montserrat"/>
                <a:cs typeface="Montserrat"/>
                <a:sym typeface="Montserrat"/>
              </a:rPr>
              <a:t>Tema 2:</a:t>
            </a:r>
            <a:r>
              <a:rPr lang="es-ES" sz="1500" b="0" i="0" u="none" strike="noStrike" cap="none" dirty="0">
                <a:solidFill>
                  <a:schemeClr val="dk1"/>
                </a:solidFill>
                <a:latin typeface="Montserrat Medium"/>
                <a:ea typeface="Montserrat Medium"/>
                <a:cs typeface="Montserrat Medium"/>
                <a:sym typeface="Montserrat Medium"/>
              </a:rPr>
              <a:t> </a:t>
            </a:r>
            <a:r>
              <a:rPr lang="es-ES" sz="1500" dirty="0">
                <a:solidFill>
                  <a:schemeClr val="dk1"/>
                </a:solidFill>
                <a:latin typeface="Montserrat"/>
                <a:ea typeface="Montserrat"/>
                <a:cs typeface="Montserrat"/>
                <a:sym typeface="Montserrat"/>
              </a:rPr>
              <a:t>Aplicaciones con </a:t>
            </a:r>
            <a:r>
              <a:rPr lang="es-ES" sz="1500" dirty="0" err="1">
                <a:solidFill>
                  <a:schemeClr val="dk1"/>
                </a:solidFill>
                <a:latin typeface="Montserrat"/>
                <a:ea typeface="Montserrat"/>
                <a:cs typeface="Montserrat"/>
                <a:sym typeface="Montserrat"/>
              </a:rPr>
              <a:t>Flexbox</a:t>
            </a:r>
            <a:endParaRPr sz="1500" b="0" i="0" u="none" strike="noStrike" cap="none" dirty="0">
              <a:solidFill>
                <a:schemeClr val="dk1"/>
              </a:solidFill>
              <a:latin typeface="Montserrat Medium"/>
              <a:ea typeface="Montserrat Medium"/>
              <a:cs typeface="Montserrat Medium"/>
              <a:sym typeface="Montserrat Medium"/>
            </a:endParaRPr>
          </a:p>
        </p:txBody>
      </p:sp>
      <p:sp>
        <p:nvSpPr>
          <p:cNvPr id="209" name="Google Shape;209;p5"/>
          <p:cNvSpPr txBox="1"/>
          <p:nvPr/>
        </p:nvSpPr>
        <p:spPr>
          <a:xfrm>
            <a:off x="3751625" y="4391500"/>
            <a:ext cx="83043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s-ES" sz="1500" b="1" i="0" u="none" strike="noStrike" cap="none" dirty="0">
                <a:solidFill>
                  <a:schemeClr val="dk1"/>
                </a:solidFill>
                <a:latin typeface="Montserrat"/>
                <a:ea typeface="Montserrat"/>
                <a:cs typeface="Montserrat"/>
                <a:sym typeface="Montserrat"/>
              </a:rPr>
              <a:t>Tema 3:</a:t>
            </a:r>
            <a:r>
              <a:rPr lang="es-ES" sz="1500" b="0" i="0" u="none" strike="noStrike" cap="none" dirty="0">
                <a:solidFill>
                  <a:schemeClr val="dk1"/>
                </a:solidFill>
                <a:latin typeface="Montserrat Medium"/>
                <a:ea typeface="Montserrat Medium"/>
                <a:cs typeface="Montserrat Medium"/>
                <a:sym typeface="Montserrat Medium"/>
              </a:rPr>
              <a:t> </a:t>
            </a:r>
            <a:r>
              <a:rPr lang="es-ES" sz="1500" dirty="0">
                <a:solidFill>
                  <a:schemeClr val="dk1"/>
                </a:solidFill>
                <a:latin typeface="Montserrat"/>
                <a:ea typeface="Montserrat"/>
                <a:cs typeface="Montserrat"/>
                <a:sym typeface="Montserrat"/>
              </a:rPr>
              <a:t>GRIDS I</a:t>
            </a:r>
            <a:endParaRPr sz="1500" b="0" i="0" u="none" strike="noStrike" cap="none" dirty="0">
              <a:solidFill>
                <a:srgbClr val="000000"/>
              </a:solidFill>
              <a:latin typeface="Montserrat Medium"/>
              <a:ea typeface="Montserrat Medium"/>
              <a:cs typeface="Montserrat Medium"/>
              <a:sym typeface="Montserrat Medium"/>
            </a:endParaRPr>
          </a:p>
        </p:txBody>
      </p:sp>
      <p:sp>
        <p:nvSpPr>
          <p:cNvPr id="210" name="Google Shape;210;p5"/>
          <p:cNvSpPr txBox="1">
            <a:spLocks noGrp="1"/>
          </p:cNvSpPr>
          <p:nvPr>
            <p:ph type="title"/>
          </p:nvPr>
        </p:nvSpPr>
        <p:spPr>
          <a:xfrm>
            <a:off x="108857" y="2428200"/>
            <a:ext cx="2975543" cy="200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F5A"/>
              </a:buClr>
              <a:buSzPts val="3000"/>
              <a:buFont typeface="Montserrat ExtraBold"/>
              <a:buNone/>
            </a:pPr>
            <a:r>
              <a:rPr lang="es-ES" sz="3300">
                <a:solidFill>
                  <a:schemeClr val="lt1"/>
                </a:solidFill>
                <a:latin typeface="Montserrat ExtraBold"/>
                <a:ea typeface="Montserrat ExtraBold"/>
                <a:cs typeface="Montserrat ExtraBold"/>
                <a:sym typeface="Montserrat ExtraBold"/>
              </a:rPr>
              <a:t>CONTENIDO DE LA </a:t>
            </a:r>
            <a:r>
              <a:rPr lang="es-ES" sz="3300">
                <a:solidFill>
                  <a:srgbClr val="2A8BFC"/>
                </a:solidFill>
                <a:latin typeface="Montserrat ExtraBold"/>
                <a:ea typeface="Montserrat ExtraBold"/>
                <a:cs typeface="Montserrat ExtraBold"/>
                <a:sym typeface="Montserrat ExtraBold"/>
              </a:rPr>
              <a:t>SESIÓN WE</a:t>
            </a:r>
            <a:endParaRPr sz="3300">
              <a:solidFill>
                <a:srgbClr val="2A8BFC"/>
              </a:solidFill>
              <a:latin typeface="Montserrat ExtraBold"/>
              <a:ea typeface="Montserrat ExtraBold"/>
              <a:cs typeface="Montserrat ExtraBold"/>
              <a:sym typeface="Montserrat ExtraBold"/>
            </a:endParaRPr>
          </a:p>
        </p:txBody>
      </p:sp>
      <p:sp>
        <p:nvSpPr>
          <p:cNvPr id="211" name="Google Shape;211;p5"/>
          <p:cNvSpPr txBox="1"/>
          <p:nvPr/>
        </p:nvSpPr>
        <p:spPr>
          <a:xfrm>
            <a:off x="3345674" y="2724050"/>
            <a:ext cx="4929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ES" sz="2800" b="0" i="0" u="none" strike="noStrike" cap="none">
                <a:solidFill>
                  <a:srgbClr val="2A8BFC"/>
                </a:solidFill>
                <a:latin typeface="Montserrat ExtraBold"/>
                <a:ea typeface="Montserrat ExtraBold"/>
                <a:cs typeface="Montserrat ExtraBold"/>
                <a:sym typeface="Montserrat ExtraBold"/>
              </a:rPr>
              <a:t>1.</a:t>
            </a:r>
            <a:endParaRPr sz="2800" b="0" i="0" u="none" strike="noStrike" cap="none">
              <a:solidFill>
                <a:srgbClr val="2A8BFC"/>
              </a:solidFill>
              <a:latin typeface="Montserrat ExtraBold"/>
              <a:ea typeface="Montserrat ExtraBold"/>
              <a:cs typeface="Montserrat ExtraBold"/>
              <a:sym typeface="Montserrat ExtraBold"/>
            </a:endParaRPr>
          </a:p>
        </p:txBody>
      </p:sp>
      <p:sp>
        <p:nvSpPr>
          <p:cNvPr id="212" name="Google Shape;212;p5"/>
          <p:cNvSpPr txBox="1"/>
          <p:nvPr/>
        </p:nvSpPr>
        <p:spPr>
          <a:xfrm>
            <a:off x="3701350" y="2808788"/>
            <a:ext cx="7959708" cy="3846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1600"/>
              <a:buFont typeface="Montserrat SemiBold"/>
              <a:buNone/>
            </a:pPr>
            <a:r>
              <a:rPr lang="es-ES" sz="1600" b="1" i="0" u="none" strike="noStrike" cap="none" dirty="0">
                <a:solidFill>
                  <a:srgbClr val="2A8BFC"/>
                </a:solidFill>
                <a:latin typeface="Montserrat"/>
                <a:ea typeface="Montserrat"/>
                <a:cs typeface="Montserrat"/>
                <a:sym typeface="Montserrat"/>
              </a:rPr>
              <a:t>TEMAS DE LA SESIÓN: </a:t>
            </a:r>
            <a:r>
              <a:rPr lang="es-MX" sz="1600" b="1" i="0" u="none" strike="noStrike" cap="none" dirty="0">
                <a:solidFill>
                  <a:schemeClr val="tx1"/>
                </a:solidFill>
                <a:latin typeface="Montserrat"/>
                <a:ea typeface="Montserrat"/>
                <a:cs typeface="Montserrat"/>
                <a:sym typeface="Montserrat"/>
              </a:rPr>
              <a:t>DISEÑO ADAPTABLE A DISPOSITIVOS DE USUARIOS</a:t>
            </a:r>
            <a:endParaRPr sz="1600" b="1" i="0" u="none" strike="noStrike" cap="none" dirty="0">
              <a:solidFill>
                <a:schemeClr val="tx1"/>
              </a:solidFill>
              <a:latin typeface="Montserrat"/>
              <a:ea typeface="Montserrat"/>
              <a:cs typeface="Montserrat"/>
              <a:sym typeface="Montserrat"/>
            </a:endParaRPr>
          </a:p>
        </p:txBody>
      </p:sp>
      <p:sp>
        <p:nvSpPr>
          <p:cNvPr id="213" name="Google Shape;213;p5"/>
          <p:cNvSpPr txBox="1"/>
          <p:nvPr/>
        </p:nvSpPr>
        <p:spPr>
          <a:xfrm>
            <a:off x="3410874" y="2210675"/>
            <a:ext cx="7372739" cy="3846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1600"/>
              <a:buFont typeface="Montserrat SemiBold"/>
              <a:buNone/>
            </a:pPr>
            <a:r>
              <a:rPr lang="es-ES" sz="1300" b="1" i="0" u="none" strike="noStrike" cap="none" dirty="0">
                <a:solidFill>
                  <a:schemeClr val="dk1"/>
                </a:solidFill>
                <a:latin typeface="Montserrat"/>
                <a:ea typeface="Montserrat"/>
                <a:cs typeface="Montserrat"/>
                <a:sym typeface="Montserrat"/>
              </a:rPr>
              <a:t>OBJETIVOS DE LA SESIÓN: </a:t>
            </a:r>
            <a:r>
              <a:rPr lang="es-ES" sz="1300" b="1" dirty="0">
                <a:solidFill>
                  <a:schemeClr val="dk1"/>
                </a:solidFill>
                <a:latin typeface="Montserrat"/>
                <a:ea typeface="Montserrat"/>
                <a:cs typeface="Montserrat"/>
                <a:sym typeface="Montserrat"/>
              </a:rPr>
              <a:t>Diseñar y codificar las interacciones del usuario en las páginas web.</a:t>
            </a:r>
            <a:endParaRPr sz="1300" b="1" i="0" u="none" strike="noStrike" cap="none" dirty="0">
              <a:solidFill>
                <a:schemeClr val="dk1"/>
              </a:solidFill>
              <a:latin typeface="Montserrat"/>
              <a:ea typeface="Montserrat"/>
              <a:cs typeface="Montserrat"/>
              <a:sym typeface="Montserrat"/>
            </a:endParaRPr>
          </a:p>
        </p:txBody>
      </p:sp>
      <p:sp>
        <p:nvSpPr>
          <p:cNvPr id="214" name="Google Shape;214;p5"/>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chemeClr val="lt1"/>
                </a:solidFill>
                <a:latin typeface="Montserrat"/>
                <a:ea typeface="Montserrat"/>
                <a:cs typeface="Montserrat"/>
                <a:sym typeface="Montserrat"/>
              </a:rPr>
              <a:t>4</a:t>
            </a:r>
            <a:r>
              <a:rPr lang="es-ES" sz="1300" b="1" i="0" u="none" strike="noStrike" cap="none">
                <a:solidFill>
                  <a:schemeClr val="lt1"/>
                </a:solidFill>
                <a:latin typeface="Montserrat"/>
                <a:ea typeface="Montserrat"/>
                <a:cs typeface="Montserrat"/>
                <a:sym typeface="Montserrat"/>
              </a:rPr>
              <a:t>.</a:t>
            </a:r>
            <a:endParaRPr sz="1300" b="1" i="0" u="none" strike="noStrike" cap="none">
              <a:solidFill>
                <a:schemeClr val="lt1"/>
              </a:solidFill>
              <a:latin typeface="Montserrat"/>
              <a:ea typeface="Montserrat"/>
              <a:cs typeface="Montserrat"/>
              <a:sym typeface="Montserrat"/>
            </a:endParaRPr>
          </a:p>
        </p:txBody>
      </p:sp>
      <p:pic>
        <p:nvPicPr>
          <p:cNvPr id="215" name="Google Shape;215;p5"/>
          <p:cNvPicPr preferRelativeResize="0"/>
          <p:nvPr/>
        </p:nvPicPr>
        <p:blipFill rotWithShape="1">
          <a:blip r:embed="rId4">
            <a:alphaModFix/>
          </a:blip>
          <a:srcRect/>
          <a:stretch/>
        </p:blipFill>
        <p:spPr>
          <a:xfrm>
            <a:off x="248336" y="228924"/>
            <a:ext cx="1580776" cy="747876"/>
          </a:xfrm>
          <a:prstGeom prst="rect">
            <a:avLst/>
          </a:prstGeom>
          <a:noFill/>
          <a:ln>
            <a:noFill/>
          </a:ln>
        </p:spPr>
      </p:pic>
      <p:pic>
        <p:nvPicPr>
          <p:cNvPr id="216" name="Google Shape;216;p5"/>
          <p:cNvPicPr preferRelativeResize="0"/>
          <p:nvPr/>
        </p:nvPicPr>
        <p:blipFill rotWithShape="1">
          <a:blip r:embed="rId5">
            <a:alphaModFix/>
          </a:blip>
          <a:srcRect/>
          <a:stretch/>
        </p:blipFill>
        <p:spPr>
          <a:xfrm>
            <a:off x="335647" y="5452500"/>
            <a:ext cx="1165550" cy="1170299"/>
          </a:xfrm>
          <a:prstGeom prst="rect">
            <a:avLst/>
          </a:prstGeom>
          <a:noFill/>
          <a:ln>
            <a:noFill/>
          </a:ln>
        </p:spPr>
      </p:pic>
      <p:sp>
        <p:nvSpPr>
          <p:cNvPr id="217" name="Google Shape;217;p5"/>
          <p:cNvSpPr txBox="1"/>
          <p:nvPr/>
        </p:nvSpPr>
        <p:spPr>
          <a:xfrm>
            <a:off x="3751625" y="4820513"/>
            <a:ext cx="83043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s-ES" sz="1500" b="1" i="0" u="none" strike="noStrike" cap="none">
                <a:solidFill>
                  <a:schemeClr val="dk1"/>
                </a:solidFill>
                <a:latin typeface="Montserrat"/>
                <a:ea typeface="Montserrat"/>
                <a:cs typeface="Montserrat"/>
                <a:sym typeface="Montserrat"/>
              </a:rPr>
              <a:t>Tema 4:</a:t>
            </a:r>
            <a:r>
              <a:rPr lang="es-ES" sz="1500" b="0" i="0" u="none" strike="noStrike" cap="none">
                <a:solidFill>
                  <a:schemeClr val="dk1"/>
                </a:solidFill>
                <a:latin typeface="Montserrat Medium"/>
                <a:ea typeface="Montserrat Medium"/>
                <a:cs typeface="Montserrat Medium"/>
                <a:sym typeface="Montserrat Medium"/>
              </a:rPr>
              <a:t> </a:t>
            </a:r>
            <a:r>
              <a:rPr lang="es-ES" sz="1500">
                <a:solidFill>
                  <a:schemeClr val="dk1"/>
                </a:solidFill>
                <a:latin typeface="Montserrat"/>
                <a:ea typeface="Montserrat"/>
                <a:cs typeface="Montserrat"/>
                <a:sym typeface="Montserrat"/>
              </a:rPr>
              <a:t>GRIDS II</a:t>
            </a:r>
            <a:endParaRPr sz="1500" b="0" i="0" u="none" strike="noStrike" cap="none">
              <a:solidFill>
                <a:srgbClr val="000000"/>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g20fcd679d50_0_193"/>
          <p:cNvPicPr preferRelativeResize="0"/>
          <p:nvPr/>
        </p:nvPicPr>
        <p:blipFill rotWithShape="1">
          <a:blip r:embed="rId3">
            <a:alphaModFix/>
          </a:blip>
          <a:srcRect l="279"/>
          <a:stretch/>
        </p:blipFill>
        <p:spPr>
          <a:xfrm>
            <a:off x="0" y="0"/>
            <a:ext cx="12208950" cy="6858000"/>
          </a:xfrm>
          <a:prstGeom prst="rect">
            <a:avLst/>
          </a:prstGeom>
          <a:noFill/>
          <a:ln>
            <a:noFill/>
          </a:ln>
        </p:spPr>
      </p:pic>
      <p:pic>
        <p:nvPicPr>
          <p:cNvPr id="223" name="Google Shape;223;g20fcd679d50_0_193"/>
          <p:cNvPicPr preferRelativeResize="0"/>
          <p:nvPr/>
        </p:nvPicPr>
        <p:blipFill rotWithShape="1">
          <a:blip r:embed="rId4">
            <a:alphaModFix/>
          </a:blip>
          <a:srcRect/>
          <a:stretch/>
        </p:blipFill>
        <p:spPr>
          <a:xfrm>
            <a:off x="248336" y="228924"/>
            <a:ext cx="1580776" cy="747876"/>
          </a:xfrm>
          <a:prstGeom prst="rect">
            <a:avLst/>
          </a:prstGeom>
          <a:noFill/>
          <a:ln>
            <a:noFill/>
          </a:ln>
        </p:spPr>
      </p:pic>
      <p:pic>
        <p:nvPicPr>
          <p:cNvPr id="224" name="Google Shape;224;g20fcd679d50_0_193"/>
          <p:cNvPicPr preferRelativeResize="0"/>
          <p:nvPr/>
        </p:nvPicPr>
        <p:blipFill rotWithShape="1">
          <a:blip r:embed="rId5">
            <a:alphaModFix/>
          </a:blip>
          <a:srcRect/>
          <a:stretch/>
        </p:blipFill>
        <p:spPr>
          <a:xfrm>
            <a:off x="335647" y="5452500"/>
            <a:ext cx="1165550" cy="1170299"/>
          </a:xfrm>
          <a:prstGeom prst="rect">
            <a:avLst/>
          </a:prstGeom>
          <a:noFill/>
          <a:ln>
            <a:noFill/>
          </a:ln>
        </p:spPr>
      </p:pic>
      <p:sp>
        <p:nvSpPr>
          <p:cNvPr id="225" name="Google Shape;225;g20fcd679d50_0_193"/>
          <p:cNvSpPr txBox="1"/>
          <p:nvPr/>
        </p:nvSpPr>
        <p:spPr>
          <a:xfrm>
            <a:off x="248325" y="2298300"/>
            <a:ext cx="3191100" cy="1832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1600"/>
              <a:buFont typeface="Montserrat SemiBold"/>
              <a:buNone/>
            </a:pPr>
            <a:r>
              <a:rPr lang="es-ES" sz="3300" b="1" i="0" u="none" strike="noStrike" cap="none">
                <a:solidFill>
                  <a:srgbClr val="2A8BFC"/>
                </a:solidFill>
                <a:latin typeface="Montserrat"/>
                <a:ea typeface="Montserrat"/>
                <a:cs typeface="Montserrat"/>
                <a:sym typeface="Montserrat"/>
              </a:rPr>
              <a:t>TEMA 1</a:t>
            </a:r>
            <a:endParaRPr sz="3300" b="1" i="0" u="none" strike="noStrike" cap="none">
              <a:solidFill>
                <a:srgbClr val="2A8BFC"/>
              </a:solidFill>
              <a:latin typeface="Montserrat"/>
              <a:ea typeface="Montserrat"/>
              <a:cs typeface="Montserrat"/>
              <a:sym typeface="Montserrat"/>
            </a:endParaRPr>
          </a:p>
          <a:p>
            <a:pPr marL="0" marR="0" lvl="0" indent="0" algn="l" rtl="0">
              <a:lnSpc>
                <a:spcPct val="90000"/>
              </a:lnSpc>
              <a:spcBef>
                <a:spcPts val="0"/>
              </a:spcBef>
              <a:spcAft>
                <a:spcPts val="0"/>
              </a:spcAft>
              <a:buClr>
                <a:srgbClr val="000000"/>
              </a:buClr>
              <a:buSzPts val="1600"/>
              <a:buFont typeface="Montserrat SemiBold"/>
              <a:buNone/>
            </a:pPr>
            <a:endParaRPr sz="3600" b="1"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500"/>
              <a:buFont typeface="Arial"/>
              <a:buNone/>
            </a:pPr>
            <a:r>
              <a:rPr lang="es-ES" sz="2200" b="1">
                <a:solidFill>
                  <a:srgbClr val="FFFFFF"/>
                </a:solidFill>
                <a:latin typeface="Montserrat"/>
                <a:ea typeface="Montserrat"/>
                <a:cs typeface="Montserrat"/>
                <a:sym typeface="Montserrat"/>
              </a:rPr>
              <a:t>Responsive Design en el diseño Web</a:t>
            </a:r>
            <a:endParaRPr sz="1500" b="1" i="0" u="none" strike="noStrike" cap="none">
              <a:solidFill>
                <a:srgbClr val="FFFFFF"/>
              </a:solidFill>
              <a:latin typeface="Montserrat"/>
              <a:ea typeface="Montserrat"/>
              <a:cs typeface="Montserrat"/>
              <a:sym typeface="Montserrat"/>
            </a:endParaRPr>
          </a:p>
        </p:txBody>
      </p:sp>
      <p:pic>
        <p:nvPicPr>
          <p:cNvPr id="226" name="Google Shape;226;g20fcd679d50_0_193"/>
          <p:cNvPicPr preferRelativeResize="0"/>
          <p:nvPr/>
        </p:nvPicPr>
        <p:blipFill rotWithShape="1">
          <a:blip r:embed="rId6">
            <a:alphaModFix/>
          </a:blip>
          <a:srcRect r="11276"/>
          <a:stretch/>
        </p:blipFill>
        <p:spPr>
          <a:xfrm>
            <a:off x="3439425" y="0"/>
            <a:ext cx="8752573" cy="6857999"/>
          </a:xfrm>
          <a:prstGeom prst="rect">
            <a:avLst/>
          </a:prstGeom>
          <a:noFill/>
          <a:ln>
            <a:noFill/>
          </a:ln>
        </p:spPr>
      </p:pic>
      <p:sp>
        <p:nvSpPr>
          <p:cNvPr id="227" name="Google Shape;227;g20fcd679d50_0_193"/>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5</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1"/>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233" name="Google Shape;233;p1"/>
          <p:cNvSpPr/>
          <p:nvPr/>
        </p:nvSpPr>
        <p:spPr>
          <a:xfrm>
            <a:off x="8323568" y="2180892"/>
            <a:ext cx="448111" cy="518303"/>
          </a:xfrm>
          <a:custGeom>
            <a:avLst/>
            <a:gdLst/>
            <a:ahLst/>
            <a:cxnLst/>
            <a:rect l="l" t="t" r="r" b="b"/>
            <a:pathLst>
              <a:path w="11059" h="11721" extrusionOk="0">
                <a:moveTo>
                  <a:pt x="1418" y="693"/>
                </a:moveTo>
                <a:lnTo>
                  <a:pt x="1418" y="1387"/>
                </a:lnTo>
                <a:lnTo>
                  <a:pt x="725" y="1387"/>
                </a:lnTo>
                <a:lnTo>
                  <a:pt x="725" y="693"/>
                </a:lnTo>
                <a:close/>
                <a:moveTo>
                  <a:pt x="9011" y="693"/>
                </a:moveTo>
                <a:lnTo>
                  <a:pt x="9011" y="1387"/>
                </a:lnTo>
                <a:lnTo>
                  <a:pt x="8349" y="1387"/>
                </a:lnTo>
                <a:lnTo>
                  <a:pt x="8349" y="693"/>
                </a:lnTo>
                <a:close/>
                <a:moveTo>
                  <a:pt x="7656" y="1324"/>
                </a:moveTo>
                <a:lnTo>
                  <a:pt x="7656" y="1670"/>
                </a:lnTo>
                <a:cubicBezTo>
                  <a:pt x="7656" y="1891"/>
                  <a:pt x="7813" y="2048"/>
                  <a:pt x="8034" y="2048"/>
                </a:cubicBezTo>
                <a:lnTo>
                  <a:pt x="8381" y="2048"/>
                </a:lnTo>
                <a:lnTo>
                  <a:pt x="8381" y="4222"/>
                </a:lnTo>
                <a:cubicBezTo>
                  <a:pt x="8255" y="4253"/>
                  <a:pt x="8160" y="4316"/>
                  <a:pt x="8034" y="4411"/>
                </a:cubicBezTo>
                <a:cubicBezTo>
                  <a:pt x="7845" y="4243"/>
                  <a:pt x="7614" y="4159"/>
                  <a:pt x="7369" y="4159"/>
                </a:cubicBezTo>
                <a:cubicBezTo>
                  <a:pt x="7246" y="4159"/>
                  <a:pt x="7120" y="4180"/>
                  <a:pt x="6994" y="4222"/>
                </a:cubicBezTo>
                <a:lnTo>
                  <a:pt x="6994" y="3088"/>
                </a:lnTo>
                <a:cubicBezTo>
                  <a:pt x="6994" y="2552"/>
                  <a:pt x="6522" y="2080"/>
                  <a:pt x="5986" y="2080"/>
                </a:cubicBezTo>
                <a:cubicBezTo>
                  <a:pt x="5419" y="2080"/>
                  <a:pt x="4947" y="2552"/>
                  <a:pt x="4947" y="3088"/>
                </a:cubicBezTo>
                <a:lnTo>
                  <a:pt x="4947" y="6459"/>
                </a:lnTo>
                <a:lnTo>
                  <a:pt x="4789" y="6301"/>
                </a:lnTo>
                <a:cubicBezTo>
                  <a:pt x="4600" y="6097"/>
                  <a:pt x="4340" y="5994"/>
                  <a:pt x="4076" y="5994"/>
                </a:cubicBezTo>
                <a:cubicBezTo>
                  <a:pt x="3812" y="5994"/>
                  <a:pt x="3545" y="6097"/>
                  <a:pt x="3340" y="6301"/>
                </a:cubicBezTo>
                <a:cubicBezTo>
                  <a:pt x="2962" y="6679"/>
                  <a:pt x="2962" y="7341"/>
                  <a:pt x="3340" y="7751"/>
                </a:cubicBezTo>
                <a:lnTo>
                  <a:pt x="3812" y="8223"/>
                </a:lnTo>
                <a:lnTo>
                  <a:pt x="2111" y="8223"/>
                </a:lnTo>
                <a:lnTo>
                  <a:pt x="2111" y="7908"/>
                </a:lnTo>
                <a:cubicBezTo>
                  <a:pt x="2111" y="7719"/>
                  <a:pt x="1954" y="7561"/>
                  <a:pt x="1765" y="7561"/>
                </a:cubicBezTo>
                <a:lnTo>
                  <a:pt x="1418" y="7561"/>
                </a:lnTo>
                <a:lnTo>
                  <a:pt x="1418" y="2048"/>
                </a:lnTo>
                <a:lnTo>
                  <a:pt x="1765" y="2048"/>
                </a:lnTo>
                <a:cubicBezTo>
                  <a:pt x="1954" y="2048"/>
                  <a:pt x="2111" y="1891"/>
                  <a:pt x="2111" y="1670"/>
                </a:cubicBezTo>
                <a:lnTo>
                  <a:pt x="2111" y="1324"/>
                </a:lnTo>
                <a:close/>
                <a:moveTo>
                  <a:pt x="1418" y="8255"/>
                </a:moveTo>
                <a:lnTo>
                  <a:pt x="1418" y="8948"/>
                </a:lnTo>
                <a:lnTo>
                  <a:pt x="725" y="8948"/>
                </a:lnTo>
                <a:lnTo>
                  <a:pt x="725" y="8255"/>
                </a:lnTo>
                <a:close/>
                <a:moveTo>
                  <a:pt x="5955" y="2836"/>
                </a:moveTo>
                <a:cubicBezTo>
                  <a:pt x="6144" y="2836"/>
                  <a:pt x="6301" y="2993"/>
                  <a:pt x="6301" y="3182"/>
                </a:cubicBezTo>
                <a:lnTo>
                  <a:pt x="6301" y="6616"/>
                </a:lnTo>
                <a:cubicBezTo>
                  <a:pt x="6301" y="6805"/>
                  <a:pt x="6459" y="6963"/>
                  <a:pt x="6648" y="6963"/>
                </a:cubicBezTo>
                <a:cubicBezTo>
                  <a:pt x="6837" y="6963"/>
                  <a:pt x="6994" y="6805"/>
                  <a:pt x="6994" y="6616"/>
                </a:cubicBezTo>
                <a:lnTo>
                  <a:pt x="6994" y="5230"/>
                </a:lnTo>
                <a:cubicBezTo>
                  <a:pt x="6994" y="5041"/>
                  <a:pt x="7152" y="4884"/>
                  <a:pt x="7372" y="4884"/>
                </a:cubicBezTo>
                <a:cubicBezTo>
                  <a:pt x="7561" y="4884"/>
                  <a:pt x="7719" y="5041"/>
                  <a:pt x="7719" y="5230"/>
                </a:cubicBezTo>
                <a:lnTo>
                  <a:pt x="7719" y="6616"/>
                </a:lnTo>
                <a:cubicBezTo>
                  <a:pt x="7719" y="6805"/>
                  <a:pt x="7876" y="6963"/>
                  <a:pt x="8066" y="6963"/>
                </a:cubicBezTo>
                <a:cubicBezTo>
                  <a:pt x="8255" y="6963"/>
                  <a:pt x="8412" y="6805"/>
                  <a:pt x="8412" y="6616"/>
                </a:cubicBezTo>
                <a:lnTo>
                  <a:pt x="8412" y="5230"/>
                </a:lnTo>
                <a:cubicBezTo>
                  <a:pt x="8412" y="5041"/>
                  <a:pt x="8570" y="4884"/>
                  <a:pt x="8790" y="4884"/>
                </a:cubicBezTo>
                <a:cubicBezTo>
                  <a:pt x="8979" y="4884"/>
                  <a:pt x="9137" y="5041"/>
                  <a:pt x="9137" y="5230"/>
                </a:cubicBezTo>
                <a:lnTo>
                  <a:pt x="9137" y="6616"/>
                </a:lnTo>
                <a:cubicBezTo>
                  <a:pt x="9137" y="6805"/>
                  <a:pt x="9294" y="6963"/>
                  <a:pt x="9483" y="6963"/>
                </a:cubicBezTo>
                <a:cubicBezTo>
                  <a:pt x="9672" y="6963"/>
                  <a:pt x="9830" y="6805"/>
                  <a:pt x="9830" y="6616"/>
                </a:cubicBezTo>
                <a:lnTo>
                  <a:pt x="9830" y="5955"/>
                </a:lnTo>
                <a:cubicBezTo>
                  <a:pt x="9704" y="5703"/>
                  <a:pt x="9861" y="5545"/>
                  <a:pt x="10019" y="5545"/>
                </a:cubicBezTo>
                <a:cubicBezTo>
                  <a:pt x="10239" y="5545"/>
                  <a:pt x="10397" y="5703"/>
                  <a:pt x="10397" y="5892"/>
                </a:cubicBezTo>
                <a:lnTo>
                  <a:pt x="10397" y="7057"/>
                </a:lnTo>
                <a:cubicBezTo>
                  <a:pt x="10397" y="8003"/>
                  <a:pt x="10176" y="8885"/>
                  <a:pt x="9830" y="9672"/>
                </a:cubicBezTo>
                <a:lnTo>
                  <a:pt x="6144" y="9672"/>
                </a:lnTo>
                <a:lnTo>
                  <a:pt x="3812" y="7372"/>
                </a:lnTo>
                <a:cubicBezTo>
                  <a:pt x="3686" y="7246"/>
                  <a:pt x="3686" y="6994"/>
                  <a:pt x="3812" y="6900"/>
                </a:cubicBezTo>
                <a:cubicBezTo>
                  <a:pt x="3875" y="6837"/>
                  <a:pt x="3962" y="6805"/>
                  <a:pt x="4049" y="6805"/>
                </a:cubicBezTo>
                <a:cubicBezTo>
                  <a:pt x="4135" y="6805"/>
                  <a:pt x="4222" y="6837"/>
                  <a:pt x="4285" y="6900"/>
                </a:cubicBezTo>
                <a:lnTo>
                  <a:pt x="5010" y="7593"/>
                </a:lnTo>
                <a:cubicBezTo>
                  <a:pt x="5075" y="7659"/>
                  <a:pt x="5163" y="7690"/>
                  <a:pt x="5251" y="7690"/>
                </a:cubicBezTo>
                <a:cubicBezTo>
                  <a:pt x="5415" y="7690"/>
                  <a:pt x="5577" y="7578"/>
                  <a:pt x="5577" y="7372"/>
                </a:cubicBezTo>
                <a:lnTo>
                  <a:pt x="5577" y="3182"/>
                </a:lnTo>
                <a:cubicBezTo>
                  <a:pt x="5577" y="2993"/>
                  <a:pt x="5734" y="2836"/>
                  <a:pt x="5955" y="2836"/>
                </a:cubicBezTo>
                <a:close/>
                <a:moveTo>
                  <a:pt x="9672" y="10302"/>
                </a:moveTo>
                <a:lnTo>
                  <a:pt x="9672" y="10680"/>
                </a:lnTo>
                <a:cubicBezTo>
                  <a:pt x="9704" y="10869"/>
                  <a:pt x="9546" y="11027"/>
                  <a:pt x="9357" y="11027"/>
                </a:cubicBezTo>
                <a:lnTo>
                  <a:pt x="6616" y="11027"/>
                </a:lnTo>
                <a:cubicBezTo>
                  <a:pt x="6396" y="11027"/>
                  <a:pt x="6238" y="10869"/>
                  <a:pt x="6238" y="10680"/>
                </a:cubicBezTo>
                <a:lnTo>
                  <a:pt x="6238" y="10302"/>
                </a:lnTo>
                <a:close/>
                <a:moveTo>
                  <a:pt x="347" y="0"/>
                </a:moveTo>
                <a:cubicBezTo>
                  <a:pt x="158" y="0"/>
                  <a:pt x="0" y="158"/>
                  <a:pt x="0" y="347"/>
                </a:cubicBezTo>
                <a:lnTo>
                  <a:pt x="0" y="1733"/>
                </a:lnTo>
                <a:cubicBezTo>
                  <a:pt x="0" y="1922"/>
                  <a:pt x="158" y="2080"/>
                  <a:pt x="347" y="2080"/>
                </a:cubicBezTo>
                <a:lnTo>
                  <a:pt x="693" y="2080"/>
                </a:lnTo>
                <a:lnTo>
                  <a:pt x="693" y="7593"/>
                </a:lnTo>
                <a:lnTo>
                  <a:pt x="347" y="7593"/>
                </a:lnTo>
                <a:cubicBezTo>
                  <a:pt x="158" y="7593"/>
                  <a:pt x="0" y="7751"/>
                  <a:pt x="0" y="7940"/>
                </a:cubicBezTo>
                <a:lnTo>
                  <a:pt x="0" y="9326"/>
                </a:lnTo>
                <a:cubicBezTo>
                  <a:pt x="0" y="9515"/>
                  <a:pt x="158" y="9672"/>
                  <a:pt x="347" y="9672"/>
                </a:cubicBezTo>
                <a:lnTo>
                  <a:pt x="1733" y="9672"/>
                </a:lnTo>
                <a:cubicBezTo>
                  <a:pt x="1922" y="9672"/>
                  <a:pt x="2080" y="9515"/>
                  <a:pt x="2080" y="9326"/>
                </a:cubicBezTo>
                <a:lnTo>
                  <a:pt x="2080" y="8979"/>
                </a:lnTo>
                <a:lnTo>
                  <a:pt x="4442" y="8979"/>
                </a:lnTo>
                <a:lnTo>
                  <a:pt x="5577" y="10113"/>
                </a:lnTo>
                <a:lnTo>
                  <a:pt x="5577" y="10712"/>
                </a:lnTo>
                <a:cubicBezTo>
                  <a:pt x="5577" y="11248"/>
                  <a:pt x="6049" y="11720"/>
                  <a:pt x="6616" y="11720"/>
                </a:cubicBezTo>
                <a:lnTo>
                  <a:pt x="9357" y="11720"/>
                </a:lnTo>
                <a:cubicBezTo>
                  <a:pt x="9924" y="11720"/>
                  <a:pt x="10397" y="11248"/>
                  <a:pt x="10397" y="10712"/>
                </a:cubicBezTo>
                <a:lnTo>
                  <a:pt x="10397" y="10113"/>
                </a:lnTo>
                <a:cubicBezTo>
                  <a:pt x="10806" y="9200"/>
                  <a:pt x="11058" y="8160"/>
                  <a:pt x="11058" y="7026"/>
                </a:cubicBezTo>
                <a:lnTo>
                  <a:pt x="11058" y="5892"/>
                </a:lnTo>
                <a:cubicBezTo>
                  <a:pt x="11058" y="5325"/>
                  <a:pt x="10617" y="4884"/>
                  <a:pt x="10019" y="4884"/>
                </a:cubicBezTo>
                <a:cubicBezTo>
                  <a:pt x="9924" y="4884"/>
                  <a:pt x="9767" y="4915"/>
                  <a:pt x="9641" y="4947"/>
                </a:cubicBezTo>
                <a:cubicBezTo>
                  <a:pt x="9546" y="4632"/>
                  <a:pt x="9326" y="4379"/>
                  <a:pt x="9011" y="4253"/>
                </a:cubicBezTo>
                <a:lnTo>
                  <a:pt x="9011" y="2080"/>
                </a:lnTo>
                <a:lnTo>
                  <a:pt x="9357" y="2080"/>
                </a:lnTo>
                <a:cubicBezTo>
                  <a:pt x="9546" y="2080"/>
                  <a:pt x="9735" y="1922"/>
                  <a:pt x="9735" y="1733"/>
                </a:cubicBezTo>
                <a:lnTo>
                  <a:pt x="9735" y="347"/>
                </a:lnTo>
                <a:cubicBezTo>
                  <a:pt x="9735" y="158"/>
                  <a:pt x="9546" y="0"/>
                  <a:pt x="9357" y="0"/>
                </a:cubicBezTo>
                <a:lnTo>
                  <a:pt x="7971" y="0"/>
                </a:lnTo>
                <a:cubicBezTo>
                  <a:pt x="7782" y="0"/>
                  <a:pt x="7624" y="158"/>
                  <a:pt x="7624" y="347"/>
                </a:cubicBezTo>
                <a:lnTo>
                  <a:pt x="7624" y="693"/>
                </a:lnTo>
                <a:lnTo>
                  <a:pt x="2080" y="693"/>
                </a:lnTo>
                <a:lnTo>
                  <a:pt x="2080" y="347"/>
                </a:lnTo>
                <a:cubicBezTo>
                  <a:pt x="2080" y="158"/>
                  <a:pt x="1922" y="0"/>
                  <a:pt x="173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34" name="Google Shape;234;p1"/>
          <p:cNvSpPr txBox="1"/>
          <p:nvPr/>
        </p:nvSpPr>
        <p:spPr>
          <a:xfrm>
            <a:off x="797825" y="1488875"/>
            <a:ext cx="5701500" cy="3647122"/>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MX" sz="1500" dirty="0">
                <a:latin typeface="Montserrat"/>
                <a:ea typeface="Montserrat"/>
                <a:cs typeface="Montserrat"/>
                <a:sym typeface="Montserrat"/>
              </a:rPr>
              <a:t>El modelo de caja de CSS describe cómo se representan los elementos HTML como cajas rectangulares en la página web. Cada elemento visual se representa mediante una serie de capas que definen su espacio ocupado.</a:t>
            </a:r>
          </a:p>
          <a:p>
            <a:pPr marL="0" lvl="0" indent="0" algn="just" rtl="0">
              <a:spcBef>
                <a:spcPts val="0"/>
              </a:spcBef>
              <a:spcAft>
                <a:spcPts val="0"/>
              </a:spcAft>
              <a:buNone/>
            </a:pPr>
            <a:endParaRPr lang="es-MX" sz="1500" dirty="0">
              <a:latin typeface="Montserrat"/>
              <a:ea typeface="Montserrat"/>
              <a:cs typeface="Montserrat"/>
              <a:sym typeface="Montserrat"/>
            </a:endParaRPr>
          </a:p>
          <a:p>
            <a:pPr marL="0" lvl="0" indent="0" algn="just" rtl="0">
              <a:spcBef>
                <a:spcPts val="0"/>
              </a:spcBef>
              <a:spcAft>
                <a:spcPts val="0"/>
              </a:spcAft>
              <a:buNone/>
            </a:pPr>
            <a:r>
              <a:rPr lang="es-MX" sz="1600" b="1" dirty="0">
                <a:latin typeface="Montserrat"/>
                <a:ea typeface="Montserrat"/>
                <a:cs typeface="Montserrat"/>
                <a:sym typeface="Montserrat"/>
              </a:rPr>
              <a:t>Componentes del Modelo de Caja:</a:t>
            </a:r>
          </a:p>
          <a:p>
            <a:pPr marL="0" lvl="0" indent="0" algn="just" rtl="0">
              <a:spcBef>
                <a:spcPts val="0"/>
              </a:spcBef>
              <a:spcAft>
                <a:spcPts val="0"/>
              </a:spcAft>
              <a:buNone/>
            </a:pPr>
            <a:endParaRPr lang="es-MX" sz="1500" dirty="0">
              <a:latin typeface="Montserrat"/>
              <a:ea typeface="Montserrat"/>
              <a:cs typeface="Montserrat"/>
              <a:sym typeface="Montserrat"/>
            </a:endParaRPr>
          </a:p>
          <a:p>
            <a:pPr marL="342900" lvl="0" indent="-342900" algn="just" rtl="0">
              <a:spcBef>
                <a:spcPts val="0"/>
              </a:spcBef>
              <a:spcAft>
                <a:spcPts val="0"/>
              </a:spcAft>
              <a:buAutoNum type="arabicPeriod"/>
            </a:pPr>
            <a:r>
              <a:rPr lang="es-MX" sz="1500" b="1" dirty="0">
                <a:latin typeface="Montserrat"/>
                <a:ea typeface="Montserrat"/>
                <a:cs typeface="Montserrat"/>
                <a:sym typeface="Montserrat"/>
              </a:rPr>
              <a:t>Contenido (Content): </a:t>
            </a:r>
            <a:r>
              <a:rPr lang="es-MX" sz="1500" dirty="0">
                <a:latin typeface="Montserrat"/>
                <a:ea typeface="Montserrat"/>
                <a:cs typeface="Montserrat"/>
                <a:sym typeface="Montserrat"/>
              </a:rPr>
              <a:t>Es el área donde se muestra el contenido (texto, imágenes, etc.). El tamaño puede controlarse con </a:t>
            </a:r>
            <a:r>
              <a:rPr lang="es-MX" sz="1500" dirty="0" err="1">
                <a:latin typeface="Montserrat"/>
                <a:ea typeface="Montserrat"/>
                <a:cs typeface="Montserrat"/>
                <a:sym typeface="Montserrat"/>
              </a:rPr>
              <a:t>width</a:t>
            </a:r>
            <a:r>
              <a:rPr lang="es-MX" sz="1500" dirty="0">
                <a:latin typeface="Montserrat"/>
                <a:ea typeface="Montserrat"/>
                <a:cs typeface="Montserrat"/>
                <a:sym typeface="Montserrat"/>
              </a:rPr>
              <a:t> y </a:t>
            </a:r>
            <a:r>
              <a:rPr lang="es-MX" sz="1500" dirty="0" err="1">
                <a:latin typeface="Montserrat"/>
                <a:ea typeface="Montserrat"/>
                <a:cs typeface="Montserrat"/>
                <a:sym typeface="Montserrat"/>
              </a:rPr>
              <a:t>height</a:t>
            </a:r>
            <a:r>
              <a:rPr lang="es-MX" sz="1500" dirty="0">
                <a:latin typeface="Montserrat"/>
                <a:ea typeface="Montserrat"/>
                <a:cs typeface="Montserrat"/>
                <a:sym typeface="Montserrat"/>
              </a:rPr>
              <a:t>.</a:t>
            </a:r>
          </a:p>
          <a:p>
            <a:pPr marL="342900" lvl="0" indent="-342900" algn="just" rtl="0">
              <a:spcBef>
                <a:spcPts val="0"/>
              </a:spcBef>
              <a:spcAft>
                <a:spcPts val="0"/>
              </a:spcAft>
              <a:buAutoNum type="arabicPeriod"/>
            </a:pPr>
            <a:endParaRPr lang="es-MX" sz="1500" dirty="0">
              <a:latin typeface="Montserrat"/>
              <a:ea typeface="Montserrat"/>
              <a:cs typeface="Montserrat"/>
              <a:sym typeface="Montserrat"/>
            </a:endParaRPr>
          </a:p>
          <a:p>
            <a:pPr marL="342900" lvl="0" indent="-342900" algn="just" rtl="0">
              <a:spcBef>
                <a:spcPts val="0"/>
              </a:spcBef>
              <a:spcAft>
                <a:spcPts val="0"/>
              </a:spcAft>
              <a:buAutoNum type="arabicPeriod"/>
            </a:pPr>
            <a:r>
              <a:rPr lang="es-MX" sz="1500" b="1" dirty="0">
                <a:latin typeface="Montserrat"/>
                <a:ea typeface="Montserrat"/>
                <a:cs typeface="Montserrat"/>
                <a:sym typeface="Montserrat"/>
              </a:rPr>
              <a:t>Relleno (</a:t>
            </a:r>
            <a:r>
              <a:rPr lang="es-MX" sz="1500" b="1" dirty="0" err="1">
                <a:latin typeface="Montserrat"/>
                <a:ea typeface="Montserrat"/>
                <a:cs typeface="Montserrat"/>
                <a:sym typeface="Montserrat"/>
              </a:rPr>
              <a:t>Padding</a:t>
            </a:r>
            <a:r>
              <a:rPr lang="es-MX" sz="1500" b="1" dirty="0">
                <a:latin typeface="Montserrat"/>
                <a:ea typeface="Montserrat"/>
                <a:cs typeface="Montserrat"/>
                <a:sym typeface="Montserrat"/>
              </a:rPr>
              <a:t>): </a:t>
            </a:r>
            <a:r>
              <a:rPr lang="es-MX" sz="1500" dirty="0">
                <a:latin typeface="Montserrat"/>
                <a:ea typeface="Montserrat"/>
                <a:cs typeface="Montserrat"/>
                <a:sym typeface="Montserrat"/>
              </a:rPr>
              <a:t>Espacio entre el contenido y el borde. Se puede ajustar con </a:t>
            </a:r>
            <a:r>
              <a:rPr lang="es-MX" sz="1500" dirty="0" err="1">
                <a:latin typeface="Montserrat"/>
                <a:ea typeface="Montserrat"/>
                <a:cs typeface="Montserrat"/>
                <a:sym typeface="Montserrat"/>
              </a:rPr>
              <a:t>padding</a:t>
            </a:r>
            <a:r>
              <a:rPr lang="es-MX" sz="1500" dirty="0">
                <a:latin typeface="Montserrat"/>
                <a:ea typeface="Montserrat"/>
                <a:cs typeface="Montserrat"/>
                <a:sym typeface="Montserrat"/>
              </a:rPr>
              <a:t>, </a:t>
            </a:r>
            <a:r>
              <a:rPr lang="es-MX" sz="1500" dirty="0" err="1">
                <a:latin typeface="Montserrat"/>
                <a:ea typeface="Montserrat"/>
                <a:cs typeface="Montserrat"/>
                <a:sym typeface="Montserrat"/>
              </a:rPr>
              <a:t>padding</a:t>
            </a:r>
            <a:r>
              <a:rPr lang="es-MX" sz="1500" dirty="0">
                <a:latin typeface="Montserrat"/>
                <a:ea typeface="Montserrat"/>
                <a:cs typeface="Montserrat"/>
                <a:sym typeface="Montserrat"/>
              </a:rPr>
              <a:t>-top, </a:t>
            </a:r>
            <a:r>
              <a:rPr lang="es-MX" sz="1500" dirty="0" err="1">
                <a:latin typeface="Montserrat"/>
                <a:ea typeface="Montserrat"/>
                <a:cs typeface="Montserrat"/>
                <a:sym typeface="Montserrat"/>
              </a:rPr>
              <a:t>padding-right</a:t>
            </a:r>
            <a:r>
              <a:rPr lang="es-MX" sz="1500" dirty="0">
                <a:latin typeface="Montserrat"/>
                <a:ea typeface="Montserrat"/>
                <a:cs typeface="Montserrat"/>
                <a:sym typeface="Montserrat"/>
              </a:rPr>
              <a:t>, etc.</a:t>
            </a:r>
            <a:endParaRPr sz="1500" dirty="0">
              <a:latin typeface="Montserrat"/>
              <a:ea typeface="Montserrat"/>
              <a:cs typeface="Montserrat"/>
              <a:sym typeface="Montserrat"/>
            </a:endParaRPr>
          </a:p>
        </p:txBody>
      </p:sp>
      <p:sp>
        <p:nvSpPr>
          <p:cNvPr id="236" name="Google Shape;236;p1"/>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7" name="Google Shape;237;p1"/>
          <p:cNvSpPr txBox="1"/>
          <p:nvPr/>
        </p:nvSpPr>
        <p:spPr>
          <a:xfrm>
            <a:off x="797825" y="499325"/>
            <a:ext cx="5701500" cy="60013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PE" sz="3000" dirty="0">
                <a:solidFill>
                  <a:srgbClr val="000F5A"/>
                </a:solidFill>
                <a:latin typeface="Montserrat ExtraBold"/>
                <a:ea typeface="Montserrat ExtraBold"/>
                <a:cs typeface="Montserrat ExtraBold"/>
                <a:sym typeface="Montserrat ExtraBold"/>
              </a:rPr>
              <a:t>Modelo de Caja</a:t>
            </a:r>
            <a:endParaRPr sz="3000" dirty="0">
              <a:solidFill>
                <a:srgbClr val="2A8BFC"/>
              </a:solidFill>
              <a:latin typeface="Montserrat ExtraBold"/>
              <a:ea typeface="Montserrat ExtraBold"/>
              <a:cs typeface="Montserrat ExtraBold"/>
              <a:sym typeface="Montserrat ExtraBold"/>
            </a:endParaRPr>
          </a:p>
        </p:txBody>
      </p:sp>
      <p:sp>
        <p:nvSpPr>
          <p:cNvPr id="239" name="Google Shape;239;p1"/>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000F5A"/>
                </a:solidFill>
                <a:latin typeface="Montserrat"/>
                <a:ea typeface="Montserrat"/>
                <a:cs typeface="Montserrat"/>
                <a:sym typeface="Montserrat"/>
              </a:rPr>
              <a:t>6</a:t>
            </a:r>
            <a:r>
              <a:rPr lang="es-ES" sz="1300" b="1" i="0" u="none" strike="noStrike" cap="none">
                <a:solidFill>
                  <a:srgbClr val="000F5A"/>
                </a:solidFill>
                <a:latin typeface="Montserrat"/>
                <a:ea typeface="Montserrat"/>
                <a:cs typeface="Montserrat"/>
                <a:sym typeface="Montserrat"/>
              </a:rPr>
              <a:t>.</a:t>
            </a:r>
            <a:endParaRPr sz="1300" b="1" i="0" u="none" strike="noStrike" cap="none">
              <a:solidFill>
                <a:srgbClr val="000F5A"/>
              </a:solidFill>
              <a:latin typeface="Montserrat"/>
              <a:ea typeface="Montserrat"/>
              <a:cs typeface="Montserrat"/>
              <a:sym typeface="Montserrat"/>
            </a:endParaRPr>
          </a:p>
        </p:txBody>
      </p:sp>
      <p:pic>
        <p:nvPicPr>
          <p:cNvPr id="1027" name="Picture 3" descr="Imagen generada">
            <a:extLst>
              <a:ext uri="{FF2B5EF4-FFF2-40B4-BE49-F238E27FC236}">
                <a16:creationId xmlns:a16="http://schemas.microsoft.com/office/drawing/2014/main" id="{65D90DAF-3FB0-F35F-34AB-9BA00CC578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3988" y="1488875"/>
            <a:ext cx="4529112" cy="4529112"/>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85135823-8E4E-D140-E463-E633F6808785}"/>
              </a:ext>
            </a:extLst>
          </p:cNvPr>
          <p:cNvSpPr/>
          <p:nvPr/>
        </p:nvSpPr>
        <p:spPr>
          <a:xfrm>
            <a:off x="8436219" y="2533975"/>
            <a:ext cx="1400245" cy="319758"/>
          </a:xfrm>
          <a:prstGeom prst="rect">
            <a:avLst/>
          </a:prstGeom>
          <a:solidFill>
            <a:srgbClr val="FFEE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800" b="1" dirty="0" err="1">
                <a:solidFill>
                  <a:srgbClr val="000000"/>
                </a:solidFill>
                <a:latin typeface="Calibri" panose="020F0502020204030204" pitchFamily="34" charset="0"/>
                <a:ea typeface="Calibri" panose="020F0502020204030204" pitchFamily="34" charset="0"/>
                <a:cs typeface="Calibri" panose="020F0502020204030204" pitchFamily="34" charset="0"/>
              </a:rPr>
              <a:t>Border</a:t>
            </a:r>
            <a:endParaRPr lang="es-PE" sz="24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A16C4AE3-6740-A7D0-DEDF-AFCFDFC38EC2}"/>
            </a:ext>
          </a:extLst>
        </p:cNvPr>
        <p:cNvGrpSpPr/>
        <p:nvPr/>
      </p:nvGrpSpPr>
      <p:grpSpPr>
        <a:xfrm>
          <a:off x="0" y="0"/>
          <a:ext cx="0" cy="0"/>
          <a:chOff x="0" y="0"/>
          <a:chExt cx="0" cy="0"/>
        </a:xfrm>
      </p:grpSpPr>
      <p:pic>
        <p:nvPicPr>
          <p:cNvPr id="232" name="Google Shape;232;p1">
            <a:extLst>
              <a:ext uri="{FF2B5EF4-FFF2-40B4-BE49-F238E27FC236}">
                <a16:creationId xmlns:a16="http://schemas.microsoft.com/office/drawing/2014/main" id="{3053D76A-D754-FA24-FBE5-18916A599163}"/>
              </a:ext>
            </a:extLst>
          </p:cNvPr>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233" name="Google Shape;233;p1">
            <a:extLst>
              <a:ext uri="{FF2B5EF4-FFF2-40B4-BE49-F238E27FC236}">
                <a16:creationId xmlns:a16="http://schemas.microsoft.com/office/drawing/2014/main" id="{922C83A4-FB1F-D45A-7CBF-DA2996212ED2}"/>
              </a:ext>
            </a:extLst>
          </p:cNvPr>
          <p:cNvSpPr/>
          <p:nvPr/>
        </p:nvSpPr>
        <p:spPr>
          <a:xfrm>
            <a:off x="8323568" y="2180892"/>
            <a:ext cx="448111" cy="518303"/>
          </a:xfrm>
          <a:custGeom>
            <a:avLst/>
            <a:gdLst/>
            <a:ahLst/>
            <a:cxnLst/>
            <a:rect l="l" t="t" r="r" b="b"/>
            <a:pathLst>
              <a:path w="11059" h="11721" extrusionOk="0">
                <a:moveTo>
                  <a:pt x="1418" y="693"/>
                </a:moveTo>
                <a:lnTo>
                  <a:pt x="1418" y="1387"/>
                </a:lnTo>
                <a:lnTo>
                  <a:pt x="725" y="1387"/>
                </a:lnTo>
                <a:lnTo>
                  <a:pt x="725" y="693"/>
                </a:lnTo>
                <a:close/>
                <a:moveTo>
                  <a:pt x="9011" y="693"/>
                </a:moveTo>
                <a:lnTo>
                  <a:pt x="9011" y="1387"/>
                </a:lnTo>
                <a:lnTo>
                  <a:pt x="8349" y="1387"/>
                </a:lnTo>
                <a:lnTo>
                  <a:pt x="8349" y="693"/>
                </a:lnTo>
                <a:close/>
                <a:moveTo>
                  <a:pt x="7656" y="1324"/>
                </a:moveTo>
                <a:lnTo>
                  <a:pt x="7656" y="1670"/>
                </a:lnTo>
                <a:cubicBezTo>
                  <a:pt x="7656" y="1891"/>
                  <a:pt x="7813" y="2048"/>
                  <a:pt x="8034" y="2048"/>
                </a:cubicBezTo>
                <a:lnTo>
                  <a:pt x="8381" y="2048"/>
                </a:lnTo>
                <a:lnTo>
                  <a:pt x="8381" y="4222"/>
                </a:lnTo>
                <a:cubicBezTo>
                  <a:pt x="8255" y="4253"/>
                  <a:pt x="8160" y="4316"/>
                  <a:pt x="8034" y="4411"/>
                </a:cubicBezTo>
                <a:cubicBezTo>
                  <a:pt x="7845" y="4243"/>
                  <a:pt x="7614" y="4159"/>
                  <a:pt x="7369" y="4159"/>
                </a:cubicBezTo>
                <a:cubicBezTo>
                  <a:pt x="7246" y="4159"/>
                  <a:pt x="7120" y="4180"/>
                  <a:pt x="6994" y="4222"/>
                </a:cubicBezTo>
                <a:lnTo>
                  <a:pt x="6994" y="3088"/>
                </a:lnTo>
                <a:cubicBezTo>
                  <a:pt x="6994" y="2552"/>
                  <a:pt x="6522" y="2080"/>
                  <a:pt x="5986" y="2080"/>
                </a:cubicBezTo>
                <a:cubicBezTo>
                  <a:pt x="5419" y="2080"/>
                  <a:pt x="4947" y="2552"/>
                  <a:pt x="4947" y="3088"/>
                </a:cubicBezTo>
                <a:lnTo>
                  <a:pt x="4947" y="6459"/>
                </a:lnTo>
                <a:lnTo>
                  <a:pt x="4789" y="6301"/>
                </a:lnTo>
                <a:cubicBezTo>
                  <a:pt x="4600" y="6097"/>
                  <a:pt x="4340" y="5994"/>
                  <a:pt x="4076" y="5994"/>
                </a:cubicBezTo>
                <a:cubicBezTo>
                  <a:pt x="3812" y="5994"/>
                  <a:pt x="3545" y="6097"/>
                  <a:pt x="3340" y="6301"/>
                </a:cubicBezTo>
                <a:cubicBezTo>
                  <a:pt x="2962" y="6679"/>
                  <a:pt x="2962" y="7341"/>
                  <a:pt x="3340" y="7751"/>
                </a:cubicBezTo>
                <a:lnTo>
                  <a:pt x="3812" y="8223"/>
                </a:lnTo>
                <a:lnTo>
                  <a:pt x="2111" y="8223"/>
                </a:lnTo>
                <a:lnTo>
                  <a:pt x="2111" y="7908"/>
                </a:lnTo>
                <a:cubicBezTo>
                  <a:pt x="2111" y="7719"/>
                  <a:pt x="1954" y="7561"/>
                  <a:pt x="1765" y="7561"/>
                </a:cubicBezTo>
                <a:lnTo>
                  <a:pt x="1418" y="7561"/>
                </a:lnTo>
                <a:lnTo>
                  <a:pt x="1418" y="2048"/>
                </a:lnTo>
                <a:lnTo>
                  <a:pt x="1765" y="2048"/>
                </a:lnTo>
                <a:cubicBezTo>
                  <a:pt x="1954" y="2048"/>
                  <a:pt x="2111" y="1891"/>
                  <a:pt x="2111" y="1670"/>
                </a:cubicBezTo>
                <a:lnTo>
                  <a:pt x="2111" y="1324"/>
                </a:lnTo>
                <a:close/>
                <a:moveTo>
                  <a:pt x="1418" y="8255"/>
                </a:moveTo>
                <a:lnTo>
                  <a:pt x="1418" y="8948"/>
                </a:lnTo>
                <a:lnTo>
                  <a:pt x="725" y="8948"/>
                </a:lnTo>
                <a:lnTo>
                  <a:pt x="725" y="8255"/>
                </a:lnTo>
                <a:close/>
                <a:moveTo>
                  <a:pt x="5955" y="2836"/>
                </a:moveTo>
                <a:cubicBezTo>
                  <a:pt x="6144" y="2836"/>
                  <a:pt x="6301" y="2993"/>
                  <a:pt x="6301" y="3182"/>
                </a:cubicBezTo>
                <a:lnTo>
                  <a:pt x="6301" y="6616"/>
                </a:lnTo>
                <a:cubicBezTo>
                  <a:pt x="6301" y="6805"/>
                  <a:pt x="6459" y="6963"/>
                  <a:pt x="6648" y="6963"/>
                </a:cubicBezTo>
                <a:cubicBezTo>
                  <a:pt x="6837" y="6963"/>
                  <a:pt x="6994" y="6805"/>
                  <a:pt x="6994" y="6616"/>
                </a:cubicBezTo>
                <a:lnTo>
                  <a:pt x="6994" y="5230"/>
                </a:lnTo>
                <a:cubicBezTo>
                  <a:pt x="6994" y="5041"/>
                  <a:pt x="7152" y="4884"/>
                  <a:pt x="7372" y="4884"/>
                </a:cubicBezTo>
                <a:cubicBezTo>
                  <a:pt x="7561" y="4884"/>
                  <a:pt x="7719" y="5041"/>
                  <a:pt x="7719" y="5230"/>
                </a:cubicBezTo>
                <a:lnTo>
                  <a:pt x="7719" y="6616"/>
                </a:lnTo>
                <a:cubicBezTo>
                  <a:pt x="7719" y="6805"/>
                  <a:pt x="7876" y="6963"/>
                  <a:pt x="8066" y="6963"/>
                </a:cubicBezTo>
                <a:cubicBezTo>
                  <a:pt x="8255" y="6963"/>
                  <a:pt x="8412" y="6805"/>
                  <a:pt x="8412" y="6616"/>
                </a:cubicBezTo>
                <a:lnTo>
                  <a:pt x="8412" y="5230"/>
                </a:lnTo>
                <a:cubicBezTo>
                  <a:pt x="8412" y="5041"/>
                  <a:pt x="8570" y="4884"/>
                  <a:pt x="8790" y="4884"/>
                </a:cubicBezTo>
                <a:cubicBezTo>
                  <a:pt x="8979" y="4884"/>
                  <a:pt x="9137" y="5041"/>
                  <a:pt x="9137" y="5230"/>
                </a:cubicBezTo>
                <a:lnTo>
                  <a:pt x="9137" y="6616"/>
                </a:lnTo>
                <a:cubicBezTo>
                  <a:pt x="9137" y="6805"/>
                  <a:pt x="9294" y="6963"/>
                  <a:pt x="9483" y="6963"/>
                </a:cubicBezTo>
                <a:cubicBezTo>
                  <a:pt x="9672" y="6963"/>
                  <a:pt x="9830" y="6805"/>
                  <a:pt x="9830" y="6616"/>
                </a:cubicBezTo>
                <a:lnTo>
                  <a:pt x="9830" y="5955"/>
                </a:lnTo>
                <a:cubicBezTo>
                  <a:pt x="9704" y="5703"/>
                  <a:pt x="9861" y="5545"/>
                  <a:pt x="10019" y="5545"/>
                </a:cubicBezTo>
                <a:cubicBezTo>
                  <a:pt x="10239" y="5545"/>
                  <a:pt x="10397" y="5703"/>
                  <a:pt x="10397" y="5892"/>
                </a:cubicBezTo>
                <a:lnTo>
                  <a:pt x="10397" y="7057"/>
                </a:lnTo>
                <a:cubicBezTo>
                  <a:pt x="10397" y="8003"/>
                  <a:pt x="10176" y="8885"/>
                  <a:pt x="9830" y="9672"/>
                </a:cubicBezTo>
                <a:lnTo>
                  <a:pt x="6144" y="9672"/>
                </a:lnTo>
                <a:lnTo>
                  <a:pt x="3812" y="7372"/>
                </a:lnTo>
                <a:cubicBezTo>
                  <a:pt x="3686" y="7246"/>
                  <a:pt x="3686" y="6994"/>
                  <a:pt x="3812" y="6900"/>
                </a:cubicBezTo>
                <a:cubicBezTo>
                  <a:pt x="3875" y="6837"/>
                  <a:pt x="3962" y="6805"/>
                  <a:pt x="4049" y="6805"/>
                </a:cubicBezTo>
                <a:cubicBezTo>
                  <a:pt x="4135" y="6805"/>
                  <a:pt x="4222" y="6837"/>
                  <a:pt x="4285" y="6900"/>
                </a:cubicBezTo>
                <a:lnTo>
                  <a:pt x="5010" y="7593"/>
                </a:lnTo>
                <a:cubicBezTo>
                  <a:pt x="5075" y="7659"/>
                  <a:pt x="5163" y="7690"/>
                  <a:pt x="5251" y="7690"/>
                </a:cubicBezTo>
                <a:cubicBezTo>
                  <a:pt x="5415" y="7690"/>
                  <a:pt x="5577" y="7578"/>
                  <a:pt x="5577" y="7372"/>
                </a:cubicBezTo>
                <a:lnTo>
                  <a:pt x="5577" y="3182"/>
                </a:lnTo>
                <a:cubicBezTo>
                  <a:pt x="5577" y="2993"/>
                  <a:pt x="5734" y="2836"/>
                  <a:pt x="5955" y="2836"/>
                </a:cubicBezTo>
                <a:close/>
                <a:moveTo>
                  <a:pt x="9672" y="10302"/>
                </a:moveTo>
                <a:lnTo>
                  <a:pt x="9672" y="10680"/>
                </a:lnTo>
                <a:cubicBezTo>
                  <a:pt x="9704" y="10869"/>
                  <a:pt x="9546" y="11027"/>
                  <a:pt x="9357" y="11027"/>
                </a:cubicBezTo>
                <a:lnTo>
                  <a:pt x="6616" y="11027"/>
                </a:lnTo>
                <a:cubicBezTo>
                  <a:pt x="6396" y="11027"/>
                  <a:pt x="6238" y="10869"/>
                  <a:pt x="6238" y="10680"/>
                </a:cubicBezTo>
                <a:lnTo>
                  <a:pt x="6238" y="10302"/>
                </a:lnTo>
                <a:close/>
                <a:moveTo>
                  <a:pt x="347" y="0"/>
                </a:moveTo>
                <a:cubicBezTo>
                  <a:pt x="158" y="0"/>
                  <a:pt x="0" y="158"/>
                  <a:pt x="0" y="347"/>
                </a:cubicBezTo>
                <a:lnTo>
                  <a:pt x="0" y="1733"/>
                </a:lnTo>
                <a:cubicBezTo>
                  <a:pt x="0" y="1922"/>
                  <a:pt x="158" y="2080"/>
                  <a:pt x="347" y="2080"/>
                </a:cubicBezTo>
                <a:lnTo>
                  <a:pt x="693" y="2080"/>
                </a:lnTo>
                <a:lnTo>
                  <a:pt x="693" y="7593"/>
                </a:lnTo>
                <a:lnTo>
                  <a:pt x="347" y="7593"/>
                </a:lnTo>
                <a:cubicBezTo>
                  <a:pt x="158" y="7593"/>
                  <a:pt x="0" y="7751"/>
                  <a:pt x="0" y="7940"/>
                </a:cubicBezTo>
                <a:lnTo>
                  <a:pt x="0" y="9326"/>
                </a:lnTo>
                <a:cubicBezTo>
                  <a:pt x="0" y="9515"/>
                  <a:pt x="158" y="9672"/>
                  <a:pt x="347" y="9672"/>
                </a:cubicBezTo>
                <a:lnTo>
                  <a:pt x="1733" y="9672"/>
                </a:lnTo>
                <a:cubicBezTo>
                  <a:pt x="1922" y="9672"/>
                  <a:pt x="2080" y="9515"/>
                  <a:pt x="2080" y="9326"/>
                </a:cubicBezTo>
                <a:lnTo>
                  <a:pt x="2080" y="8979"/>
                </a:lnTo>
                <a:lnTo>
                  <a:pt x="4442" y="8979"/>
                </a:lnTo>
                <a:lnTo>
                  <a:pt x="5577" y="10113"/>
                </a:lnTo>
                <a:lnTo>
                  <a:pt x="5577" y="10712"/>
                </a:lnTo>
                <a:cubicBezTo>
                  <a:pt x="5577" y="11248"/>
                  <a:pt x="6049" y="11720"/>
                  <a:pt x="6616" y="11720"/>
                </a:cubicBezTo>
                <a:lnTo>
                  <a:pt x="9357" y="11720"/>
                </a:lnTo>
                <a:cubicBezTo>
                  <a:pt x="9924" y="11720"/>
                  <a:pt x="10397" y="11248"/>
                  <a:pt x="10397" y="10712"/>
                </a:cubicBezTo>
                <a:lnTo>
                  <a:pt x="10397" y="10113"/>
                </a:lnTo>
                <a:cubicBezTo>
                  <a:pt x="10806" y="9200"/>
                  <a:pt x="11058" y="8160"/>
                  <a:pt x="11058" y="7026"/>
                </a:cubicBezTo>
                <a:lnTo>
                  <a:pt x="11058" y="5892"/>
                </a:lnTo>
                <a:cubicBezTo>
                  <a:pt x="11058" y="5325"/>
                  <a:pt x="10617" y="4884"/>
                  <a:pt x="10019" y="4884"/>
                </a:cubicBezTo>
                <a:cubicBezTo>
                  <a:pt x="9924" y="4884"/>
                  <a:pt x="9767" y="4915"/>
                  <a:pt x="9641" y="4947"/>
                </a:cubicBezTo>
                <a:cubicBezTo>
                  <a:pt x="9546" y="4632"/>
                  <a:pt x="9326" y="4379"/>
                  <a:pt x="9011" y="4253"/>
                </a:cubicBezTo>
                <a:lnTo>
                  <a:pt x="9011" y="2080"/>
                </a:lnTo>
                <a:lnTo>
                  <a:pt x="9357" y="2080"/>
                </a:lnTo>
                <a:cubicBezTo>
                  <a:pt x="9546" y="2080"/>
                  <a:pt x="9735" y="1922"/>
                  <a:pt x="9735" y="1733"/>
                </a:cubicBezTo>
                <a:lnTo>
                  <a:pt x="9735" y="347"/>
                </a:lnTo>
                <a:cubicBezTo>
                  <a:pt x="9735" y="158"/>
                  <a:pt x="9546" y="0"/>
                  <a:pt x="9357" y="0"/>
                </a:cubicBezTo>
                <a:lnTo>
                  <a:pt x="7971" y="0"/>
                </a:lnTo>
                <a:cubicBezTo>
                  <a:pt x="7782" y="0"/>
                  <a:pt x="7624" y="158"/>
                  <a:pt x="7624" y="347"/>
                </a:cubicBezTo>
                <a:lnTo>
                  <a:pt x="7624" y="693"/>
                </a:lnTo>
                <a:lnTo>
                  <a:pt x="2080" y="693"/>
                </a:lnTo>
                <a:lnTo>
                  <a:pt x="2080" y="347"/>
                </a:lnTo>
                <a:cubicBezTo>
                  <a:pt x="2080" y="158"/>
                  <a:pt x="1922" y="0"/>
                  <a:pt x="173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34" name="Google Shape;234;p1">
            <a:extLst>
              <a:ext uri="{FF2B5EF4-FFF2-40B4-BE49-F238E27FC236}">
                <a16:creationId xmlns:a16="http://schemas.microsoft.com/office/drawing/2014/main" id="{F0B58E3C-3458-1E47-3D96-BE9E58E29A93}"/>
              </a:ext>
            </a:extLst>
          </p:cNvPr>
          <p:cNvSpPr txBox="1"/>
          <p:nvPr/>
        </p:nvSpPr>
        <p:spPr>
          <a:xfrm>
            <a:off x="797825" y="1488875"/>
            <a:ext cx="5701500" cy="2292905"/>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MX" sz="1600" b="1" dirty="0">
                <a:latin typeface="Montserrat"/>
                <a:ea typeface="Montserrat"/>
                <a:cs typeface="Montserrat"/>
                <a:sym typeface="Montserrat"/>
              </a:rPr>
              <a:t>Componentes del Modelo de Caja:</a:t>
            </a:r>
          </a:p>
          <a:p>
            <a:pPr marL="0" lvl="0" indent="0" algn="just" rtl="0">
              <a:spcBef>
                <a:spcPts val="0"/>
              </a:spcBef>
              <a:spcAft>
                <a:spcPts val="0"/>
              </a:spcAft>
              <a:buNone/>
            </a:pPr>
            <a:endParaRPr lang="es-MX" sz="1600" b="1" dirty="0">
              <a:latin typeface="Montserrat"/>
              <a:ea typeface="Montserrat"/>
              <a:cs typeface="Montserrat"/>
              <a:sym typeface="Montserrat"/>
            </a:endParaRPr>
          </a:p>
          <a:p>
            <a:pPr marL="0" lvl="0" indent="0" algn="just" rtl="0">
              <a:spcBef>
                <a:spcPts val="0"/>
              </a:spcBef>
              <a:spcAft>
                <a:spcPts val="0"/>
              </a:spcAft>
              <a:buNone/>
            </a:pPr>
            <a:r>
              <a:rPr lang="es-MX" sz="1500" dirty="0">
                <a:latin typeface="Montserrat"/>
                <a:ea typeface="Montserrat"/>
                <a:cs typeface="Montserrat"/>
                <a:sym typeface="Montserrat"/>
              </a:rPr>
              <a:t>3. </a:t>
            </a:r>
            <a:r>
              <a:rPr lang="es-MX" sz="1500" b="1" dirty="0">
                <a:latin typeface="Montserrat"/>
                <a:ea typeface="Montserrat"/>
                <a:cs typeface="Montserrat"/>
                <a:sym typeface="Montserrat"/>
              </a:rPr>
              <a:t>Borde (</a:t>
            </a:r>
            <a:r>
              <a:rPr lang="es-MX" sz="1500" b="1" dirty="0" err="1">
                <a:latin typeface="Montserrat"/>
                <a:ea typeface="Montserrat"/>
                <a:cs typeface="Montserrat"/>
                <a:sym typeface="Montserrat"/>
              </a:rPr>
              <a:t>Border</a:t>
            </a:r>
            <a:r>
              <a:rPr lang="es-MX" sz="1500" b="1" dirty="0">
                <a:latin typeface="Montserrat"/>
                <a:ea typeface="Montserrat"/>
                <a:cs typeface="Montserrat"/>
                <a:sym typeface="Montserrat"/>
              </a:rPr>
              <a:t>): </a:t>
            </a:r>
            <a:r>
              <a:rPr lang="es-MX" sz="1500" dirty="0">
                <a:latin typeface="Montserrat"/>
                <a:ea typeface="Montserrat"/>
                <a:cs typeface="Montserrat"/>
                <a:sym typeface="Montserrat"/>
              </a:rPr>
              <a:t>Rodea el relleno (si existe) y el contenido. Se puede definir con propiedades como </a:t>
            </a:r>
            <a:r>
              <a:rPr lang="es-MX" sz="1500" dirty="0" err="1">
                <a:latin typeface="Montserrat"/>
                <a:ea typeface="Montserrat"/>
                <a:cs typeface="Montserrat"/>
                <a:sym typeface="Montserrat"/>
              </a:rPr>
              <a:t>border</a:t>
            </a:r>
            <a:r>
              <a:rPr lang="es-MX" sz="1500" dirty="0">
                <a:latin typeface="Montserrat"/>
                <a:ea typeface="Montserrat"/>
                <a:cs typeface="Montserrat"/>
                <a:sym typeface="Montserrat"/>
              </a:rPr>
              <a:t>, </a:t>
            </a:r>
            <a:r>
              <a:rPr lang="es-MX" sz="1500" dirty="0" err="1">
                <a:latin typeface="Montserrat"/>
                <a:ea typeface="Montserrat"/>
                <a:cs typeface="Montserrat"/>
                <a:sym typeface="Montserrat"/>
              </a:rPr>
              <a:t>border-width</a:t>
            </a:r>
            <a:r>
              <a:rPr lang="es-MX" sz="1500" dirty="0">
                <a:latin typeface="Montserrat"/>
                <a:ea typeface="Montserrat"/>
                <a:cs typeface="Montserrat"/>
                <a:sym typeface="Montserrat"/>
              </a:rPr>
              <a:t>, </a:t>
            </a:r>
            <a:r>
              <a:rPr lang="es-MX" sz="1500" dirty="0" err="1">
                <a:latin typeface="Montserrat"/>
                <a:ea typeface="Montserrat"/>
                <a:cs typeface="Montserrat"/>
                <a:sym typeface="Montserrat"/>
              </a:rPr>
              <a:t>border</a:t>
            </a:r>
            <a:r>
              <a:rPr lang="es-MX" sz="1500" dirty="0">
                <a:latin typeface="Montserrat"/>
                <a:ea typeface="Montserrat"/>
                <a:cs typeface="Montserrat"/>
                <a:sym typeface="Montserrat"/>
              </a:rPr>
              <a:t>-color.</a:t>
            </a:r>
          </a:p>
          <a:p>
            <a:pPr marL="0" lvl="0" indent="0" algn="just" rtl="0">
              <a:spcBef>
                <a:spcPts val="0"/>
              </a:spcBef>
              <a:spcAft>
                <a:spcPts val="0"/>
              </a:spcAft>
              <a:buNone/>
            </a:pPr>
            <a:endParaRPr lang="es-MX" sz="1500" dirty="0">
              <a:latin typeface="Montserrat"/>
              <a:ea typeface="Montserrat"/>
              <a:cs typeface="Montserrat"/>
              <a:sym typeface="Montserrat"/>
            </a:endParaRPr>
          </a:p>
          <a:p>
            <a:pPr marL="0" lvl="0" indent="0" algn="just" rtl="0">
              <a:spcBef>
                <a:spcPts val="0"/>
              </a:spcBef>
              <a:spcAft>
                <a:spcPts val="0"/>
              </a:spcAft>
              <a:buNone/>
            </a:pPr>
            <a:r>
              <a:rPr lang="es-MX" sz="1500" dirty="0">
                <a:latin typeface="Montserrat"/>
                <a:ea typeface="Montserrat"/>
                <a:cs typeface="Montserrat"/>
                <a:sym typeface="Montserrat"/>
              </a:rPr>
              <a:t>4. </a:t>
            </a:r>
            <a:r>
              <a:rPr lang="es-MX" sz="1500" b="1" dirty="0">
                <a:latin typeface="Montserrat"/>
                <a:ea typeface="Montserrat"/>
                <a:cs typeface="Montserrat"/>
                <a:sym typeface="Montserrat"/>
              </a:rPr>
              <a:t>Margen (</a:t>
            </a:r>
            <a:r>
              <a:rPr lang="es-MX" sz="1500" b="1" dirty="0" err="1">
                <a:latin typeface="Montserrat"/>
                <a:ea typeface="Montserrat"/>
                <a:cs typeface="Montserrat"/>
                <a:sym typeface="Montserrat"/>
              </a:rPr>
              <a:t>Margin</a:t>
            </a:r>
            <a:r>
              <a:rPr lang="es-MX" sz="1500" b="1" dirty="0">
                <a:latin typeface="Montserrat"/>
                <a:ea typeface="Montserrat"/>
                <a:cs typeface="Montserrat"/>
                <a:sym typeface="Montserrat"/>
              </a:rPr>
              <a:t>): </a:t>
            </a:r>
            <a:r>
              <a:rPr lang="es-MX" sz="1500" dirty="0">
                <a:latin typeface="Montserrat"/>
                <a:ea typeface="Montserrat"/>
                <a:cs typeface="Montserrat"/>
                <a:sym typeface="Montserrat"/>
              </a:rPr>
              <a:t>Es el espacio exterior que separa el elemento de otros elementos. Controlado con </a:t>
            </a:r>
            <a:r>
              <a:rPr lang="es-MX" sz="1500" dirty="0" err="1">
                <a:latin typeface="Montserrat"/>
                <a:ea typeface="Montserrat"/>
                <a:cs typeface="Montserrat"/>
                <a:sym typeface="Montserrat"/>
              </a:rPr>
              <a:t>margin</a:t>
            </a:r>
            <a:r>
              <a:rPr lang="es-MX" sz="1500" dirty="0">
                <a:latin typeface="Montserrat"/>
                <a:ea typeface="Montserrat"/>
                <a:cs typeface="Montserrat"/>
                <a:sym typeface="Montserrat"/>
              </a:rPr>
              <a:t>, </a:t>
            </a:r>
            <a:r>
              <a:rPr lang="es-MX" sz="1500" dirty="0" err="1">
                <a:latin typeface="Montserrat"/>
                <a:ea typeface="Montserrat"/>
                <a:cs typeface="Montserrat"/>
                <a:sym typeface="Montserrat"/>
              </a:rPr>
              <a:t>margin-left</a:t>
            </a:r>
            <a:r>
              <a:rPr lang="es-MX" sz="1500" dirty="0">
                <a:latin typeface="Montserrat"/>
                <a:ea typeface="Montserrat"/>
                <a:cs typeface="Montserrat"/>
                <a:sym typeface="Montserrat"/>
              </a:rPr>
              <a:t>, etc.</a:t>
            </a:r>
          </a:p>
        </p:txBody>
      </p:sp>
      <p:sp>
        <p:nvSpPr>
          <p:cNvPr id="236" name="Google Shape;236;p1">
            <a:extLst>
              <a:ext uri="{FF2B5EF4-FFF2-40B4-BE49-F238E27FC236}">
                <a16:creationId xmlns:a16="http://schemas.microsoft.com/office/drawing/2014/main" id="{01ECE690-82DF-07BE-B1DB-A5748DC6A083}"/>
              </a:ext>
            </a:extLst>
          </p:cNvPr>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7" name="Google Shape;237;p1">
            <a:extLst>
              <a:ext uri="{FF2B5EF4-FFF2-40B4-BE49-F238E27FC236}">
                <a16:creationId xmlns:a16="http://schemas.microsoft.com/office/drawing/2014/main" id="{16595F5D-AC19-2514-B7BE-55AF9C61F8C0}"/>
              </a:ext>
            </a:extLst>
          </p:cNvPr>
          <p:cNvSpPr txBox="1"/>
          <p:nvPr/>
        </p:nvSpPr>
        <p:spPr>
          <a:xfrm>
            <a:off x="797825" y="499325"/>
            <a:ext cx="5701500" cy="60013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PE" sz="3000" dirty="0">
                <a:solidFill>
                  <a:srgbClr val="000F5A"/>
                </a:solidFill>
                <a:latin typeface="Montserrat ExtraBold"/>
                <a:ea typeface="Montserrat ExtraBold"/>
                <a:cs typeface="Montserrat ExtraBold"/>
                <a:sym typeface="Montserrat ExtraBold"/>
              </a:rPr>
              <a:t>Modelo de Caja</a:t>
            </a:r>
            <a:endParaRPr sz="3000" dirty="0">
              <a:solidFill>
                <a:srgbClr val="2A8BFC"/>
              </a:solidFill>
              <a:latin typeface="Montserrat ExtraBold"/>
              <a:ea typeface="Montserrat ExtraBold"/>
              <a:cs typeface="Montserrat ExtraBold"/>
              <a:sym typeface="Montserrat ExtraBold"/>
            </a:endParaRPr>
          </a:p>
        </p:txBody>
      </p:sp>
      <p:sp>
        <p:nvSpPr>
          <p:cNvPr id="239" name="Google Shape;239;p1">
            <a:extLst>
              <a:ext uri="{FF2B5EF4-FFF2-40B4-BE49-F238E27FC236}">
                <a16:creationId xmlns:a16="http://schemas.microsoft.com/office/drawing/2014/main" id="{755D066E-E526-955B-F38B-8F20CF08AEC3}"/>
              </a:ext>
            </a:extLst>
          </p:cNvPr>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000F5A"/>
                </a:solidFill>
                <a:latin typeface="Montserrat"/>
                <a:ea typeface="Montserrat"/>
                <a:cs typeface="Montserrat"/>
                <a:sym typeface="Montserrat"/>
              </a:rPr>
              <a:t>6</a:t>
            </a:r>
            <a:r>
              <a:rPr lang="es-ES" sz="1300" b="1" i="0" u="none" strike="noStrike" cap="none">
                <a:solidFill>
                  <a:srgbClr val="000F5A"/>
                </a:solidFill>
                <a:latin typeface="Montserrat"/>
                <a:ea typeface="Montserrat"/>
                <a:cs typeface="Montserrat"/>
                <a:sym typeface="Montserrat"/>
              </a:rPr>
              <a:t>.</a:t>
            </a:r>
            <a:endParaRPr sz="1300" b="1" i="0" u="none" strike="noStrike" cap="none">
              <a:solidFill>
                <a:srgbClr val="000F5A"/>
              </a:solidFill>
              <a:latin typeface="Montserrat"/>
              <a:ea typeface="Montserrat"/>
              <a:cs typeface="Montserrat"/>
              <a:sym typeface="Montserrat"/>
            </a:endParaRPr>
          </a:p>
        </p:txBody>
      </p:sp>
      <p:pic>
        <p:nvPicPr>
          <p:cNvPr id="2" name="Picture 3" descr="Imagen generada">
            <a:extLst>
              <a:ext uri="{FF2B5EF4-FFF2-40B4-BE49-F238E27FC236}">
                <a16:creationId xmlns:a16="http://schemas.microsoft.com/office/drawing/2014/main" id="{F7959591-F839-C6EF-707B-37CB409066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3988" y="1488875"/>
            <a:ext cx="4529112" cy="4529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243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7447C8A8-B81F-891F-2725-510179F83F72}"/>
            </a:ext>
          </a:extLst>
        </p:cNvPr>
        <p:cNvGrpSpPr/>
        <p:nvPr/>
      </p:nvGrpSpPr>
      <p:grpSpPr>
        <a:xfrm>
          <a:off x="0" y="0"/>
          <a:ext cx="0" cy="0"/>
          <a:chOff x="0" y="0"/>
          <a:chExt cx="0" cy="0"/>
        </a:xfrm>
      </p:grpSpPr>
      <p:pic>
        <p:nvPicPr>
          <p:cNvPr id="232" name="Google Shape;232;p1">
            <a:extLst>
              <a:ext uri="{FF2B5EF4-FFF2-40B4-BE49-F238E27FC236}">
                <a16:creationId xmlns:a16="http://schemas.microsoft.com/office/drawing/2014/main" id="{CAB08916-FAFE-3B98-5713-E5FE62D3D40E}"/>
              </a:ext>
            </a:extLst>
          </p:cNvPr>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233" name="Google Shape;233;p1">
            <a:extLst>
              <a:ext uri="{FF2B5EF4-FFF2-40B4-BE49-F238E27FC236}">
                <a16:creationId xmlns:a16="http://schemas.microsoft.com/office/drawing/2014/main" id="{2849739A-4083-56C0-1320-D71156B73BE4}"/>
              </a:ext>
            </a:extLst>
          </p:cNvPr>
          <p:cNvSpPr/>
          <p:nvPr/>
        </p:nvSpPr>
        <p:spPr>
          <a:xfrm>
            <a:off x="8323568" y="2180892"/>
            <a:ext cx="448111" cy="518303"/>
          </a:xfrm>
          <a:custGeom>
            <a:avLst/>
            <a:gdLst/>
            <a:ahLst/>
            <a:cxnLst/>
            <a:rect l="l" t="t" r="r" b="b"/>
            <a:pathLst>
              <a:path w="11059" h="11721" extrusionOk="0">
                <a:moveTo>
                  <a:pt x="1418" y="693"/>
                </a:moveTo>
                <a:lnTo>
                  <a:pt x="1418" y="1387"/>
                </a:lnTo>
                <a:lnTo>
                  <a:pt x="725" y="1387"/>
                </a:lnTo>
                <a:lnTo>
                  <a:pt x="725" y="693"/>
                </a:lnTo>
                <a:close/>
                <a:moveTo>
                  <a:pt x="9011" y="693"/>
                </a:moveTo>
                <a:lnTo>
                  <a:pt x="9011" y="1387"/>
                </a:lnTo>
                <a:lnTo>
                  <a:pt x="8349" y="1387"/>
                </a:lnTo>
                <a:lnTo>
                  <a:pt x="8349" y="693"/>
                </a:lnTo>
                <a:close/>
                <a:moveTo>
                  <a:pt x="7656" y="1324"/>
                </a:moveTo>
                <a:lnTo>
                  <a:pt x="7656" y="1670"/>
                </a:lnTo>
                <a:cubicBezTo>
                  <a:pt x="7656" y="1891"/>
                  <a:pt x="7813" y="2048"/>
                  <a:pt x="8034" y="2048"/>
                </a:cubicBezTo>
                <a:lnTo>
                  <a:pt x="8381" y="2048"/>
                </a:lnTo>
                <a:lnTo>
                  <a:pt x="8381" y="4222"/>
                </a:lnTo>
                <a:cubicBezTo>
                  <a:pt x="8255" y="4253"/>
                  <a:pt x="8160" y="4316"/>
                  <a:pt x="8034" y="4411"/>
                </a:cubicBezTo>
                <a:cubicBezTo>
                  <a:pt x="7845" y="4243"/>
                  <a:pt x="7614" y="4159"/>
                  <a:pt x="7369" y="4159"/>
                </a:cubicBezTo>
                <a:cubicBezTo>
                  <a:pt x="7246" y="4159"/>
                  <a:pt x="7120" y="4180"/>
                  <a:pt x="6994" y="4222"/>
                </a:cubicBezTo>
                <a:lnTo>
                  <a:pt x="6994" y="3088"/>
                </a:lnTo>
                <a:cubicBezTo>
                  <a:pt x="6994" y="2552"/>
                  <a:pt x="6522" y="2080"/>
                  <a:pt x="5986" y="2080"/>
                </a:cubicBezTo>
                <a:cubicBezTo>
                  <a:pt x="5419" y="2080"/>
                  <a:pt x="4947" y="2552"/>
                  <a:pt x="4947" y="3088"/>
                </a:cubicBezTo>
                <a:lnTo>
                  <a:pt x="4947" y="6459"/>
                </a:lnTo>
                <a:lnTo>
                  <a:pt x="4789" y="6301"/>
                </a:lnTo>
                <a:cubicBezTo>
                  <a:pt x="4600" y="6097"/>
                  <a:pt x="4340" y="5994"/>
                  <a:pt x="4076" y="5994"/>
                </a:cubicBezTo>
                <a:cubicBezTo>
                  <a:pt x="3812" y="5994"/>
                  <a:pt x="3545" y="6097"/>
                  <a:pt x="3340" y="6301"/>
                </a:cubicBezTo>
                <a:cubicBezTo>
                  <a:pt x="2962" y="6679"/>
                  <a:pt x="2962" y="7341"/>
                  <a:pt x="3340" y="7751"/>
                </a:cubicBezTo>
                <a:lnTo>
                  <a:pt x="3812" y="8223"/>
                </a:lnTo>
                <a:lnTo>
                  <a:pt x="2111" y="8223"/>
                </a:lnTo>
                <a:lnTo>
                  <a:pt x="2111" y="7908"/>
                </a:lnTo>
                <a:cubicBezTo>
                  <a:pt x="2111" y="7719"/>
                  <a:pt x="1954" y="7561"/>
                  <a:pt x="1765" y="7561"/>
                </a:cubicBezTo>
                <a:lnTo>
                  <a:pt x="1418" y="7561"/>
                </a:lnTo>
                <a:lnTo>
                  <a:pt x="1418" y="2048"/>
                </a:lnTo>
                <a:lnTo>
                  <a:pt x="1765" y="2048"/>
                </a:lnTo>
                <a:cubicBezTo>
                  <a:pt x="1954" y="2048"/>
                  <a:pt x="2111" y="1891"/>
                  <a:pt x="2111" y="1670"/>
                </a:cubicBezTo>
                <a:lnTo>
                  <a:pt x="2111" y="1324"/>
                </a:lnTo>
                <a:close/>
                <a:moveTo>
                  <a:pt x="1418" y="8255"/>
                </a:moveTo>
                <a:lnTo>
                  <a:pt x="1418" y="8948"/>
                </a:lnTo>
                <a:lnTo>
                  <a:pt x="725" y="8948"/>
                </a:lnTo>
                <a:lnTo>
                  <a:pt x="725" y="8255"/>
                </a:lnTo>
                <a:close/>
                <a:moveTo>
                  <a:pt x="5955" y="2836"/>
                </a:moveTo>
                <a:cubicBezTo>
                  <a:pt x="6144" y="2836"/>
                  <a:pt x="6301" y="2993"/>
                  <a:pt x="6301" y="3182"/>
                </a:cubicBezTo>
                <a:lnTo>
                  <a:pt x="6301" y="6616"/>
                </a:lnTo>
                <a:cubicBezTo>
                  <a:pt x="6301" y="6805"/>
                  <a:pt x="6459" y="6963"/>
                  <a:pt x="6648" y="6963"/>
                </a:cubicBezTo>
                <a:cubicBezTo>
                  <a:pt x="6837" y="6963"/>
                  <a:pt x="6994" y="6805"/>
                  <a:pt x="6994" y="6616"/>
                </a:cubicBezTo>
                <a:lnTo>
                  <a:pt x="6994" y="5230"/>
                </a:lnTo>
                <a:cubicBezTo>
                  <a:pt x="6994" y="5041"/>
                  <a:pt x="7152" y="4884"/>
                  <a:pt x="7372" y="4884"/>
                </a:cubicBezTo>
                <a:cubicBezTo>
                  <a:pt x="7561" y="4884"/>
                  <a:pt x="7719" y="5041"/>
                  <a:pt x="7719" y="5230"/>
                </a:cubicBezTo>
                <a:lnTo>
                  <a:pt x="7719" y="6616"/>
                </a:lnTo>
                <a:cubicBezTo>
                  <a:pt x="7719" y="6805"/>
                  <a:pt x="7876" y="6963"/>
                  <a:pt x="8066" y="6963"/>
                </a:cubicBezTo>
                <a:cubicBezTo>
                  <a:pt x="8255" y="6963"/>
                  <a:pt x="8412" y="6805"/>
                  <a:pt x="8412" y="6616"/>
                </a:cubicBezTo>
                <a:lnTo>
                  <a:pt x="8412" y="5230"/>
                </a:lnTo>
                <a:cubicBezTo>
                  <a:pt x="8412" y="5041"/>
                  <a:pt x="8570" y="4884"/>
                  <a:pt x="8790" y="4884"/>
                </a:cubicBezTo>
                <a:cubicBezTo>
                  <a:pt x="8979" y="4884"/>
                  <a:pt x="9137" y="5041"/>
                  <a:pt x="9137" y="5230"/>
                </a:cubicBezTo>
                <a:lnTo>
                  <a:pt x="9137" y="6616"/>
                </a:lnTo>
                <a:cubicBezTo>
                  <a:pt x="9137" y="6805"/>
                  <a:pt x="9294" y="6963"/>
                  <a:pt x="9483" y="6963"/>
                </a:cubicBezTo>
                <a:cubicBezTo>
                  <a:pt x="9672" y="6963"/>
                  <a:pt x="9830" y="6805"/>
                  <a:pt x="9830" y="6616"/>
                </a:cubicBezTo>
                <a:lnTo>
                  <a:pt x="9830" y="5955"/>
                </a:lnTo>
                <a:cubicBezTo>
                  <a:pt x="9704" y="5703"/>
                  <a:pt x="9861" y="5545"/>
                  <a:pt x="10019" y="5545"/>
                </a:cubicBezTo>
                <a:cubicBezTo>
                  <a:pt x="10239" y="5545"/>
                  <a:pt x="10397" y="5703"/>
                  <a:pt x="10397" y="5892"/>
                </a:cubicBezTo>
                <a:lnTo>
                  <a:pt x="10397" y="7057"/>
                </a:lnTo>
                <a:cubicBezTo>
                  <a:pt x="10397" y="8003"/>
                  <a:pt x="10176" y="8885"/>
                  <a:pt x="9830" y="9672"/>
                </a:cubicBezTo>
                <a:lnTo>
                  <a:pt x="6144" y="9672"/>
                </a:lnTo>
                <a:lnTo>
                  <a:pt x="3812" y="7372"/>
                </a:lnTo>
                <a:cubicBezTo>
                  <a:pt x="3686" y="7246"/>
                  <a:pt x="3686" y="6994"/>
                  <a:pt x="3812" y="6900"/>
                </a:cubicBezTo>
                <a:cubicBezTo>
                  <a:pt x="3875" y="6837"/>
                  <a:pt x="3962" y="6805"/>
                  <a:pt x="4049" y="6805"/>
                </a:cubicBezTo>
                <a:cubicBezTo>
                  <a:pt x="4135" y="6805"/>
                  <a:pt x="4222" y="6837"/>
                  <a:pt x="4285" y="6900"/>
                </a:cubicBezTo>
                <a:lnTo>
                  <a:pt x="5010" y="7593"/>
                </a:lnTo>
                <a:cubicBezTo>
                  <a:pt x="5075" y="7659"/>
                  <a:pt x="5163" y="7690"/>
                  <a:pt x="5251" y="7690"/>
                </a:cubicBezTo>
                <a:cubicBezTo>
                  <a:pt x="5415" y="7690"/>
                  <a:pt x="5577" y="7578"/>
                  <a:pt x="5577" y="7372"/>
                </a:cubicBezTo>
                <a:lnTo>
                  <a:pt x="5577" y="3182"/>
                </a:lnTo>
                <a:cubicBezTo>
                  <a:pt x="5577" y="2993"/>
                  <a:pt x="5734" y="2836"/>
                  <a:pt x="5955" y="2836"/>
                </a:cubicBezTo>
                <a:close/>
                <a:moveTo>
                  <a:pt x="9672" y="10302"/>
                </a:moveTo>
                <a:lnTo>
                  <a:pt x="9672" y="10680"/>
                </a:lnTo>
                <a:cubicBezTo>
                  <a:pt x="9704" y="10869"/>
                  <a:pt x="9546" y="11027"/>
                  <a:pt x="9357" y="11027"/>
                </a:cubicBezTo>
                <a:lnTo>
                  <a:pt x="6616" y="11027"/>
                </a:lnTo>
                <a:cubicBezTo>
                  <a:pt x="6396" y="11027"/>
                  <a:pt x="6238" y="10869"/>
                  <a:pt x="6238" y="10680"/>
                </a:cubicBezTo>
                <a:lnTo>
                  <a:pt x="6238" y="10302"/>
                </a:lnTo>
                <a:close/>
                <a:moveTo>
                  <a:pt x="347" y="0"/>
                </a:moveTo>
                <a:cubicBezTo>
                  <a:pt x="158" y="0"/>
                  <a:pt x="0" y="158"/>
                  <a:pt x="0" y="347"/>
                </a:cubicBezTo>
                <a:lnTo>
                  <a:pt x="0" y="1733"/>
                </a:lnTo>
                <a:cubicBezTo>
                  <a:pt x="0" y="1922"/>
                  <a:pt x="158" y="2080"/>
                  <a:pt x="347" y="2080"/>
                </a:cubicBezTo>
                <a:lnTo>
                  <a:pt x="693" y="2080"/>
                </a:lnTo>
                <a:lnTo>
                  <a:pt x="693" y="7593"/>
                </a:lnTo>
                <a:lnTo>
                  <a:pt x="347" y="7593"/>
                </a:lnTo>
                <a:cubicBezTo>
                  <a:pt x="158" y="7593"/>
                  <a:pt x="0" y="7751"/>
                  <a:pt x="0" y="7940"/>
                </a:cubicBezTo>
                <a:lnTo>
                  <a:pt x="0" y="9326"/>
                </a:lnTo>
                <a:cubicBezTo>
                  <a:pt x="0" y="9515"/>
                  <a:pt x="158" y="9672"/>
                  <a:pt x="347" y="9672"/>
                </a:cubicBezTo>
                <a:lnTo>
                  <a:pt x="1733" y="9672"/>
                </a:lnTo>
                <a:cubicBezTo>
                  <a:pt x="1922" y="9672"/>
                  <a:pt x="2080" y="9515"/>
                  <a:pt x="2080" y="9326"/>
                </a:cubicBezTo>
                <a:lnTo>
                  <a:pt x="2080" y="8979"/>
                </a:lnTo>
                <a:lnTo>
                  <a:pt x="4442" y="8979"/>
                </a:lnTo>
                <a:lnTo>
                  <a:pt x="5577" y="10113"/>
                </a:lnTo>
                <a:lnTo>
                  <a:pt x="5577" y="10712"/>
                </a:lnTo>
                <a:cubicBezTo>
                  <a:pt x="5577" y="11248"/>
                  <a:pt x="6049" y="11720"/>
                  <a:pt x="6616" y="11720"/>
                </a:cubicBezTo>
                <a:lnTo>
                  <a:pt x="9357" y="11720"/>
                </a:lnTo>
                <a:cubicBezTo>
                  <a:pt x="9924" y="11720"/>
                  <a:pt x="10397" y="11248"/>
                  <a:pt x="10397" y="10712"/>
                </a:cubicBezTo>
                <a:lnTo>
                  <a:pt x="10397" y="10113"/>
                </a:lnTo>
                <a:cubicBezTo>
                  <a:pt x="10806" y="9200"/>
                  <a:pt x="11058" y="8160"/>
                  <a:pt x="11058" y="7026"/>
                </a:cubicBezTo>
                <a:lnTo>
                  <a:pt x="11058" y="5892"/>
                </a:lnTo>
                <a:cubicBezTo>
                  <a:pt x="11058" y="5325"/>
                  <a:pt x="10617" y="4884"/>
                  <a:pt x="10019" y="4884"/>
                </a:cubicBezTo>
                <a:cubicBezTo>
                  <a:pt x="9924" y="4884"/>
                  <a:pt x="9767" y="4915"/>
                  <a:pt x="9641" y="4947"/>
                </a:cubicBezTo>
                <a:cubicBezTo>
                  <a:pt x="9546" y="4632"/>
                  <a:pt x="9326" y="4379"/>
                  <a:pt x="9011" y="4253"/>
                </a:cubicBezTo>
                <a:lnTo>
                  <a:pt x="9011" y="2080"/>
                </a:lnTo>
                <a:lnTo>
                  <a:pt x="9357" y="2080"/>
                </a:lnTo>
                <a:cubicBezTo>
                  <a:pt x="9546" y="2080"/>
                  <a:pt x="9735" y="1922"/>
                  <a:pt x="9735" y="1733"/>
                </a:cubicBezTo>
                <a:lnTo>
                  <a:pt x="9735" y="347"/>
                </a:lnTo>
                <a:cubicBezTo>
                  <a:pt x="9735" y="158"/>
                  <a:pt x="9546" y="0"/>
                  <a:pt x="9357" y="0"/>
                </a:cubicBezTo>
                <a:lnTo>
                  <a:pt x="7971" y="0"/>
                </a:lnTo>
                <a:cubicBezTo>
                  <a:pt x="7782" y="0"/>
                  <a:pt x="7624" y="158"/>
                  <a:pt x="7624" y="347"/>
                </a:cubicBezTo>
                <a:lnTo>
                  <a:pt x="7624" y="693"/>
                </a:lnTo>
                <a:lnTo>
                  <a:pt x="2080" y="693"/>
                </a:lnTo>
                <a:lnTo>
                  <a:pt x="2080" y="347"/>
                </a:lnTo>
                <a:cubicBezTo>
                  <a:pt x="2080" y="158"/>
                  <a:pt x="1922" y="0"/>
                  <a:pt x="173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34" name="Google Shape;234;p1">
            <a:extLst>
              <a:ext uri="{FF2B5EF4-FFF2-40B4-BE49-F238E27FC236}">
                <a16:creationId xmlns:a16="http://schemas.microsoft.com/office/drawing/2014/main" id="{A07A0AE3-7D26-5779-7FB2-59DAEEDDF972}"/>
              </a:ext>
            </a:extLst>
          </p:cNvPr>
          <p:cNvSpPr txBox="1"/>
          <p:nvPr/>
        </p:nvSpPr>
        <p:spPr>
          <a:xfrm>
            <a:off x="797825" y="1488875"/>
            <a:ext cx="5701500" cy="4570452"/>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MX" sz="1500" dirty="0">
                <a:latin typeface="Montserrat"/>
                <a:ea typeface="Montserrat"/>
                <a:cs typeface="Montserrat"/>
                <a:sym typeface="Montserrat"/>
              </a:rPr>
              <a:t>Los flujos determinan cómo se colocan los elementos en la página. CSS maneja distintos tipos de flujo.</a:t>
            </a:r>
          </a:p>
          <a:p>
            <a:pPr marL="0" lvl="0" indent="0" algn="just" rtl="0">
              <a:spcBef>
                <a:spcPts val="0"/>
              </a:spcBef>
              <a:spcAft>
                <a:spcPts val="0"/>
              </a:spcAft>
              <a:buNone/>
            </a:pPr>
            <a:endParaRPr lang="es-MX" sz="1500" dirty="0">
              <a:latin typeface="Montserrat"/>
              <a:ea typeface="Montserrat"/>
              <a:cs typeface="Montserrat"/>
              <a:sym typeface="Montserrat"/>
            </a:endParaRPr>
          </a:p>
          <a:p>
            <a:pPr marL="342900" lvl="0" indent="-342900" algn="just" rtl="0">
              <a:spcBef>
                <a:spcPts val="0"/>
              </a:spcBef>
              <a:spcAft>
                <a:spcPts val="0"/>
              </a:spcAft>
              <a:buAutoNum type="arabicPeriod"/>
            </a:pPr>
            <a:r>
              <a:rPr lang="es-MX" sz="1500" b="1" dirty="0">
                <a:latin typeface="Montserrat"/>
                <a:ea typeface="Montserrat"/>
                <a:cs typeface="Montserrat"/>
                <a:sym typeface="Montserrat"/>
              </a:rPr>
              <a:t>Flujo normal (Normal Flow): </a:t>
            </a:r>
          </a:p>
          <a:p>
            <a:pPr lvl="0" algn="just" rtl="0">
              <a:spcBef>
                <a:spcPts val="0"/>
              </a:spcBef>
              <a:spcAft>
                <a:spcPts val="0"/>
              </a:spcAft>
            </a:pPr>
            <a:endParaRPr lang="es-MX" sz="1500" b="1" dirty="0">
              <a:latin typeface="Montserrat"/>
              <a:ea typeface="Montserrat"/>
              <a:cs typeface="Montserrat"/>
              <a:sym typeface="Montserrat"/>
            </a:endParaRPr>
          </a:p>
          <a:p>
            <a:pPr marL="285750" lvl="0" indent="-285750" algn="just" rtl="0">
              <a:spcBef>
                <a:spcPts val="0"/>
              </a:spcBef>
              <a:spcAft>
                <a:spcPts val="0"/>
              </a:spcAft>
              <a:buFont typeface="Arial" panose="020B0604020202020204" pitchFamily="34" charset="0"/>
              <a:buChar char="•"/>
            </a:pPr>
            <a:r>
              <a:rPr lang="es-MX" sz="1500" dirty="0">
                <a:latin typeface="Montserrat"/>
                <a:ea typeface="Montserrat"/>
                <a:cs typeface="Montserrat"/>
                <a:sym typeface="Montserrat"/>
              </a:rPr>
              <a:t>Es el comportamiento por defecto.</a:t>
            </a:r>
          </a:p>
          <a:p>
            <a:pPr marL="285750" lvl="0" indent="-285750" algn="just" rtl="0">
              <a:spcBef>
                <a:spcPts val="0"/>
              </a:spcBef>
              <a:spcAft>
                <a:spcPts val="0"/>
              </a:spcAft>
              <a:buFont typeface="Arial" panose="020B0604020202020204" pitchFamily="34" charset="0"/>
              <a:buChar char="•"/>
            </a:pPr>
            <a:endParaRPr lang="es-MX" sz="1500" dirty="0">
              <a:latin typeface="Montserrat"/>
              <a:ea typeface="Montserrat"/>
              <a:cs typeface="Montserrat"/>
              <a:sym typeface="Montserrat"/>
            </a:endParaRPr>
          </a:p>
          <a:p>
            <a:pPr marL="285750" lvl="0" indent="-285750" algn="just" rtl="0">
              <a:spcBef>
                <a:spcPts val="0"/>
              </a:spcBef>
              <a:spcAft>
                <a:spcPts val="0"/>
              </a:spcAft>
              <a:buFont typeface="Arial" panose="020B0604020202020204" pitchFamily="34" charset="0"/>
              <a:buChar char="•"/>
            </a:pPr>
            <a:r>
              <a:rPr lang="es-MX" sz="1500" dirty="0">
                <a:latin typeface="Montserrat"/>
                <a:ea typeface="Montserrat"/>
                <a:cs typeface="Montserrat"/>
                <a:sym typeface="Montserrat"/>
              </a:rPr>
              <a:t>Los elementos block-</a:t>
            </a:r>
            <a:r>
              <a:rPr lang="es-MX" sz="1500" dirty="0" err="1">
                <a:latin typeface="Montserrat"/>
                <a:ea typeface="Montserrat"/>
                <a:cs typeface="Montserrat"/>
                <a:sym typeface="Montserrat"/>
              </a:rPr>
              <a:t>level</a:t>
            </a:r>
            <a:r>
              <a:rPr lang="es-MX" sz="1500" dirty="0">
                <a:latin typeface="Montserrat"/>
                <a:ea typeface="Montserrat"/>
                <a:cs typeface="Montserrat"/>
                <a:sym typeface="Montserrat"/>
              </a:rPr>
              <a:t> (como &lt;</a:t>
            </a:r>
            <a:r>
              <a:rPr lang="es-MX" sz="1500" dirty="0" err="1">
                <a:latin typeface="Montserrat"/>
                <a:ea typeface="Montserrat"/>
                <a:cs typeface="Montserrat"/>
                <a:sym typeface="Montserrat"/>
              </a:rPr>
              <a:t>div</a:t>
            </a:r>
            <a:r>
              <a:rPr lang="es-MX" sz="1500" dirty="0">
                <a:latin typeface="Montserrat"/>
                <a:ea typeface="Montserrat"/>
                <a:cs typeface="Montserrat"/>
                <a:sym typeface="Montserrat"/>
              </a:rPr>
              <a:t>&gt;, &lt;p&gt;) se apilan uno debajo del otro verticalmente.</a:t>
            </a:r>
          </a:p>
          <a:p>
            <a:pPr marL="285750" lvl="0" indent="-285750" algn="just" rtl="0">
              <a:spcBef>
                <a:spcPts val="0"/>
              </a:spcBef>
              <a:spcAft>
                <a:spcPts val="0"/>
              </a:spcAft>
              <a:buFont typeface="Arial" panose="020B0604020202020204" pitchFamily="34" charset="0"/>
              <a:buChar char="•"/>
            </a:pPr>
            <a:endParaRPr lang="es-MX" sz="1500" dirty="0">
              <a:latin typeface="Montserrat"/>
              <a:ea typeface="Montserrat"/>
              <a:cs typeface="Montserrat"/>
              <a:sym typeface="Montserrat"/>
            </a:endParaRPr>
          </a:p>
          <a:p>
            <a:pPr marL="285750" lvl="0" indent="-285750" algn="just" rtl="0">
              <a:spcBef>
                <a:spcPts val="0"/>
              </a:spcBef>
              <a:spcAft>
                <a:spcPts val="0"/>
              </a:spcAft>
              <a:buFont typeface="Arial" panose="020B0604020202020204" pitchFamily="34" charset="0"/>
              <a:buChar char="•"/>
            </a:pPr>
            <a:r>
              <a:rPr lang="es-MX" sz="1500" dirty="0">
                <a:latin typeface="Montserrat"/>
                <a:ea typeface="Montserrat"/>
                <a:cs typeface="Montserrat"/>
                <a:sym typeface="Montserrat"/>
              </a:rPr>
              <a:t>Los elementos </a:t>
            </a:r>
            <a:r>
              <a:rPr lang="es-MX" sz="1500" dirty="0" err="1">
                <a:latin typeface="Montserrat"/>
                <a:ea typeface="Montserrat"/>
                <a:cs typeface="Montserrat"/>
                <a:sym typeface="Montserrat"/>
              </a:rPr>
              <a:t>inline-level</a:t>
            </a:r>
            <a:r>
              <a:rPr lang="es-MX" sz="1500" dirty="0">
                <a:latin typeface="Montserrat"/>
                <a:ea typeface="Montserrat"/>
                <a:cs typeface="Montserrat"/>
                <a:sym typeface="Montserrat"/>
              </a:rPr>
              <a:t> (como &lt;</a:t>
            </a:r>
            <a:r>
              <a:rPr lang="es-MX" sz="1500" dirty="0" err="1">
                <a:latin typeface="Montserrat"/>
                <a:ea typeface="Montserrat"/>
                <a:cs typeface="Montserrat"/>
                <a:sym typeface="Montserrat"/>
              </a:rPr>
              <a:t>span</a:t>
            </a:r>
            <a:r>
              <a:rPr lang="es-MX" sz="1500" dirty="0">
                <a:latin typeface="Montserrat"/>
                <a:ea typeface="Montserrat"/>
                <a:cs typeface="Montserrat"/>
                <a:sym typeface="Montserrat"/>
              </a:rPr>
              <a:t>&gt;, &lt;a&gt;) fluyen en línea, como el texto.</a:t>
            </a:r>
          </a:p>
          <a:p>
            <a:pPr marL="285750" lvl="0" indent="-285750" algn="just" rtl="0">
              <a:spcBef>
                <a:spcPts val="0"/>
              </a:spcBef>
              <a:spcAft>
                <a:spcPts val="0"/>
              </a:spcAft>
              <a:buFont typeface="Arial" panose="020B0604020202020204" pitchFamily="34" charset="0"/>
              <a:buChar char="•"/>
            </a:pPr>
            <a:endParaRPr lang="es-MX" sz="1500" dirty="0">
              <a:latin typeface="Montserrat"/>
              <a:ea typeface="Montserrat"/>
              <a:cs typeface="Montserrat"/>
              <a:sym typeface="Montserrat"/>
            </a:endParaRPr>
          </a:p>
          <a:p>
            <a:pPr marL="285750" lvl="0" indent="-285750" algn="just" rtl="0">
              <a:spcBef>
                <a:spcPts val="0"/>
              </a:spcBef>
              <a:spcAft>
                <a:spcPts val="0"/>
              </a:spcAft>
              <a:buFont typeface="Arial" panose="020B0604020202020204" pitchFamily="34" charset="0"/>
              <a:buChar char="•"/>
            </a:pPr>
            <a:endParaRPr lang="es-MX" sz="1500" dirty="0">
              <a:latin typeface="Montserrat"/>
              <a:ea typeface="Montserrat"/>
              <a:cs typeface="Montserrat"/>
              <a:sym typeface="Montserrat"/>
            </a:endParaRPr>
          </a:p>
          <a:p>
            <a:pPr lvl="0" algn="just" rtl="0">
              <a:spcBef>
                <a:spcPts val="0"/>
              </a:spcBef>
              <a:spcAft>
                <a:spcPts val="0"/>
              </a:spcAft>
            </a:pPr>
            <a:r>
              <a:rPr lang="es-MX" sz="1500" b="1" dirty="0">
                <a:latin typeface="Montserrat"/>
                <a:ea typeface="Montserrat"/>
                <a:cs typeface="Montserrat"/>
                <a:sym typeface="Montserrat"/>
              </a:rPr>
              <a:t>2. </a:t>
            </a:r>
            <a:r>
              <a:rPr lang="es-MX" sz="1500" b="1" dirty="0" err="1">
                <a:latin typeface="Montserrat"/>
                <a:ea typeface="Montserrat"/>
                <a:cs typeface="Montserrat"/>
                <a:sym typeface="Montserrat"/>
              </a:rPr>
              <a:t>Display</a:t>
            </a:r>
            <a:r>
              <a:rPr lang="es-MX" sz="1500" b="1" dirty="0">
                <a:latin typeface="Montserrat"/>
                <a:ea typeface="Montserrat"/>
                <a:cs typeface="Montserrat"/>
                <a:sym typeface="Montserrat"/>
              </a:rPr>
              <a:t> y </a:t>
            </a:r>
            <a:r>
              <a:rPr lang="es-MX" sz="1500" b="1" dirty="0" err="1">
                <a:latin typeface="Montserrat"/>
                <a:ea typeface="Montserrat"/>
                <a:cs typeface="Montserrat"/>
                <a:sym typeface="Montserrat"/>
              </a:rPr>
              <a:t>Flexbox</a:t>
            </a:r>
            <a:r>
              <a:rPr lang="es-MX" sz="1500" b="1" dirty="0">
                <a:latin typeface="Montserrat"/>
                <a:ea typeface="Montserrat"/>
                <a:cs typeface="Montserrat"/>
                <a:sym typeface="Montserrat"/>
              </a:rPr>
              <a:t>/</a:t>
            </a:r>
            <a:r>
              <a:rPr lang="es-MX" sz="1500" b="1" dirty="0" err="1">
                <a:latin typeface="Montserrat"/>
                <a:ea typeface="Montserrat"/>
                <a:cs typeface="Montserrat"/>
                <a:sym typeface="Montserrat"/>
              </a:rPr>
              <a:t>Grid</a:t>
            </a:r>
            <a:r>
              <a:rPr lang="es-MX" sz="1500" b="1" dirty="0">
                <a:latin typeface="Montserrat"/>
                <a:ea typeface="Montserrat"/>
                <a:cs typeface="Montserrat"/>
                <a:sym typeface="Montserrat"/>
              </a:rPr>
              <a:t> (Modern Flow):</a:t>
            </a:r>
          </a:p>
          <a:p>
            <a:pPr lvl="0" algn="just" rtl="0">
              <a:spcBef>
                <a:spcPts val="0"/>
              </a:spcBef>
              <a:spcAft>
                <a:spcPts val="0"/>
              </a:spcAft>
            </a:pPr>
            <a:endParaRPr lang="es-MX" sz="1500" dirty="0">
              <a:latin typeface="Montserrat"/>
              <a:ea typeface="Montserrat"/>
              <a:cs typeface="Montserrat"/>
              <a:sym typeface="Montserrat"/>
            </a:endParaRPr>
          </a:p>
          <a:p>
            <a:pPr marL="285750" lvl="0" indent="-285750" algn="just" rtl="0">
              <a:spcBef>
                <a:spcPts val="0"/>
              </a:spcBef>
              <a:spcAft>
                <a:spcPts val="0"/>
              </a:spcAft>
              <a:buFont typeface="Arial" panose="020B0604020202020204" pitchFamily="34" charset="0"/>
              <a:buChar char="•"/>
            </a:pPr>
            <a:r>
              <a:rPr lang="es-MX" sz="1500" dirty="0" err="1">
                <a:latin typeface="Montserrat"/>
                <a:ea typeface="Montserrat"/>
                <a:cs typeface="Montserrat"/>
                <a:sym typeface="Montserrat"/>
              </a:rPr>
              <a:t>display</a:t>
            </a:r>
            <a:r>
              <a:rPr lang="es-MX" sz="1500" dirty="0">
                <a:latin typeface="Montserrat"/>
                <a:ea typeface="Montserrat"/>
                <a:cs typeface="Montserrat"/>
                <a:sym typeface="Montserrat"/>
              </a:rPr>
              <a:t>: </a:t>
            </a:r>
            <a:r>
              <a:rPr lang="es-MX" sz="1500" dirty="0" err="1">
                <a:latin typeface="Montserrat"/>
                <a:ea typeface="Montserrat"/>
                <a:cs typeface="Montserrat"/>
                <a:sym typeface="Montserrat"/>
              </a:rPr>
              <a:t>flex</a:t>
            </a:r>
            <a:r>
              <a:rPr lang="es-MX" sz="1500" dirty="0">
                <a:latin typeface="Montserrat"/>
                <a:ea typeface="Montserrat"/>
                <a:cs typeface="Montserrat"/>
                <a:sym typeface="Montserrat"/>
              </a:rPr>
              <a:t> o </a:t>
            </a:r>
            <a:r>
              <a:rPr lang="es-MX" sz="1500" dirty="0" err="1">
                <a:latin typeface="Montserrat"/>
                <a:ea typeface="Montserrat"/>
                <a:cs typeface="Montserrat"/>
                <a:sym typeface="Montserrat"/>
              </a:rPr>
              <a:t>display</a:t>
            </a:r>
            <a:r>
              <a:rPr lang="es-MX" sz="1500" dirty="0">
                <a:latin typeface="Montserrat"/>
                <a:ea typeface="Montserrat"/>
                <a:cs typeface="Montserrat"/>
                <a:sym typeface="Montserrat"/>
              </a:rPr>
              <a:t>: </a:t>
            </a:r>
            <a:r>
              <a:rPr lang="es-MX" sz="1500" dirty="0" err="1">
                <a:latin typeface="Montserrat"/>
                <a:ea typeface="Montserrat"/>
                <a:cs typeface="Montserrat"/>
                <a:sym typeface="Montserrat"/>
              </a:rPr>
              <a:t>grid</a:t>
            </a:r>
            <a:r>
              <a:rPr lang="es-MX" sz="1500" dirty="0">
                <a:latin typeface="Montserrat"/>
                <a:ea typeface="Montserrat"/>
                <a:cs typeface="Montserrat"/>
                <a:sym typeface="Montserrat"/>
              </a:rPr>
              <a:t> alteran completamente el flujo, proporcionando control preciso de alineación, distribución y tamaño de los elementos hijos.</a:t>
            </a:r>
          </a:p>
        </p:txBody>
      </p:sp>
      <p:sp>
        <p:nvSpPr>
          <p:cNvPr id="236" name="Google Shape;236;p1">
            <a:extLst>
              <a:ext uri="{FF2B5EF4-FFF2-40B4-BE49-F238E27FC236}">
                <a16:creationId xmlns:a16="http://schemas.microsoft.com/office/drawing/2014/main" id="{161E70E8-E175-24F4-F5B5-D2138AB92B8B}"/>
              </a:ext>
            </a:extLst>
          </p:cNvPr>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7" name="Google Shape;237;p1">
            <a:extLst>
              <a:ext uri="{FF2B5EF4-FFF2-40B4-BE49-F238E27FC236}">
                <a16:creationId xmlns:a16="http://schemas.microsoft.com/office/drawing/2014/main" id="{E1A6EDB8-5A31-9A34-35A7-5069142C9676}"/>
              </a:ext>
            </a:extLst>
          </p:cNvPr>
          <p:cNvSpPr txBox="1"/>
          <p:nvPr/>
        </p:nvSpPr>
        <p:spPr>
          <a:xfrm>
            <a:off x="797825" y="499325"/>
            <a:ext cx="5701500" cy="60013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PE" sz="3000" dirty="0">
                <a:solidFill>
                  <a:srgbClr val="000F5A"/>
                </a:solidFill>
                <a:latin typeface="Montserrat ExtraBold"/>
                <a:ea typeface="Montserrat ExtraBold"/>
                <a:cs typeface="Montserrat ExtraBold"/>
                <a:sym typeface="Montserrat ExtraBold"/>
              </a:rPr>
              <a:t>Flujos en CSS</a:t>
            </a:r>
            <a:endParaRPr sz="3000" dirty="0">
              <a:solidFill>
                <a:srgbClr val="2A8BFC"/>
              </a:solidFill>
              <a:latin typeface="Montserrat ExtraBold"/>
              <a:ea typeface="Montserrat ExtraBold"/>
              <a:cs typeface="Montserrat ExtraBold"/>
              <a:sym typeface="Montserrat ExtraBold"/>
            </a:endParaRPr>
          </a:p>
        </p:txBody>
      </p:sp>
      <p:sp>
        <p:nvSpPr>
          <p:cNvPr id="239" name="Google Shape;239;p1">
            <a:extLst>
              <a:ext uri="{FF2B5EF4-FFF2-40B4-BE49-F238E27FC236}">
                <a16:creationId xmlns:a16="http://schemas.microsoft.com/office/drawing/2014/main" id="{DF2001D3-B982-E4D9-6335-053A3747442C}"/>
              </a:ext>
            </a:extLst>
          </p:cNvPr>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000F5A"/>
                </a:solidFill>
                <a:latin typeface="Montserrat"/>
                <a:ea typeface="Montserrat"/>
                <a:cs typeface="Montserrat"/>
                <a:sym typeface="Montserrat"/>
              </a:rPr>
              <a:t>6</a:t>
            </a:r>
            <a:r>
              <a:rPr lang="es-ES" sz="1300" b="1" i="0" u="none" strike="noStrike" cap="none">
                <a:solidFill>
                  <a:srgbClr val="000F5A"/>
                </a:solidFill>
                <a:latin typeface="Montserrat"/>
                <a:ea typeface="Montserrat"/>
                <a:cs typeface="Montserrat"/>
                <a:sym typeface="Montserrat"/>
              </a:rPr>
              <a:t>.</a:t>
            </a:r>
            <a:endParaRPr sz="1300" b="1" i="0" u="none" strike="noStrike" cap="none">
              <a:solidFill>
                <a:srgbClr val="000F5A"/>
              </a:solidFill>
              <a:latin typeface="Montserrat"/>
              <a:ea typeface="Montserrat"/>
              <a:cs typeface="Montserrat"/>
              <a:sym typeface="Montserrat"/>
            </a:endParaRPr>
          </a:p>
        </p:txBody>
      </p:sp>
      <p:pic>
        <p:nvPicPr>
          <p:cNvPr id="6" name="Imagen 5" descr="Imagen que contiene Diagrama&#10;&#10;El contenido generado por IA puede ser incorrecto.">
            <a:extLst>
              <a:ext uri="{FF2B5EF4-FFF2-40B4-BE49-F238E27FC236}">
                <a16:creationId xmlns:a16="http://schemas.microsoft.com/office/drawing/2014/main" id="{E9D7EDD6-ACDF-51B3-18C1-C0AE64B3193E}"/>
              </a:ext>
            </a:extLst>
          </p:cNvPr>
          <p:cNvPicPr>
            <a:picLocks noChangeAspect="1"/>
          </p:cNvPicPr>
          <p:nvPr/>
        </p:nvPicPr>
        <p:blipFill>
          <a:blip r:embed="rId4"/>
          <a:stretch>
            <a:fillRect/>
          </a:stretch>
        </p:blipFill>
        <p:spPr>
          <a:xfrm>
            <a:off x="6788851" y="1089538"/>
            <a:ext cx="3965655" cy="5369125"/>
          </a:xfrm>
          <a:prstGeom prst="rect">
            <a:avLst/>
          </a:prstGeom>
        </p:spPr>
      </p:pic>
    </p:spTree>
    <p:extLst>
      <p:ext uri="{BB962C8B-B14F-4D97-AF65-F5344CB8AC3E}">
        <p14:creationId xmlns:p14="http://schemas.microsoft.com/office/powerpoint/2010/main" val="1232614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FE9BB173-AECF-57E5-D695-8D9309501537}"/>
            </a:ext>
          </a:extLst>
        </p:cNvPr>
        <p:cNvGrpSpPr/>
        <p:nvPr/>
      </p:nvGrpSpPr>
      <p:grpSpPr>
        <a:xfrm>
          <a:off x="0" y="0"/>
          <a:ext cx="0" cy="0"/>
          <a:chOff x="0" y="0"/>
          <a:chExt cx="0" cy="0"/>
        </a:xfrm>
      </p:grpSpPr>
      <p:pic>
        <p:nvPicPr>
          <p:cNvPr id="232" name="Google Shape;232;p1">
            <a:extLst>
              <a:ext uri="{FF2B5EF4-FFF2-40B4-BE49-F238E27FC236}">
                <a16:creationId xmlns:a16="http://schemas.microsoft.com/office/drawing/2014/main" id="{A61BF2DC-89FB-6B60-2D85-734E1F0D1853}"/>
              </a:ext>
            </a:extLst>
          </p:cNvPr>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233" name="Google Shape;233;p1">
            <a:extLst>
              <a:ext uri="{FF2B5EF4-FFF2-40B4-BE49-F238E27FC236}">
                <a16:creationId xmlns:a16="http://schemas.microsoft.com/office/drawing/2014/main" id="{1FFCEBE5-EEEF-DA1B-5877-DA59051C4DFA}"/>
              </a:ext>
            </a:extLst>
          </p:cNvPr>
          <p:cNvSpPr/>
          <p:nvPr/>
        </p:nvSpPr>
        <p:spPr>
          <a:xfrm>
            <a:off x="8323568" y="2180892"/>
            <a:ext cx="448111" cy="518303"/>
          </a:xfrm>
          <a:custGeom>
            <a:avLst/>
            <a:gdLst/>
            <a:ahLst/>
            <a:cxnLst/>
            <a:rect l="l" t="t" r="r" b="b"/>
            <a:pathLst>
              <a:path w="11059" h="11721" extrusionOk="0">
                <a:moveTo>
                  <a:pt x="1418" y="693"/>
                </a:moveTo>
                <a:lnTo>
                  <a:pt x="1418" y="1387"/>
                </a:lnTo>
                <a:lnTo>
                  <a:pt x="725" y="1387"/>
                </a:lnTo>
                <a:lnTo>
                  <a:pt x="725" y="693"/>
                </a:lnTo>
                <a:close/>
                <a:moveTo>
                  <a:pt x="9011" y="693"/>
                </a:moveTo>
                <a:lnTo>
                  <a:pt x="9011" y="1387"/>
                </a:lnTo>
                <a:lnTo>
                  <a:pt x="8349" y="1387"/>
                </a:lnTo>
                <a:lnTo>
                  <a:pt x="8349" y="693"/>
                </a:lnTo>
                <a:close/>
                <a:moveTo>
                  <a:pt x="7656" y="1324"/>
                </a:moveTo>
                <a:lnTo>
                  <a:pt x="7656" y="1670"/>
                </a:lnTo>
                <a:cubicBezTo>
                  <a:pt x="7656" y="1891"/>
                  <a:pt x="7813" y="2048"/>
                  <a:pt x="8034" y="2048"/>
                </a:cubicBezTo>
                <a:lnTo>
                  <a:pt x="8381" y="2048"/>
                </a:lnTo>
                <a:lnTo>
                  <a:pt x="8381" y="4222"/>
                </a:lnTo>
                <a:cubicBezTo>
                  <a:pt x="8255" y="4253"/>
                  <a:pt x="8160" y="4316"/>
                  <a:pt x="8034" y="4411"/>
                </a:cubicBezTo>
                <a:cubicBezTo>
                  <a:pt x="7845" y="4243"/>
                  <a:pt x="7614" y="4159"/>
                  <a:pt x="7369" y="4159"/>
                </a:cubicBezTo>
                <a:cubicBezTo>
                  <a:pt x="7246" y="4159"/>
                  <a:pt x="7120" y="4180"/>
                  <a:pt x="6994" y="4222"/>
                </a:cubicBezTo>
                <a:lnTo>
                  <a:pt x="6994" y="3088"/>
                </a:lnTo>
                <a:cubicBezTo>
                  <a:pt x="6994" y="2552"/>
                  <a:pt x="6522" y="2080"/>
                  <a:pt x="5986" y="2080"/>
                </a:cubicBezTo>
                <a:cubicBezTo>
                  <a:pt x="5419" y="2080"/>
                  <a:pt x="4947" y="2552"/>
                  <a:pt x="4947" y="3088"/>
                </a:cubicBezTo>
                <a:lnTo>
                  <a:pt x="4947" y="6459"/>
                </a:lnTo>
                <a:lnTo>
                  <a:pt x="4789" y="6301"/>
                </a:lnTo>
                <a:cubicBezTo>
                  <a:pt x="4600" y="6097"/>
                  <a:pt x="4340" y="5994"/>
                  <a:pt x="4076" y="5994"/>
                </a:cubicBezTo>
                <a:cubicBezTo>
                  <a:pt x="3812" y="5994"/>
                  <a:pt x="3545" y="6097"/>
                  <a:pt x="3340" y="6301"/>
                </a:cubicBezTo>
                <a:cubicBezTo>
                  <a:pt x="2962" y="6679"/>
                  <a:pt x="2962" y="7341"/>
                  <a:pt x="3340" y="7751"/>
                </a:cubicBezTo>
                <a:lnTo>
                  <a:pt x="3812" y="8223"/>
                </a:lnTo>
                <a:lnTo>
                  <a:pt x="2111" y="8223"/>
                </a:lnTo>
                <a:lnTo>
                  <a:pt x="2111" y="7908"/>
                </a:lnTo>
                <a:cubicBezTo>
                  <a:pt x="2111" y="7719"/>
                  <a:pt x="1954" y="7561"/>
                  <a:pt x="1765" y="7561"/>
                </a:cubicBezTo>
                <a:lnTo>
                  <a:pt x="1418" y="7561"/>
                </a:lnTo>
                <a:lnTo>
                  <a:pt x="1418" y="2048"/>
                </a:lnTo>
                <a:lnTo>
                  <a:pt x="1765" y="2048"/>
                </a:lnTo>
                <a:cubicBezTo>
                  <a:pt x="1954" y="2048"/>
                  <a:pt x="2111" y="1891"/>
                  <a:pt x="2111" y="1670"/>
                </a:cubicBezTo>
                <a:lnTo>
                  <a:pt x="2111" y="1324"/>
                </a:lnTo>
                <a:close/>
                <a:moveTo>
                  <a:pt x="1418" y="8255"/>
                </a:moveTo>
                <a:lnTo>
                  <a:pt x="1418" y="8948"/>
                </a:lnTo>
                <a:lnTo>
                  <a:pt x="725" y="8948"/>
                </a:lnTo>
                <a:lnTo>
                  <a:pt x="725" y="8255"/>
                </a:lnTo>
                <a:close/>
                <a:moveTo>
                  <a:pt x="5955" y="2836"/>
                </a:moveTo>
                <a:cubicBezTo>
                  <a:pt x="6144" y="2836"/>
                  <a:pt x="6301" y="2993"/>
                  <a:pt x="6301" y="3182"/>
                </a:cubicBezTo>
                <a:lnTo>
                  <a:pt x="6301" y="6616"/>
                </a:lnTo>
                <a:cubicBezTo>
                  <a:pt x="6301" y="6805"/>
                  <a:pt x="6459" y="6963"/>
                  <a:pt x="6648" y="6963"/>
                </a:cubicBezTo>
                <a:cubicBezTo>
                  <a:pt x="6837" y="6963"/>
                  <a:pt x="6994" y="6805"/>
                  <a:pt x="6994" y="6616"/>
                </a:cubicBezTo>
                <a:lnTo>
                  <a:pt x="6994" y="5230"/>
                </a:lnTo>
                <a:cubicBezTo>
                  <a:pt x="6994" y="5041"/>
                  <a:pt x="7152" y="4884"/>
                  <a:pt x="7372" y="4884"/>
                </a:cubicBezTo>
                <a:cubicBezTo>
                  <a:pt x="7561" y="4884"/>
                  <a:pt x="7719" y="5041"/>
                  <a:pt x="7719" y="5230"/>
                </a:cubicBezTo>
                <a:lnTo>
                  <a:pt x="7719" y="6616"/>
                </a:lnTo>
                <a:cubicBezTo>
                  <a:pt x="7719" y="6805"/>
                  <a:pt x="7876" y="6963"/>
                  <a:pt x="8066" y="6963"/>
                </a:cubicBezTo>
                <a:cubicBezTo>
                  <a:pt x="8255" y="6963"/>
                  <a:pt x="8412" y="6805"/>
                  <a:pt x="8412" y="6616"/>
                </a:cubicBezTo>
                <a:lnTo>
                  <a:pt x="8412" y="5230"/>
                </a:lnTo>
                <a:cubicBezTo>
                  <a:pt x="8412" y="5041"/>
                  <a:pt x="8570" y="4884"/>
                  <a:pt x="8790" y="4884"/>
                </a:cubicBezTo>
                <a:cubicBezTo>
                  <a:pt x="8979" y="4884"/>
                  <a:pt x="9137" y="5041"/>
                  <a:pt x="9137" y="5230"/>
                </a:cubicBezTo>
                <a:lnTo>
                  <a:pt x="9137" y="6616"/>
                </a:lnTo>
                <a:cubicBezTo>
                  <a:pt x="9137" y="6805"/>
                  <a:pt x="9294" y="6963"/>
                  <a:pt x="9483" y="6963"/>
                </a:cubicBezTo>
                <a:cubicBezTo>
                  <a:pt x="9672" y="6963"/>
                  <a:pt x="9830" y="6805"/>
                  <a:pt x="9830" y="6616"/>
                </a:cubicBezTo>
                <a:lnTo>
                  <a:pt x="9830" y="5955"/>
                </a:lnTo>
                <a:cubicBezTo>
                  <a:pt x="9704" y="5703"/>
                  <a:pt x="9861" y="5545"/>
                  <a:pt x="10019" y="5545"/>
                </a:cubicBezTo>
                <a:cubicBezTo>
                  <a:pt x="10239" y="5545"/>
                  <a:pt x="10397" y="5703"/>
                  <a:pt x="10397" y="5892"/>
                </a:cubicBezTo>
                <a:lnTo>
                  <a:pt x="10397" y="7057"/>
                </a:lnTo>
                <a:cubicBezTo>
                  <a:pt x="10397" y="8003"/>
                  <a:pt x="10176" y="8885"/>
                  <a:pt x="9830" y="9672"/>
                </a:cubicBezTo>
                <a:lnTo>
                  <a:pt x="6144" y="9672"/>
                </a:lnTo>
                <a:lnTo>
                  <a:pt x="3812" y="7372"/>
                </a:lnTo>
                <a:cubicBezTo>
                  <a:pt x="3686" y="7246"/>
                  <a:pt x="3686" y="6994"/>
                  <a:pt x="3812" y="6900"/>
                </a:cubicBezTo>
                <a:cubicBezTo>
                  <a:pt x="3875" y="6837"/>
                  <a:pt x="3962" y="6805"/>
                  <a:pt x="4049" y="6805"/>
                </a:cubicBezTo>
                <a:cubicBezTo>
                  <a:pt x="4135" y="6805"/>
                  <a:pt x="4222" y="6837"/>
                  <a:pt x="4285" y="6900"/>
                </a:cubicBezTo>
                <a:lnTo>
                  <a:pt x="5010" y="7593"/>
                </a:lnTo>
                <a:cubicBezTo>
                  <a:pt x="5075" y="7659"/>
                  <a:pt x="5163" y="7690"/>
                  <a:pt x="5251" y="7690"/>
                </a:cubicBezTo>
                <a:cubicBezTo>
                  <a:pt x="5415" y="7690"/>
                  <a:pt x="5577" y="7578"/>
                  <a:pt x="5577" y="7372"/>
                </a:cubicBezTo>
                <a:lnTo>
                  <a:pt x="5577" y="3182"/>
                </a:lnTo>
                <a:cubicBezTo>
                  <a:pt x="5577" y="2993"/>
                  <a:pt x="5734" y="2836"/>
                  <a:pt x="5955" y="2836"/>
                </a:cubicBezTo>
                <a:close/>
                <a:moveTo>
                  <a:pt x="9672" y="10302"/>
                </a:moveTo>
                <a:lnTo>
                  <a:pt x="9672" y="10680"/>
                </a:lnTo>
                <a:cubicBezTo>
                  <a:pt x="9704" y="10869"/>
                  <a:pt x="9546" y="11027"/>
                  <a:pt x="9357" y="11027"/>
                </a:cubicBezTo>
                <a:lnTo>
                  <a:pt x="6616" y="11027"/>
                </a:lnTo>
                <a:cubicBezTo>
                  <a:pt x="6396" y="11027"/>
                  <a:pt x="6238" y="10869"/>
                  <a:pt x="6238" y="10680"/>
                </a:cubicBezTo>
                <a:lnTo>
                  <a:pt x="6238" y="10302"/>
                </a:lnTo>
                <a:close/>
                <a:moveTo>
                  <a:pt x="347" y="0"/>
                </a:moveTo>
                <a:cubicBezTo>
                  <a:pt x="158" y="0"/>
                  <a:pt x="0" y="158"/>
                  <a:pt x="0" y="347"/>
                </a:cubicBezTo>
                <a:lnTo>
                  <a:pt x="0" y="1733"/>
                </a:lnTo>
                <a:cubicBezTo>
                  <a:pt x="0" y="1922"/>
                  <a:pt x="158" y="2080"/>
                  <a:pt x="347" y="2080"/>
                </a:cubicBezTo>
                <a:lnTo>
                  <a:pt x="693" y="2080"/>
                </a:lnTo>
                <a:lnTo>
                  <a:pt x="693" y="7593"/>
                </a:lnTo>
                <a:lnTo>
                  <a:pt x="347" y="7593"/>
                </a:lnTo>
                <a:cubicBezTo>
                  <a:pt x="158" y="7593"/>
                  <a:pt x="0" y="7751"/>
                  <a:pt x="0" y="7940"/>
                </a:cubicBezTo>
                <a:lnTo>
                  <a:pt x="0" y="9326"/>
                </a:lnTo>
                <a:cubicBezTo>
                  <a:pt x="0" y="9515"/>
                  <a:pt x="158" y="9672"/>
                  <a:pt x="347" y="9672"/>
                </a:cubicBezTo>
                <a:lnTo>
                  <a:pt x="1733" y="9672"/>
                </a:lnTo>
                <a:cubicBezTo>
                  <a:pt x="1922" y="9672"/>
                  <a:pt x="2080" y="9515"/>
                  <a:pt x="2080" y="9326"/>
                </a:cubicBezTo>
                <a:lnTo>
                  <a:pt x="2080" y="8979"/>
                </a:lnTo>
                <a:lnTo>
                  <a:pt x="4442" y="8979"/>
                </a:lnTo>
                <a:lnTo>
                  <a:pt x="5577" y="10113"/>
                </a:lnTo>
                <a:lnTo>
                  <a:pt x="5577" y="10712"/>
                </a:lnTo>
                <a:cubicBezTo>
                  <a:pt x="5577" y="11248"/>
                  <a:pt x="6049" y="11720"/>
                  <a:pt x="6616" y="11720"/>
                </a:cubicBezTo>
                <a:lnTo>
                  <a:pt x="9357" y="11720"/>
                </a:lnTo>
                <a:cubicBezTo>
                  <a:pt x="9924" y="11720"/>
                  <a:pt x="10397" y="11248"/>
                  <a:pt x="10397" y="10712"/>
                </a:cubicBezTo>
                <a:lnTo>
                  <a:pt x="10397" y="10113"/>
                </a:lnTo>
                <a:cubicBezTo>
                  <a:pt x="10806" y="9200"/>
                  <a:pt x="11058" y="8160"/>
                  <a:pt x="11058" y="7026"/>
                </a:cubicBezTo>
                <a:lnTo>
                  <a:pt x="11058" y="5892"/>
                </a:lnTo>
                <a:cubicBezTo>
                  <a:pt x="11058" y="5325"/>
                  <a:pt x="10617" y="4884"/>
                  <a:pt x="10019" y="4884"/>
                </a:cubicBezTo>
                <a:cubicBezTo>
                  <a:pt x="9924" y="4884"/>
                  <a:pt x="9767" y="4915"/>
                  <a:pt x="9641" y="4947"/>
                </a:cubicBezTo>
                <a:cubicBezTo>
                  <a:pt x="9546" y="4632"/>
                  <a:pt x="9326" y="4379"/>
                  <a:pt x="9011" y="4253"/>
                </a:cubicBezTo>
                <a:lnTo>
                  <a:pt x="9011" y="2080"/>
                </a:lnTo>
                <a:lnTo>
                  <a:pt x="9357" y="2080"/>
                </a:lnTo>
                <a:cubicBezTo>
                  <a:pt x="9546" y="2080"/>
                  <a:pt x="9735" y="1922"/>
                  <a:pt x="9735" y="1733"/>
                </a:cubicBezTo>
                <a:lnTo>
                  <a:pt x="9735" y="347"/>
                </a:lnTo>
                <a:cubicBezTo>
                  <a:pt x="9735" y="158"/>
                  <a:pt x="9546" y="0"/>
                  <a:pt x="9357" y="0"/>
                </a:cubicBezTo>
                <a:lnTo>
                  <a:pt x="7971" y="0"/>
                </a:lnTo>
                <a:cubicBezTo>
                  <a:pt x="7782" y="0"/>
                  <a:pt x="7624" y="158"/>
                  <a:pt x="7624" y="347"/>
                </a:cubicBezTo>
                <a:lnTo>
                  <a:pt x="7624" y="693"/>
                </a:lnTo>
                <a:lnTo>
                  <a:pt x="2080" y="693"/>
                </a:lnTo>
                <a:lnTo>
                  <a:pt x="2080" y="347"/>
                </a:lnTo>
                <a:cubicBezTo>
                  <a:pt x="2080" y="158"/>
                  <a:pt x="1922" y="0"/>
                  <a:pt x="173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34" name="Google Shape;234;p1">
            <a:extLst>
              <a:ext uri="{FF2B5EF4-FFF2-40B4-BE49-F238E27FC236}">
                <a16:creationId xmlns:a16="http://schemas.microsoft.com/office/drawing/2014/main" id="{FB0098BA-3820-40B8-2CB3-B4915A9F2D53}"/>
              </a:ext>
            </a:extLst>
          </p:cNvPr>
          <p:cNvSpPr txBox="1"/>
          <p:nvPr/>
        </p:nvSpPr>
        <p:spPr>
          <a:xfrm>
            <a:off x="797825" y="1099459"/>
            <a:ext cx="5701500" cy="5262949"/>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MX" sz="1500" dirty="0">
                <a:latin typeface="Montserrat"/>
                <a:ea typeface="Montserrat"/>
                <a:cs typeface="Montserrat"/>
                <a:sym typeface="Montserrat"/>
              </a:rPr>
              <a:t>Define cómo se ubica un elemento respecto a su contenedor o al documento completo. Las principales propiedades para posicionar son position, top, </a:t>
            </a:r>
            <a:r>
              <a:rPr lang="es-MX" sz="1500" dirty="0" err="1">
                <a:latin typeface="Montserrat"/>
                <a:ea typeface="Montserrat"/>
                <a:cs typeface="Montserrat"/>
                <a:sym typeface="Montserrat"/>
              </a:rPr>
              <a:t>left</a:t>
            </a:r>
            <a:r>
              <a:rPr lang="es-MX" sz="1500" dirty="0">
                <a:latin typeface="Montserrat"/>
                <a:ea typeface="Montserrat"/>
                <a:cs typeface="Montserrat"/>
                <a:sym typeface="Montserrat"/>
              </a:rPr>
              <a:t>, </a:t>
            </a:r>
            <a:r>
              <a:rPr lang="es-MX" sz="1500" dirty="0" err="1">
                <a:latin typeface="Montserrat"/>
                <a:ea typeface="Montserrat"/>
                <a:cs typeface="Montserrat"/>
                <a:sym typeface="Montserrat"/>
              </a:rPr>
              <a:t>right</a:t>
            </a:r>
            <a:r>
              <a:rPr lang="es-MX" sz="1500" dirty="0">
                <a:latin typeface="Montserrat"/>
                <a:ea typeface="Montserrat"/>
                <a:cs typeface="Montserrat"/>
                <a:sym typeface="Montserrat"/>
              </a:rPr>
              <a:t>, bottom y z-</a:t>
            </a:r>
            <a:r>
              <a:rPr lang="es-MX" sz="1500" dirty="0" err="1">
                <a:latin typeface="Montserrat"/>
                <a:ea typeface="Montserrat"/>
                <a:cs typeface="Montserrat"/>
                <a:sym typeface="Montserrat"/>
              </a:rPr>
              <a:t>index</a:t>
            </a:r>
            <a:r>
              <a:rPr lang="es-MX" sz="1500" dirty="0">
                <a:latin typeface="Montserrat"/>
                <a:ea typeface="Montserrat"/>
                <a:cs typeface="Montserrat"/>
                <a:sym typeface="Montserrat"/>
              </a:rPr>
              <a:t>.</a:t>
            </a:r>
          </a:p>
          <a:p>
            <a:pPr marL="0" lvl="0" indent="0" algn="just" rtl="0">
              <a:spcBef>
                <a:spcPts val="0"/>
              </a:spcBef>
              <a:spcAft>
                <a:spcPts val="0"/>
              </a:spcAft>
              <a:buNone/>
            </a:pPr>
            <a:endParaRPr lang="es-MX" sz="1500" dirty="0">
              <a:latin typeface="Montserrat"/>
              <a:ea typeface="Montserrat"/>
              <a:cs typeface="Montserrat"/>
              <a:sym typeface="Montserrat"/>
            </a:endParaRPr>
          </a:p>
          <a:p>
            <a:pPr marL="0" lvl="0" indent="0" algn="just" rtl="0">
              <a:spcBef>
                <a:spcPts val="0"/>
              </a:spcBef>
              <a:spcAft>
                <a:spcPts val="0"/>
              </a:spcAft>
              <a:buNone/>
            </a:pPr>
            <a:r>
              <a:rPr lang="es-MX" sz="1600" b="1" dirty="0">
                <a:latin typeface="Montserrat"/>
                <a:ea typeface="Montserrat"/>
                <a:cs typeface="Montserrat"/>
                <a:sym typeface="Montserrat"/>
              </a:rPr>
              <a:t>Tipos de posicionamiento:</a:t>
            </a:r>
          </a:p>
          <a:p>
            <a:pPr marL="342900" lvl="0" indent="-342900" algn="just" rtl="0">
              <a:spcBef>
                <a:spcPts val="0"/>
              </a:spcBef>
              <a:spcAft>
                <a:spcPts val="0"/>
              </a:spcAft>
              <a:buFont typeface="+mj-lt"/>
              <a:buAutoNum type="arabicPeriod"/>
            </a:pPr>
            <a:r>
              <a:rPr lang="es-MX" sz="1500" b="1" dirty="0" err="1">
                <a:latin typeface="Montserrat"/>
                <a:ea typeface="Montserrat"/>
                <a:cs typeface="Montserrat"/>
                <a:sym typeface="Montserrat"/>
              </a:rPr>
              <a:t>Static</a:t>
            </a:r>
            <a:r>
              <a:rPr lang="es-MX" sz="1500" b="1" dirty="0">
                <a:latin typeface="Montserrat"/>
                <a:ea typeface="Montserrat"/>
                <a:cs typeface="Montserrat"/>
                <a:sym typeface="Montserrat"/>
              </a:rPr>
              <a:t> (por defecto): </a:t>
            </a:r>
            <a:r>
              <a:rPr lang="es-MX" sz="1500" dirty="0">
                <a:latin typeface="Montserrat"/>
                <a:ea typeface="Montserrat"/>
                <a:cs typeface="Montserrat"/>
                <a:sym typeface="Montserrat"/>
              </a:rPr>
              <a:t>Sigue el flujo normal del documento. No se puede mover con top, </a:t>
            </a:r>
            <a:r>
              <a:rPr lang="es-MX" sz="1500" dirty="0" err="1">
                <a:latin typeface="Montserrat"/>
                <a:ea typeface="Montserrat"/>
                <a:cs typeface="Montserrat"/>
                <a:sym typeface="Montserrat"/>
              </a:rPr>
              <a:t>left</a:t>
            </a:r>
            <a:r>
              <a:rPr lang="es-MX" sz="1500" dirty="0">
                <a:latin typeface="Montserrat"/>
                <a:ea typeface="Montserrat"/>
                <a:cs typeface="Montserrat"/>
                <a:sym typeface="Montserrat"/>
              </a:rPr>
              <a:t>, etc.</a:t>
            </a:r>
          </a:p>
          <a:p>
            <a:pPr marL="342900" lvl="0" indent="-342900" algn="just" rtl="0">
              <a:spcBef>
                <a:spcPts val="0"/>
              </a:spcBef>
              <a:spcAft>
                <a:spcPts val="0"/>
              </a:spcAft>
              <a:buFont typeface="+mj-lt"/>
              <a:buAutoNum type="arabicPeriod"/>
            </a:pPr>
            <a:endParaRPr lang="es-MX" sz="1500" dirty="0">
              <a:latin typeface="Montserrat"/>
              <a:ea typeface="Montserrat"/>
              <a:cs typeface="Montserrat"/>
              <a:sym typeface="Montserrat"/>
            </a:endParaRPr>
          </a:p>
          <a:p>
            <a:pPr marL="342900" lvl="0" indent="-342900" algn="just" rtl="0">
              <a:spcBef>
                <a:spcPts val="0"/>
              </a:spcBef>
              <a:spcAft>
                <a:spcPts val="0"/>
              </a:spcAft>
              <a:buFont typeface="+mj-lt"/>
              <a:buAutoNum type="arabicPeriod"/>
            </a:pPr>
            <a:r>
              <a:rPr lang="es-MX" sz="1500" b="1" dirty="0">
                <a:latin typeface="Montserrat"/>
                <a:ea typeface="Montserrat"/>
                <a:cs typeface="Montserrat"/>
                <a:sym typeface="Montserrat"/>
              </a:rPr>
              <a:t>Relative: </a:t>
            </a:r>
            <a:r>
              <a:rPr lang="es-MX" sz="1500" dirty="0">
                <a:latin typeface="Montserrat"/>
                <a:ea typeface="Montserrat"/>
                <a:cs typeface="Montserrat"/>
                <a:sym typeface="Montserrat"/>
              </a:rPr>
              <a:t>Se posiciona respecto a su posición </a:t>
            </a:r>
            <a:r>
              <a:rPr lang="es-MX" sz="1500" dirty="0" err="1">
                <a:latin typeface="Montserrat"/>
                <a:ea typeface="Montserrat"/>
                <a:cs typeface="Montserrat"/>
                <a:sym typeface="Montserrat"/>
              </a:rPr>
              <a:t>original.Afecta</a:t>
            </a:r>
            <a:r>
              <a:rPr lang="es-MX" sz="1500" dirty="0">
                <a:latin typeface="Montserrat"/>
                <a:ea typeface="Montserrat"/>
                <a:cs typeface="Montserrat"/>
                <a:sym typeface="Montserrat"/>
              </a:rPr>
              <a:t> solo su propia posición sin sacar al elemento del flujo normal.</a:t>
            </a:r>
          </a:p>
          <a:p>
            <a:pPr marL="342900" lvl="0" indent="-342900" algn="just" rtl="0">
              <a:spcBef>
                <a:spcPts val="0"/>
              </a:spcBef>
              <a:spcAft>
                <a:spcPts val="0"/>
              </a:spcAft>
              <a:buFont typeface="+mj-lt"/>
              <a:buAutoNum type="arabicPeriod"/>
            </a:pPr>
            <a:endParaRPr lang="es-MX" sz="1500" dirty="0">
              <a:latin typeface="Montserrat"/>
              <a:ea typeface="Montserrat"/>
              <a:cs typeface="Montserrat"/>
              <a:sym typeface="Montserrat"/>
            </a:endParaRPr>
          </a:p>
          <a:p>
            <a:pPr marL="342900" lvl="0" indent="-342900" algn="just" rtl="0">
              <a:spcBef>
                <a:spcPts val="0"/>
              </a:spcBef>
              <a:spcAft>
                <a:spcPts val="0"/>
              </a:spcAft>
              <a:buFont typeface="+mj-lt"/>
              <a:buAutoNum type="arabicPeriod"/>
            </a:pPr>
            <a:r>
              <a:rPr lang="es-MX" sz="1500" b="1" dirty="0">
                <a:latin typeface="Montserrat"/>
                <a:ea typeface="Montserrat"/>
                <a:cs typeface="Montserrat"/>
                <a:sym typeface="Montserrat"/>
              </a:rPr>
              <a:t>Absolute: </a:t>
            </a:r>
            <a:r>
              <a:rPr lang="es-MX" sz="1500" dirty="0">
                <a:latin typeface="Montserrat"/>
                <a:ea typeface="Montserrat"/>
                <a:cs typeface="Montserrat"/>
                <a:sym typeface="Montserrat"/>
              </a:rPr>
              <a:t>Se posiciona respecto al primer ancestro posicionado (no </a:t>
            </a:r>
            <a:r>
              <a:rPr lang="es-MX" sz="1500" dirty="0" err="1">
                <a:latin typeface="Montserrat"/>
                <a:ea typeface="Montserrat"/>
                <a:cs typeface="Montserrat"/>
                <a:sym typeface="Montserrat"/>
              </a:rPr>
              <a:t>static</a:t>
            </a:r>
            <a:r>
              <a:rPr lang="es-MX" sz="1500" dirty="0">
                <a:latin typeface="Montserrat"/>
                <a:ea typeface="Montserrat"/>
                <a:cs typeface="Montserrat"/>
                <a:sym typeface="Montserrat"/>
              </a:rPr>
              <a:t>).Se saca del flujo normal.</a:t>
            </a:r>
          </a:p>
          <a:p>
            <a:pPr marL="342900" lvl="0" indent="-342900" algn="just" rtl="0">
              <a:spcBef>
                <a:spcPts val="0"/>
              </a:spcBef>
              <a:spcAft>
                <a:spcPts val="0"/>
              </a:spcAft>
              <a:buFont typeface="+mj-lt"/>
              <a:buAutoNum type="arabicPeriod"/>
            </a:pPr>
            <a:endParaRPr lang="es-MX" sz="1500" dirty="0">
              <a:latin typeface="Montserrat"/>
              <a:ea typeface="Montserrat"/>
              <a:cs typeface="Montserrat"/>
              <a:sym typeface="Montserrat"/>
            </a:endParaRPr>
          </a:p>
          <a:p>
            <a:pPr marL="342900" lvl="0" indent="-342900" algn="just" rtl="0">
              <a:spcBef>
                <a:spcPts val="0"/>
              </a:spcBef>
              <a:spcAft>
                <a:spcPts val="0"/>
              </a:spcAft>
              <a:buFont typeface="+mj-lt"/>
              <a:buAutoNum type="arabicPeriod"/>
            </a:pPr>
            <a:r>
              <a:rPr lang="es-MX" sz="1500" b="1" dirty="0" err="1">
                <a:latin typeface="Montserrat"/>
                <a:ea typeface="Montserrat"/>
                <a:cs typeface="Montserrat"/>
                <a:sym typeface="Montserrat"/>
              </a:rPr>
              <a:t>Fixed</a:t>
            </a:r>
            <a:r>
              <a:rPr lang="es-MX" sz="1500" b="1" dirty="0">
                <a:latin typeface="Montserrat"/>
                <a:ea typeface="Montserrat"/>
                <a:cs typeface="Montserrat"/>
                <a:sym typeface="Montserrat"/>
              </a:rPr>
              <a:t>: </a:t>
            </a:r>
            <a:r>
              <a:rPr lang="es-MX" sz="1500" dirty="0">
                <a:latin typeface="Montserrat"/>
                <a:ea typeface="Montserrat"/>
                <a:cs typeface="Montserrat"/>
                <a:sym typeface="Montserrat"/>
              </a:rPr>
              <a:t>Se fija en relación a la ventana del </a:t>
            </a:r>
            <a:r>
              <a:rPr lang="es-MX" sz="1500" dirty="0" err="1">
                <a:latin typeface="Montserrat"/>
                <a:ea typeface="Montserrat"/>
                <a:cs typeface="Montserrat"/>
                <a:sym typeface="Montserrat"/>
              </a:rPr>
              <a:t>navegador.Permanece</a:t>
            </a:r>
            <a:r>
              <a:rPr lang="es-MX" sz="1500" dirty="0">
                <a:latin typeface="Montserrat"/>
                <a:ea typeface="Montserrat"/>
                <a:cs typeface="Montserrat"/>
                <a:sym typeface="Montserrat"/>
              </a:rPr>
              <a:t> visible aunque se haga </a:t>
            </a:r>
            <a:r>
              <a:rPr lang="es-MX" sz="1500" dirty="0" err="1">
                <a:latin typeface="Montserrat"/>
                <a:ea typeface="Montserrat"/>
                <a:cs typeface="Montserrat"/>
                <a:sym typeface="Montserrat"/>
              </a:rPr>
              <a:t>scroll</a:t>
            </a:r>
            <a:r>
              <a:rPr lang="es-MX" sz="1500" dirty="0">
                <a:latin typeface="Montserrat"/>
                <a:ea typeface="Montserrat"/>
                <a:cs typeface="Montserrat"/>
                <a:sym typeface="Montserrat"/>
              </a:rPr>
              <a:t>.</a:t>
            </a:r>
          </a:p>
          <a:p>
            <a:pPr marL="342900" lvl="0" indent="-342900" algn="just" rtl="0">
              <a:spcBef>
                <a:spcPts val="0"/>
              </a:spcBef>
              <a:spcAft>
                <a:spcPts val="0"/>
              </a:spcAft>
              <a:buFont typeface="+mj-lt"/>
              <a:buAutoNum type="arabicPeriod"/>
            </a:pPr>
            <a:endParaRPr lang="es-MX" sz="1500" dirty="0">
              <a:latin typeface="Montserrat"/>
              <a:ea typeface="Montserrat"/>
              <a:cs typeface="Montserrat"/>
              <a:sym typeface="Montserrat"/>
            </a:endParaRPr>
          </a:p>
          <a:p>
            <a:pPr marL="342900" lvl="0" indent="-342900" algn="just" rtl="0">
              <a:spcBef>
                <a:spcPts val="0"/>
              </a:spcBef>
              <a:spcAft>
                <a:spcPts val="0"/>
              </a:spcAft>
              <a:buFont typeface="+mj-lt"/>
              <a:buAutoNum type="arabicPeriod"/>
            </a:pPr>
            <a:r>
              <a:rPr lang="es-MX" sz="1500" b="1" dirty="0" err="1">
                <a:latin typeface="Montserrat"/>
                <a:ea typeface="Montserrat"/>
                <a:cs typeface="Montserrat"/>
                <a:sym typeface="Montserrat"/>
              </a:rPr>
              <a:t>Sticky</a:t>
            </a:r>
            <a:r>
              <a:rPr lang="es-MX" sz="1500" b="1" dirty="0">
                <a:latin typeface="Montserrat"/>
                <a:ea typeface="Montserrat"/>
                <a:cs typeface="Montserrat"/>
                <a:sym typeface="Montserrat"/>
              </a:rPr>
              <a:t>: </a:t>
            </a:r>
            <a:r>
              <a:rPr lang="es-MX" sz="1500" dirty="0">
                <a:latin typeface="Montserrat"/>
                <a:ea typeface="Montserrat"/>
                <a:cs typeface="Montserrat"/>
                <a:sym typeface="Montserrat"/>
              </a:rPr>
              <a:t>Combina comportamiento de relative y </a:t>
            </a:r>
            <a:r>
              <a:rPr lang="es-MX" sz="1500" dirty="0" err="1">
                <a:latin typeface="Montserrat"/>
                <a:ea typeface="Montserrat"/>
                <a:cs typeface="Montserrat"/>
                <a:sym typeface="Montserrat"/>
              </a:rPr>
              <a:t>fixed.Cambia</a:t>
            </a:r>
            <a:r>
              <a:rPr lang="es-MX" sz="1500" dirty="0">
                <a:latin typeface="Montserrat"/>
                <a:ea typeface="Montserrat"/>
                <a:cs typeface="Montserrat"/>
                <a:sym typeface="Montserrat"/>
              </a:rPr>
              <a:t> a </a:t>
            </a:r>
            <a:r>
              <a:rPr lang="es-MX" sz="1500" dirty="0" err="1">
                <a:latin typeface="Montserrat"/>
                <a:ea typeface="Montserrat"/>
                <a:cs typeface="Montserrat"/>
                <a:sym typeface="Montserrat"/>
              </a:rPr>
              <a:t>fixed</a:t>
            </a:r>
            <a:r>
              <a:rPr lang="es-MX" sz="1500" dirty="0">
                <a:latin typeface="Montserrat"/>
                <a:ea typeface="Montserrat"/>
                <a:cs typeface="Montserrat"/>
                <a:sym typeface="Montserrat"/>
              </a:rPr>
              <a:t> al hacer </a:t>
            </a:r>
            <a:r>
              <a:rPr lang="es-MX" sz="1500" dirty="0" err="1">
                <a:latin typeface="Montserrat"/>
                <a:ea typeface="Montserrat"/>
                <a:cs typeface="Montserrat"/>
                <a:sym typeface="Montserrat"/>
              </a:rPr>
              <a:t>scroll</a:t>
            </a:r>
            <a:r>
              <a:rPr lang="es-MX" sz="1500" dirty="0">
                <a:latin typeface="Montserrat"/>
                <a:ea typeface="Montserrat"/>
                <a:cs typeface="Montserrat"/>
                <a:sym typeface="Montserrat"/>
              </a:rPr>
              <a:t> cuando alcanza una posición específica.</a:t>
            </a:r>
          </a:p>
        </p:txBody>
      </p:sp>
      <p:sp>
        <p:nvSpPr>
          <p:cNvPr id="236" name="Google Shape;236;p1">
            <a:extLst>
              <a:ext uri="{FF2B5EF4-FFF2-40B4-BE49-F238E27FC236}">
                <a16:creationId xmlns:a16="http://schemas.microsoft.com/office/drawing/2014/main" id="{2C72830C-6C3E-1B2B-4580-58706A634E87}"/>
              </a:ext>
            </a:extLst>
          </p:cNvPr>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7" name="Google Shape;237;p1">
            <a:extLst>
              <a:ext uri="{FF2B5EF4-FFF2-40B4-BE49-F238E27FC236}">
                <a16:creationId xmlns:a16="http://schemas.microsoft.com/office/drawing/2014/main" id="{D2E1C415-71D5-5B23-A701-D3CE44C56052}"/>
              </a:ext>
            </a:extLst>
          </p:cNvPr>
          <p:cNvSpPr txBox="1"/>
          <p:nvPr/>
        </p:nvSpPr>
        <p:spPr>
          <a:xfrm>
            <a:off x="797825" y="499325"/>
            <a:ext cx="5701500" cy="60013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n-US" sz="3000" dirty="0" err="1">
                <a:solidFill>
                  <a:srgbClr val="000F5A"/>
                </a:solidFill>
                <a:latin typeface="Montserrat ExtraBold"/>
                <a:ea typeface="Montserrat ExtraBold"/>
                <a:cs typeface="Montserrat ExtraBold"/>
                <a:sym typeface="Montserrat ExtraBold"/>
              </a:rPr>
              <a:t>Posicionamiento</a:t>
            </a:r>
            <a:endParaRPr sz="3000" dirty="0">
              <a:solidFill>
                <a:srgbClr val="2A8BFC"/>
              </a:solidFill>
              <a:latin typeface="Montserrat ExtraBold"/>
              <a:ea typeface="Montserrat ExtraBold"/>
              <a:cs typeface="Montserrat ExtraBold"/>
              <a:sym typeface="Montserrat ExtraBold"/>
            </a:endParaRPr>
          </a:p>
        </p:txBody>
      </p:sp>
      <p:sp>
        <p:nvSpPr>
          <p:cNvPr id="239" name="Google Shape;239;p1">
            <a:extLst>
              <a:ext uri="{FF2B5EF4-FFF2-40B4-BE49-F238E27FC236}">
                <a16:creationId xmlns:a16="http://schemas.microsoft.com/office/drawing/2014/main" id="{B5549669-9511-E3B3-3BD0-F5936E59BCDD}"/>
              </a:ext>
            </a:extLst>
          </p:cNvPr>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000F5A"/>
                </a:solidFill>
                <a:latin typeface="Montserrat"/>
                <a:ea typeface="Montserrat"/>
                <a:cs typeface="Montserrat"/>
                <a:sym typeface="Montserrat"/>
              </a:rPr>
              <a:t>6</a:t>
            </a:r>
            <a:r>
              <a:rPr lang="es-ES" sz="1300" b="1" i="0" u="none" strike="noStrike" cap="none">
                <a:solidFill>
                  <a:srgbClr val="000F5A"/>
                </a:solidFill>
                <a:latin typeface="Montserrat"/>
                <a:ea typeface="Montserrat"/>
                <a:cs typeface="Montserrat"/>
                <a:sym typeface="Montserrat"/>
              </a:rPr>
              <a:t>.</a:t>
            </a:r>
            <a:endParaRPr sz="1300" b="1" i="0" u="none" strike="noStrike" cap="none">
              <a:solidFill>
                <a:srgbClr val="000F5A"/>
              </a:solidFill>
              <a:latin typeface="Montserrat"/>
              <a:ea typeface="Montserrat"/>
              <a:cs typeface="Montserrat"/>
              <a:sym typeface="Montserrat"/>
            </a:endParaRPr>
          </a:p>
        </p:txBody>
      </p:sp>
      <p:pic>
        <p:nvPicPr>
          <p:cNvPr id="5" name="Picture 4">
            <a:extLst>
              <a:ext uri="{FF2B5EF4-FFF2-40B4-BE49-F238E27FC236}">
                <a16:creationId xmlns:a16="http://schemas.microsoft.com/office/drawing/2014/main" id="{A1AAD792-DA3D-D4FB-99CA-6509D6644E46}"/>
              </a:ext>
            </a:extLst>
          </p:cNvPr>
          <p:cNvPicPr>
            <a:picLocks noChangeAspect="1"/>
          </p:cNvPicPr>
          <p:nvPr/>
        </p:nvPicPr>
        <p:blipFill>
          <a:blip r:embed="rId4"/>
          <a:stretch>
            <a:fillRect/>
          </a:stretch>
        </p:blipFill>
        <p:spPr>
          <a:xfrm>
            <a:off x="6679095" y="2315566"/>
            <a:ext cx="5434554" cy="1843240"/>
          </a:xfrm>
          <a:prstGeom prst="rect">
            <a:avLst/>
          </a:prstGeom>
        </p:spPr>
      </p:pic>
    </p:spTree>
    <p:extLst>
      <p:ext uri="{BB962C8B-B14F-4D97-AF65-F5344CB8AC3E}">
        <p14:creationId xmlns:p14="http://schemas.microsoft.com/office/powerpoint/2010/main" val="29915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45"/>
          <p:cNvPicPr preferRelativeResize="0"/>
          <p:nvPr/>
        </p:nvPicPr>
        <p:blipFill rotWithShape="1">
          <a:blip r:embed="rId3">
            <a:alphaModFix/>
          </a:blip>
          <a:srcRect l="279"/>
          <a:stretch/>
        </p:blipFill>
        <p:spPr>
          <a:xfrm>
            <a:off x="0" y="0"/>
            <a:ext cx="12208950" cy="6858000"/>
          </a:xfrm>
          <a:prstGeom prst="rect">
            <a:avLst/>
          </a:prstGeom>
          <a:noFill/>
          <a:ln>
            <a:noFill/>
          </a:ln>
        </p:spPr>
      </p:pic>
      <p:pic>
        <p:nvPicPr>
          <p:cNvPr id="245" name="Google Shape;245;p45"/>
          <p:cNvPicPr preferRelativeResize="0"/>
          <p:nvPr/>
        </p:nvPicPr>
        <p:blipFill rotWithShape="1">
          <a:blip r:embed="rId4">
            <a:alphaModFix/>
          </a:blip>
          <a:srcRect/>
          <a:stretch/>
        </p:blipFill>
        <p:spPr>
          <a:xfrm>
            <a:off x="248336" y="228924"/>
            <a:ext cx="1580776" cy="747876"/>
          </a:xfrm>
          <a:prstGeom prst="rect">
            <a:avLst/>
          </a:prstGeom>
          <a:noFill/>
          <a:ln>
            <a:noFill/>
          </a:ln>
        </p:spPr>
      </p:pic>
      <p:pic>
        <p:nvPicPr>
          <p:cNvPr id="246" name="Google Shape;246;p45"/>
          <p:cNvPicPr preferRelativeResize="0"/>
          <p:nvPr/>
        </p:nvPicPr>
        <p:blipFill rotWithShape="1">
          <a:blip r:embed="rId5">
            <a:alphaModFix/>
          </a:blip>
          <a:srcRect/>
          <a:stretch/>
        </p:blipFill>
        <p:spPr>
          <a:xfrm>
            <a:off x="335647" y="5452500"/>
            <a:ext cx="1165550" cy="1170299"/>
          </a:xfrm>
          <a:prstGeom prst="rect">
            <a:avLst/>
          </a:prstGeom>
          <a:noFill/>
          <a:ln>
            <a:noFill/>
          </a:ln>
        </p:spPr>
      </p:pic>
      <p:sp>
        <p:nvSpPr>
          <p:cNvPr id="247" name="Google Shape;247;p45"/>
          <p:cNvSpPr txBox="1"/>
          <p:nvPr/>
        </p:nvSpPr>
        <p:spPr>
          <a:xfrm>
            <a:off x="248325" y="2298300"/>
            <a:ext cx="3191100" cy="1832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1600"/>
              <a:buFont typeface="Montserrat SemiBold"/>
              <a:buNone/>
            </a:pPr>
            <a:r>
              <a:rPr lang="es-ES" sz="3300" b="1" i="0" u="none" strike="noStrike" cap="none">
                <a:solidFill>
                  <a:srgbClr val="2A8BFC"/>
                </a:solidFill>
                <a:latin typeface="Montserrat"/>
                <a:ea typeface="Montserrat"/>
                <a:cs typeface="Montserrat"/>
                <a:sym typeface="Montserrat"/>
              </a:rPr>
              <a:t>TEMA </a:t>
            </a:r>
            <a:r>
              <a:rPr lang="es-ES" sz="3300" b="1">
                <a:solidFill>
                  <a:srgbClr val="2A8BFC"/>
                </a:solidFill>
                <a:latin typeface="Montserrat"/>
                <a:ea typeface="Montserrat"/>
                <a:cs typeface="Montserrat"/>
                <a:sym typeface="Montserrat"/>
              </a:rPr>
              <a:t>2</a:t>
            </a:r>
            <a:endParaRPr sz="3300" b="1" i="0" u="none" strike="noStrike" cap="none">
              <a:solidFill>
                <a:srgbClr val="2A8BFC"/>
              </a:solidFill>
              <a:latin typeface="Montserrat"/>
              <a:ea typeface="Montserrat"/>
              <a:cs typeface="Montserrat"/>
              <a:sym typeface="Montserrat"/>
            </a:endParaRPr>
          </a:p>
          <a:p>
            <a:pPr marL="0" marR="0" lvl="0" indent="0" algn="l" rtl="0">
              <a:lnSpc>
                <a:spcPct val="90000"/>
              </a:lnSpc>
              <a:spcBef>
                <a:spcPts val="0"/>
              </a:spcBef>
              <a:spcAft>
                <a:spcPts val="0"/>
              </a:spcAft>
              <a:buClr>
                <a:srgbClr val="000000"/>
              </a:buClr>
              <a:buSzPts val="1600"/>
              <a:buFont typeface="Montserrat SemiBold"/>
              <a:buNone/>
            </a:pPr>
            <a:endParaRPr sz="3600" b="1"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500"/>
              <a:buFont typeface="Arial"/>
              <a:buNone/>
            </a:pPr>
            <a:r>
              <a:rPr lang="es-ES" sz="2200" b="1">
                <a:solidFill>
                  <a:srgbClr val="FFFFFF"/>
                </a:solidFill>
                <a:latin typeface="Montserrat"/>
                <a:ea typeface="Montserrat"/>
                <a:cs typeface="Montserrat"/>
                <a:sym typeface="Montserrat"/>
              </a:rPr>
              <a:t>Aplicaciones con Flexbox</a:t>
            </a:r>
            <a:endParaRPr sz="1500" b="1" i="0" u="none" strike="noStrike" cap="none">
              <a:solidFill>
                <a:srgbClr val="FFFFFF"/>
              </a:solidFill>
              <a:latin typeface="Montserrat"/>
              <a:ea typeface="Montserrat"/>
              <a:cs typeface="Montserrat"/>
              <a:sym typeface="Montserrat"/>
            </a:endParaRPr>
          </a:p>
        </p:txBody>
      </p:sp>
      <p:pic>
        <p:nvPicPr>
          <p:cNvPr id="248" name="Google Shape;248;p45"/>
          <p:cNvPicPr preferRelativeResize="0"/>
          <p:nvPr/>
        </p:nvPicPr>
        <p:blipFill rotWithShape="1">
          <a:blip r:embed="rId6">
            <a:alphaModFix/>
          </a:blip>
          <a:srcRect r="11276"/>
          <a:stretch/>
        </p:blipFill>
        <p:spPr>
          <a:xfrm>
            <a:off x="3439425" y="0"/>
            <a:ext cx="8752573" cy="6857999"/>
          </a:xfrm>
          <a:prstGeom prst="rect">
            <a:avLst/>
          </a:prstGeom>
          <a:noFill/>
          <a:ln>
            <a:noFill/>
          </a:ln>
        </p:spPr>
      </p:pic>
      <p:sp>
        <p:nvSpPr>
          <p:cNvPr id="249" name="Google Shape;249;p45"/>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7</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g2ada6b3ec75_0_168"/>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255" name="Google Shape;255;g2ada6b3ec75_0_168"/>
          <p:cNvSpPr txBox="1"/>
          <p:nvPr/>
        </p:nvSpPr>
        <p:spPr>
          <a:xfrm>
            <a:off x="797825" y="1605000"/>
            <a:ext cx="10495500" cy="1569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ES" sz="1500" b="1">
                <a:latin typeface="Montserrat"/>
                <a:ea typeface="Montserrat"/>
                <a:cs typeface="Montserrat"/>
                <a:sym typeface="Montserrat"/>
              </a:rPr>
              <a:t>Conceptos Clave:</a:t>
            </a: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Contenedor Flexible: </a:t>
            </a:r>
            <a:r>
              <a:rPr lang="es-ES" sz="1500">
                <a:latin typeface="Montserrat"/>
                <a:ea typeface="Montserrat"/>
                <a:cs typeface="Montserrat"/>
                <a:sym typeface="Montserrat"/>
              </a:rPr>
              <a:t>Definición y configuración del contenedor principal utilizando </a:t>
            </a:r>
            <a:r>
              <a:rPr lang="es-ES" sz="1500" b="1">
                <a:latin typeface="Montserrat"/>
                <a:ea typeface="Montserrat"/>
                <a:cs typeface="Montserrat"/>
                <a:sym typeface="Montserrat"/>
              </a:rPr>
              <a:t>display: flex;.</a:t>
            </a:r>
            <a:endParaRPr sz="1500" b="1">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Alineación y Justificación: </a:t>
            </a:r>
            <a:r>
              <a:rPr lang="es-ES" sz="1500">
                <a:latin typeface="Montserrat"/>
                <a:ea typeface="Montserrat"/>
                <a:cs typeface="Montserrat"/>
                <a:sym typeface="Montserrat"/>
              </a:rPr>
              <a:t>Uso de propiedades como </a:t>
            </a:r>
            <a:r>
              <a:rPr lang="es-ES" sz="1500" b="1">
                <a:latin typeface="Montserrat"/>
                <a:ea typeface="Montserrat"/>
                <a:cs typeface="Montserrat"/>
                <a:sym typeface="Montserrat"/>
              </a:rPr>
              <a:t>justify-content, align-items y align-content</a:t>
            </a:r>
            <a:r>
              <a:rPr lang="es-ES" sz="1500">
                <a:latin typeface="Montserrat"/>
                <a:ea typeface="Montserrat"/>
                <a:cs typeface="Montserrat"/>
                <a:sym typeface="Montserrat"/>
              </a:rPr>
              <a:t> para alinear elementos.</a:t>
            </a: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Orden y Tamaño: </a:t>
            </a:r>
            <a:r>
              <a:rPr lang="es-ES" sz="1500">
                <a:latin typeface="Montserrat"/>
                <a:ea typeface="Montserrat"/>
                <a:cs typeface="Montserrat"/>
                <a:sym typeface="Montserrat"/>
              </a:rPr>
              <a:t>Control del orden de los elementos y su tamaño flexible mediante propiedades como </a:t>
            </a:r>
            <a:r>
              <a:rPr lang="es-ES" sz="1500" b="1">
                <a:latin typeface="Montserrat"/>
                <a:ea typeface="Montserrat"/>
                <a:cs typeface="Montserrat"/>
                <a:sym typeface="Montserrat"/>
              </a:rPr>
              <a:t>order, flex-grow, flex-shrink, y flex-basis.</a:t>
            </a:r>
            <a:endParaRPr sz="1500">
              <a:latin typeface="Montserrat"/>
              <a:ea typeface="Montserrat"/>
              <a:cs typeface="Montserrat"/>
              <a:sym typeface="Montserrat"/>
            </a:endParaRPr>
          </a:p>
        </p:txBody>
      </p:sp>
      <p:sp>
        <p:nvSpPr>
          <p:cNvPr id="256" name="Google Shape;256;g2ada6b3ec75_0_168"/>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2ada6b3ec75_0_168"/>
          <p:cNvSpPr txBox="1"/>
          <p:nvPr/>
        </p:nvSpPr>
        <p:spPr>
          <a:xfrm>
            <a:off x="797825" y="499325"/>
            <a:ext cx="5701500" cy="1015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ES" sz="3000">
                <a:solidFill>
                  <a:srgbClr val="000F5A"/>
                </a:solidFill>
                <a:latin typeface="Montserrat ExtraBold"/>
                <a:ea typeface="Montserrat ExtraBold"/>
                <a:cs typeface="Montserrat ExtraBold"/>
                <a:sym typeface="Montserrat ExtraBold"/>
              </a:rPr>
              <a:t>Aplicaciones con</a:t>
            </a:r>
            <a:endParaRPr sz="3000">
              <a:solidFill>
                <a:srgbClr val="2A8BFC"/>
              </a:solidFill>
              <a:latin typeface="Montserrat ExtraBold"/>
              <a:ea typeface="Montserrat ExtraBold"/>
              <a:cs typeface="Montserrat ExtraBold"/>
              <a:sym typeface="Montserrat ExtraBold"/>
            </a:endParaRPr>
          </a:p>
          <a:p>
            <a:pPr marL="0" lvl="0" indent="0" algn="l" rtl="0">
              <a:lnSpc>
                <a:spcPct val="90000"/>
              </a:lnSpc>
              <a:spcBef>
                <a:spcPts val="0"/>
              </a:spcBef>
              <a:spcAft>
                <a:spcPts val="0"/>
              </a:spcAft>
              <a:buClr>
                <a:srgbClr val="000F5A"/>
              </a:buClr>
              <a:buSzPts val="3000"/>
              <a:buFont typeface="Montserrat ExtraBold"/>
              <a:buNone/>
            </a:pPr>
            <a:r>
              <a:rPr lang="es-ES" sz="3000">
                <a:solidFill>
                  <a:srgbClr val="2A8BFC"/>
                </a:solidFill>
                <a:latin typeface="Montserrat ExtraBold"/>
                <a:ea typeface="Montserrat ExtraBold"/>
                <a:cs typeface="Montserrat ExtraBold"/>
                <a:sym typeface="Montserrat ExtraBold"/>
              </a:rPr>
              <a:t>Flexbox</a:t>
            </a:r>
            <a:endParaRPr sz="3000">
              <a:solidFill>
                <a:srgbClr val="2A8BFC"/>
              </a:solidFill>
              <a:latin typeface="Montserrat ExtraBold"/>
              <a:ea typeface="Montserrat ExtraBold"/>
              <a:cs typeface="Montserrat ExtraBold"/>
              <a:sym typeface="Montserrat ExtraBold"/>
            </a:endParaRPr>
          </a:p>
        </p:txBody>
      </p:sp>
      <p:pic>
        <p:nvPicPr>
          <p:cNvPr id="258" name="Google Shape;258;g2ada6b3ec75_0_168"/>
          <p:cNvPicPr preferRelativeResize="0"/>
          <p:nvPr/>
        </p:nvPicPr>
        <p:blipFill>
          <a:blip r:embed="rId4">
            <a:alphaModFix/>
          </a:blip>
          <a:stretch>
            <a:fillRect/>
          </a:stretch>
        </p:blipFill>
        <p:spPr>
          <a:xfrm>
            <a:off x="7521996" y="3324763"/>
            <a:ext cx="3771325" cy="2195874"/>
          </a:xfrm>
          <a:prstGeom prst="rect">
            <a:avLst/>
          </a:prstGeom>
          <a:noFill/>
          <a:ln>
            <a:noFill/>
          </a:ln>
        </p:spPr>
      </p:pic>
      <p:sp>
        <p:nvSpPr>
          <p:cNvPr id="259" name="Google Shape;259;g2ada6b3ec75_0_168"/>
          <p:cNvSpPr txBox="1"/>
          <p:nvPr/>
        </p:nvSpPr>
        <p:spPr>
          <a:xfrm>
            <a:off x="797825" y="3264775"/>
            <a:ext cx="6563400" cy="2493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ES" sz="1500" b="1">
                <a:latin typeface="Montserrat"/>
                <a:ea typeface="Montserrat"/>
                <a:cs typeface="Montserrat"/>
                <a:sym typeface="Montserrat"/>
              </a:rPr>
              <a:t>Beneficios:</a:t>
            </a:r>
            <a:endParaRPr sz="1500" b="1">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Simplificación del diseño de layouts complejos.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Mejor alineación y distribución de los elementos dentro del contenedor.</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Capacidad de manejar diseños responsivos de manera eficiente.</a:t>
            </a:r>
            <a:endParaRPr sz="1500">
              <a:latin typeface="Montserrat"/>
              <a:ea typeface="Montserrat"/>
              <a:cs typeface="Montserrat"/>
              <a:sym typeface="Montserrat"/>
            </a:endParaRPr>
          </a:p>
          <a:p>
            <a:pPr marL="0" lvl="0" indent="0" algn="just" rtl="0">
              <a:spcBef>
                <a:spcPts val="0"/>
              </a:spcBef>
              <a:spcAft>
                <a:spcPts val="0"/>
              </a:spcAft>
              <a:buNone/>
            </a:pP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Aplicaciones Prácticas: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Crear menús de navegación que se adapten al espacio disponible.</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Desarrollar galerías de imágenes que ajusten sus elementos automáticamente.</a:t>
            </a:r>
            <a:endParaRPr sz="1500">
              <a:latin typeface="Montserrat"/>
              <a:ea typeface="Montserrat"/>
              <a:cs typeface="Montserrat"/>
              <a:sym typeface="Montserrat"/>
            </a:endParaRPr>
          </a:p>
        </p:txBody>
      </p:sp>
      <p:pic>
        <p:nvPicPr>
          <p:cNvPr id="260" name="Google Shape;260;g2ada6b3ec75_0_168"/>
          <p:cNvPicPr preferRelativeResize="0"/>
          <p:nvPr/>
        </p:nvPicPr>
        <p:blipFill rotWithShape="1">
          <a:blip r:embed="rId5">
            <a:alphaModFix/>
          </a:blip>
          <a:srcRect/>
          <a:stretch/>
        </p:blipFill>
        <p:spPr>
          <a:xfrm>
            <a:off x="-59625" y="6166100"/>
            <a:ext cx="12338525" cy="773275"/>
          </a:xfrm>
          <a:prstGeom prst="rect">
            <a:avLst/>
          </a:prstGeom>
          <a:noFill/>
          <a:ln>
            <a:noFill/>
          </a:ln>
        </p:spPr>
      </p:pic>
      <p:sp>
        <p:nvSpPr>
          <p:cNvPr id="261" name="Google Shape;261;g2ada6b3ec75_0_168"/>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8</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D799651-7D58-2B96-F500-1B11DA398AAF}"/>
            </a:ext>
          </a:extLst>
        </p:cNvPr>
        <p:cNvGrpSpPr/>
        <p:nvPr/>
      </p:nvGrpSpPr>
      <p:grpSpPr>
        <a:xfrm>
          <a:off x="0" y="0"/>
          <a:ext cx="0" cy="0"/>
          <a:chOff x="0" y="0"/>
          <a:chExt cx="0" cy="0"/>
        </a:xfrm>
      </p:grpSpPr>
      <p:pic>
        <p:nvPicPr>
          <p:cNvPr id="254" name="Google Shape;254;g2ada6b3ec75_0_168">
            <a:extLst>
              <a:ext uri="{FF2B5EF4-FFF2-40B4-BE49-F238E27FC236}">
                <a16:creationId xmlns:a16="http://schemas.microsoft.com/office/drawing/2014/main" id="{1CE607C2-D0AD-0294-4C4C-330D2287A35F}"/>
              </a:ext>
            </a:extLst>
          </p:cNvPr>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256" name="Google Shape;256;g2ada6b3ec75_0_168">
            <a:extLst>
              <a:ext uri="{FF2B5EF4-FFF2-40B4-BE49-F238E27FC236}">
                <a16:creationId xmlns:a16="http://schemas.microsoft.com/office/drawing/2014/main" id="{2925BC3C-40A5-FCE5-E698-BE6EAA808B09}"/>
              </a:ext>
            </a:extLst>
          </p:cNvPr>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2ada6b3ec75_0_168">
            <a:extLst>
              <a:ext uri="{FF2B5EF4-FFF2-40B4-BE49-F238E27FC236}">
                <a16:creationId xmlns:a16="http://schemas.microsoft.com/office/drawing/2014/main" id="{67BA39DD-73FA-68DC-9E4A-BEAFC9187160}"/>
              </a:ext>
            </a:extLst>
          </p:cNvPr>
          <p:cNvSpPr txBox="1"/>
          <p:nvPr/>
        </p:nvSpPr>
        <p:spPr>
          <a:xfrm>
            <a:off x="797825" y="499325"/>
            <a:ext cx="5701500" cy="60013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MX" sz="3000" dirty="0">
                <a:solidFill>
                  <a:srgbClr val="000F5A"/>
                </a:solidFill>
                <a:latin typeface="Montserrat ExtraBold"/>
                <a:ea typeface="Montserrat ExtraBold"/>
                <a:cs typeface="Montserrat ExtraBold"/>
                <a:sym typeface="Montserrat ExtraBold"/>
              </a:rPr>
              <a:t>Propiedades</a:t>
            </a:r>
            <a:r>
              <a:rPr lang="es-MX" sz="3000" dirty="0">
                <a:solidFill>
                  <a:srgbClr val="2A8BFC"/>
                </a:solidFill>
                <a:latin typeface="Montserrat ExtraBold"/>
                <a:ea typeface="Montserrat ExtraBold"/>
                <a:cs typeface="Montserrat ExtraBold"/>
                <a:sym typeface="Montserrat ExtraBold"/>
              </a:rPr>
              <a:t> </a:t>
            </a:r>
            <a:r>
              <a:rPr lang="es-ES" sz="3000" dirty="0" err="1">
                <a:solidFill>
                  <a:srgbClr val="2A8BFC"/>
                </a:solidFill>
                <a:latin typeface="Montserrat ExtraBold"/>
                <a:ea typeface="Montserrat ExtraBold"/>
                <a:cs typeface="Montserrat ExtraBold"/>
                <a:sym typeface="Montserrat ExtraBold"/>
              </a:rPr>
              <a:t>Flexbox</a:t>
            </a:r>
            <a:endParaRPr sz="3000" dirty="0">
              <a:solidFill>
                <a:srgbClr val="2A8BFC"/>
              </a:solidFill>
              <a:latin typeface="Montserrat ExtraBold"/>
              <a:ea typeface="Montserrat ExtraBold"/>
              <a:cs typeface="Montserrat ExtraBold"/>
              <a:sym typeface="Montserrat ExtraBold"/>
            </a:endParaRPr>
          </a:p>
        </p:txBody>
      </p:sp>
      <p:pic>
        <p:nvPicPr>
          <p:cNvPr id="260" name="Google Shape;260;g2ada6b3ec75_0_168">
            <a:extLst>
              <a:ext uri="{FF2B5EF4-FFF2-40B4-BE49-F238E27FC236}">
                <a16:creationId xmlns:a16="http://schemas.microsoft.com/office/drawing/2014/main" id="{976C19B3-09B6-F5B1-AE43-253AFBE642C4}"/>
              </a:ext>
            </a:extLst>
          </p:cNvPr>
          <p:cNvPicPr preferRelativeResize="0"/>
          <p:nvPr/>
        </p:nvPicPr>
        <p:blipFill rotWithShape="1">
          <a:blip r:embed="rId4">
            <a:alphaModFix/>
          </a:blip>
          <a:srcRect/>
          <a:stretch/>
        </p:blipFill>
        <p:spPr>
          <a:xfrm>
            <a:off x="-59625" y="6166100"/>
            <a:ext cx="12338525" cy="773275"/>
          </a:xfrm>
          <a:prstGeom prst="rect">
            <a:avLst/>
          </a:prstGeom>
          <a:noFill/>
          <a:ln>
            <a:noFill/>
          </a:ln>
        </p:spPr>
      </p:pic>
      <p:sp>
        <p:nvSpPr>
          <p:cNvPr id="261" name="Google Shape;261;g2ada6b3ec75_0_168">
            <a:extLst>
              <a:ext uri="{FF2B5EF4-FFF2-40B4-BE49-F238E27FC236}">
                <a16:creationId xmlns:a16="http://schemas.microsoft.com/office/drawing/2014/main" id="{24A586DA-7F59-9694-3A01-F8EE3959F298}"/>
              </a:ext>
            </a:extLst>
          </p:cNvPr>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8</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pic>
        <p:nvPicPr>
          <p:cNvPr id="3" name="Imagen 2" descr="Tabla&#10;&#10;Descripción generada automáticamente">
            <a:extLst>
              <a:ext uri="{FF2B5EF4-FFF2-40B4-BE49-F238E27FC236}">
                <a16:creationId xmlns:a16="http://schemas.microsoft.com/office/drawing/2014/main" id="{E0FDB369-16B1-95AA-AC4A-5CB31F322E08}"/>
              </a:ext>
            </a:extLst>
          </p:cNvPr>
          <p:cNvPicPr>
            <a:picLocks noChangeAspect="1"/>
          </p:cNvPicPr>
          <p:nvPr/>
        </p:nvPicPr>
        <p:blipFill>
          <a:blip r:embed="rId5"/>
          <a:stretch>
            <a:fillRect/>
          </a:stretch>
        </p:blipFill>
        <p:spPr>
          <a:xfrm>
            <a:off x="1202256" y="1317522"/>
            <a:ext cx="4292100" cy="4848578"/>
          </a:xfrm>
          <a:prstGeom prst="rect">
            <a:avLst/>
          </a:prstGeom>
        </p:spPr>
      </p:pic>
      <p:pic>
        <p:nvPicPr>
          <p:cNvPr id="5" name="Imagen 4" descr="Interfaz de usuario gráfica&#10;&#10;Descripción generada automáticamente con confianza baja">
            <a:extLst>
              <a:ext uri="{FF2B5EF4-FFF2-40B4-BE49-F238E27FC236}">
                <a16:creationId xmlns:a16="http://schemas.microsoft.com/office/drawing/2014/main" id="{E04E1121-492E-E509-E56E-22E1A4B832DC}"/>
              </a:ext>
            </a:extLst>
          </p:cNvPr>
          <p:cNvPicPr>
            <a:picLocks noChangeAspect="1"/>
          </p:cNvPicPr>
          <p:nvPr/>
        </p:nvPicPr>
        <p:blipFill>
          <a:blip r:embed="rId6"/>
          <a:stretch>
            <a:fillRect/>
          </a:stretch>
        </p:blipFill>
        <p:spPr>
          <a:xfrm>
            <a:off x="5817241" y="1317522"/>
            <a:ext cx="4421692" cy="4848578"/>
          </a:xfrm>
          <a:prstGeom prst="rect">
            <a:avLst/>
          </a:prstGeom>
        </p:spPr>
      </p:pic>
    </p:spTree>
    <p:extLst>
      <p:ext uri="{BB962C8B-B14F-4D97-AF65-F5344CB8AC3E}">
        <p14:creationId xmlns:p14="http://schemas.microsoft.com/office/powerpoint/2010/main" val="577122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6B36D8F9-F4B0-9AC0-4666-302F53F17AB4}"/>
            </a:ext>
          </a:extLst>
        </p:cNvPr>
        <p:cNvGrpSpPr/>
        <p:nvPr/>
      </p:nvGrpSpPr>
      <p:grpSpPr>
        <a:xfrm>
          <a:off x="0" y="0"/>
          <a:ext cx="0" cy="0"/>
          <a:chOff x="0" y="0"/>
          <a:chExt cx="0" cy="0"/>
        </a:xfrm>
      </p:grpSpPr>
      <p:pic>
        <p:nvPicPr>
          <p:cNvPr id="254" name="Google Shape;254;g2ada6b3ec75_0_168">
            <a:extLst>
              <a:ext uri="{FF2B5EF4-FFF2-40B4-BE49-F238E27FC236}">
                <a16:creationId xmlns:a16="http://schemas.microsoft.com/office/drawing/2014/main" id="{BE381A68-E7D8-EBC9-F725-055D71578C5A}"/>
              </a:ext>
            </a:extLst>
          </p:cNvPr>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256" name="Google Shape;256;g2ada6b3ec75_0_168">
            <a:extLst>
              <a:ext uri="{FF2B5EF4-FFF2-40B4-BE49-F238E27FC236}">
                <a16:creationId xmlns:a16="http://schemas.microsoft.com/office/drawing/2014/main" id="{97453F2D-2632-66D3-E310-259CB61A3498}"/>
              </a:ext>
            </a:extLst>
          </p:cNvPr>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2ada6b3ec75_0_168">
            <a:extLst>
              <a:ext uri="{FF2B5EF4-FFF2-40B4-BE49-F238E27FC236}">
                <a16:creationId xmlns:a16="http://schemas.microsoft.com/office/drawing/2014/main" id="{85D6674B-07AC-D382-6D2A-2DC562D2AA26}"/>
              </a:ext>
            </a:extLst>
          </p:cNvPr>
          <p:cNvSpPr txBox="1"/>
          <p:nvPr/>
        </p:nvSpPr>
        <p:spPr>
          <a:xfrm>
            <a:off x="797825" y="499325"/>
            <a:ext cx="5701500" cy="60013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MX" sz="3000" dirty="0">
                <a:solidFill>
                  <a:srgbClr val="000F5A"/>
                </a:solidFill>
                <a:latin typeface="Montserrat ExtraBold"/>
                <a:ea typeface="Montserrat ExtraBold"/>
                <a:cs typeface="Montserrat ExtraBold"/>
                <a:sym typeface="Montserrat ExtraBold"/>
              </a:rPr>
              <a:t>Propiedades</a:t>
            </a:r>
            <a:r>
              <a:rPr lang="es-MX" sz="3000" dirty="0">
                <a:solidFill>
                  <a:srgbClr val="2A8BFC"/>
                </a:solidFill>
                <a:latin typeface="Montserrat ExtraBold"/>
                <a:ea typeface="Montserrat ExtraBold"/>
                <a:cs typeface="Montserrat ExtraBold"/>
                <a:sym typeface="Montserrat ExtraBold"/>
              </a:rPr>
              <a:t> </a:t>
            </a:r>
            <a:r>
              <a:rPr lang="es-ES" sz="3000" dirty="0" err="1">
                <a:solidFill>
                  <a:srgbClr val="2A8BFC"/>
                </a:solidFill>
                <a:latin typeface="Montserrat ExtraBold"/>
                <a:ea typeface="Montserrat ExtraBold"/>
                <a:cs typeface="Montserrat ExtraBold"/>
                <a:sym typeface="Montserrat ExtraBold"/>
              </a:rPr>
              <a:t>Flexbox</a:t>
            </a:r>
            <a:endParaRPr sz="3000" dirty="0">
              <a:solidFill>
                <a:srgbClr val="2A8BFC"/>
              </a:solidFill>
              <a:latin typeface="Montserrat ExtraBold"/>
              <a:ea typeface="Montserrat ExtraBold"/>
              <a:cs typeface="Montserrat ExtraBold"/>
              <a:sym typeface="Montserrat ExtraBold"/>
            </a:endParaRPr>
          </a:p>
        </p:txBody>
      </p:sp>
      <p:pic>
        <p:nvPicPr>
          <p:cNvPr id="260" name="Google Shape;260;g2ada6b3ec75_0_168">
            <a:extLst>
              <a:ext uri="{FF2B5EF4-FFF2-40B4-BE49-F238E27FC236}">
                <a16:creationId xmlns:a16="http://schemas.microsoft.com/office/drawing/2014/main" id="{FE0227D6-2761-E76C-3548-469129015D42}"/>
              </a:ext>
            </a:extLst>
          </p:cNvPr>
          <p:cNvPicPr preferRelativeResize="0"/>
          <p:nvPr/>
        </p:nvPicPr>
        <p:blipFill rotWithShape="1">
          <a:blip r:embed="rId4">
            <a:alphaModFix/>
          </a:blip>
          <a:srcRect/>
          <a:stretch/>
        </p:blipFill>
        <p:spPr>
          <a:xfrm>
            <a:off x="-59625" y="6166100"/>
            <a:ext cx="12338525" cy="773275"/>
          </a:xfrm>
          <a:prstGeom prst="rect">
            <a:avLst/>
          </a:prstGeom>
          <a:noFill/>
          <a:ln>
            <a:noFill/>
          </a:ln>
        </p:spPr>
      </p:pic>
      <p:sp>
        <p:nvSpPr>
          <p:cNvPr id="261" name="Google Shape;261;g2ada6b3ec75_0_168">
            <a:extLst>
              <a:ext uri="{FF2B5EF4-FFF2-40B4-BE49-F238E27FC236}">
                <a16:creationId xmlns:a16="http://schemas.microsoft.com/office/drawing/2014/main" id="{AC5C66F0-84D9-F11C-710C-2AFC0484750E}"/>
              </a:ext>
            </a:extLst>
          </p:cNvPr>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8</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pic>
        <p:nvPicPr>
          <p:cNvPr id="4" name="Imagen 3" descr="Gráfico&#10;&#10;Descripción generada automáticamente">
            <a:extLst>
              <a:ext uri="{FF2B5EF4-FFF2-40B4-BE49-F238E27FC236}">
                <a16:creationId xmlns:a16="http://schemas.microsoft.com/office/drawing/2014/main" id="{4788D195-9689-3360-6C2C-592CB7D7DB05}"/>
              </a:ext>
            </a:extLst>
          </p:cNvPr>
          <p:cNvPicPr>
            <a:picLocks noChangeAspect="1"/>
          </p:cNvPicPr>
          <p:nvPr/>
        </p:nvPicPr>
        <p:blipFill>
          <a:blip r:embed="rId5"/>
          <a:stretch>
            <a:fillRect/>
          </a:stretch>
        </p:blipFill>
        <p:spPr>
          <a:xfrm>
            <a:off x="1424562" y="1216218"/>
            <a:ext cx="4448026" cy="4949882"/>
          </a:xfrm>
          <a:prstGeom prst="rect">
            <a:avLst/>
          </a:prstGeom>
        </p:spPr>
      </p:pic>
      <p:pic>
        <p:nvPicPr>
          <p:cNvPr id="7" name="Imagen 6" descr="Diagrama&#10;&#10;Descripción generada automáticamente">
            <a:extLst>
              <a:ext uri="{FF2B5EF4-FFF2-40B4-BE49-F238E27FC236}">
                <a16:creationId xmlns:a16="http://schemas.microsoft.com/office/drawing/2014/main" id="{3FBD4654-5EE1-4CEF-B98E-49595E3E102C}"/>
              </a:ext>
            </a:extLst>
          </p:cNvPr>
          <p:cNvPicPr>
            <a:picLocks noChangeAspect="1"/>
          </p:cNvPicPr>
          <p:nvPr/>
        </p:nvPicPr>
        <p:blipFill>
          <a:blip r:embed="rId6"/>
          <a:stretch>
            <a:fillRect/>
          </a:stretch>
        </p:blipFill>
        <p:spPr>
          <a:xfrm>
            <a:off x="6396409" y="1216218"/>
            <a:ext cx="4457540" cy="4949882"/>
          </a:xfrm>
          <a:prstGeom prst="rect">
            <a:avLst/>
          </a:prstGeom>
        </p:spPr>
      </p:pic>
    </p:spTree>
    <p:extLst>
      <p:ext uri="{BB962C8B-B14F-4D97-AF65-F5344CB8AC3E}">
        <p14:creationId xmlns:p14="http://schemas.microsoft.com/office/powerpoint/2010/main" val="680043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BF4527F-EC66-E699-1BEB-1C622E6B88C2}"/>
            </a:ext>
          </a:extLst>
        </p:cNvPr>
        <p:cNvGrpSpPr/>
        <p:nvPr/>
      </p:nvGrpSpPr>
      <p:grpSpPr>
        <a:xfrm>
          <a:off x="0" y="0"/>
          <a:ext cx="0" cy="0"/>
          <a:chOff x="0" y="0"/>
          <a:chExt cx="0" cy="0"/>
        </a:xfrm>
      </p:grpSpPr>
      <p:pic>
        <p:nvPicPr>
          <p:cNvPr id="254" name="Google Shape;254;g2ada6b3ec75_0_168">
            <a:extLst>
              <a:ext uri="{FF2B5EF4-FFF2-40B4-BE49-F238E27FC236}">
                <a16:creationId xmlns:a16="http://schemas.microsoft.com/office/drawing/2014/main" id="{C394AD87-F39C-4574-C896-E4479B50A150}"/>
              </a:ext>
            </a:extLst>
          </p:cNvPr>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256" name="Google Shape;256;g2ada6b3ec75_0_168">
            <a:extLst>
              <a:ext uri="{FF2B5EF4-FFF2-40B4-BE49-F238E27FC236}">
                <a16:creationId xmlns:a16="http://schemas.microsoft.com/office/drawing/2014/main" id="{8BFAD666-57B7-C079-9DAA-D9036291001A}"/>
              </a:ext>
            </a:extLst>
          </p:cNvPr>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2ada6b3ec75_0_168">
            <a:extLst>
              <a:ext uri="{FF2B5EF4-FFF2-40B4-BE49-F238E27FC236}">
                <a16:creationId xmlns:a16="http://schemas.microsoft.com/office/drawing/2014/main" id="{7F9EFCBE-966E-A3C5-0C56-D6EB3F1F4ABB}"/>
              </a:ext>
            </a:extLst>
          </p:cNvPr>
          <p:cNvSpPr txBox="1"/>
          <p:nvPr/>
        </p:nvSpPr>
        <p:spPr>
          <a:xfrm>
            <a:off x="797825" y="499325"/>
            <a:ext cx="5701500" cy="60013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MX" sz="3000" dirty="0">
                <a:solidFill>
                  <a:srgbClr val="000F5A"/>
                </a:solidFill>
                <a:latin typeface="Montserrat ExtraBold"/>
                <a:ea typeface="Montserrat ExtraBold"/>
                <a:cs typeface="Montserrat ExtraBold"/>
                <a:sym typeface="Montserrat ExtraBold"/>
              </a:rPr>
              <a:t>Propiedades</a:t>
            </a:r>
            <a:r>
              <a:rPr lang="es-MX" sz="3000" dirty="0">
                <a:solidFill>
                  <a:srgbClr val="2A8BFC"/>
                </a:solidFill>
                <a:latin typeface="Montserrat ExtraBold"/>
                <a:ea typeface="Montserrat ExtraBold"/>
                <a:cs typeface="Montserrat ExtraBold"/>
                <a:sym typeface="Montserrat ExtraBold"/>
              </a:rPr>
              <a:t> </a:t>
            </a:r>
            <a:r>
              <a:rPr lang="es-ES" sz="3000" dirty="0" err="1">
                <a:solidFill>
                  <a:srgbClr val="2A8BFC"/>
                </a:solidFill>
                <a:latin typeface="Montserrat ExtraBold"/>
                <a:ea typeface="Montserrat ExtraBold"/>
                <a:cs typeface="Montserrat ExtraBold"/>
                <a:sym typeface="Montserrat ExtraBold"/>
              </a:rPr>
              <a:t>Flexbox</a:t>
            </a:r>
            <a:endParaRPr sz="3000" dirty="0">
              <a:solidFill>
                <a:srgbClr val="2A8BFC"/>
              </a:solidFill>
              <a:latin typeface="Montserrat ExtraBold"/>
              <a:ea typeface="Montserrat ExtraBold"/>
              <a:cs typeface="Montserrat ExtraBold"/>
              <a:sym typeface="Montserrat ExtraBold"/>
            </a:endParaRPr>
          </a:p>
        </p:txBody>
      </p:sp>
      <p:pic>
        <p:nvPicPr>
          <p:cNvPr id="260" name="Google Shape;260;g2ada6b3ec75_0_168">
            <a:extLst>
              <a:ext uri="{FF2B5EF4-FFF2-40B4-BE49-F238E27FC236}">
                <a16:creationId xmlns:a16="http://schemas.microsoft.com/office/drawing/2014/main" id="{39073216-563A-259A-0DF5-9B0BE56971A7}"/>
              </a:ext>
            </a:extLst>
          </p:cNvPr>
          <p:cNvPicPr preferRelativeResize="0"/>
          <p:nvPr/>
        </p:nvPicPr>
        <p:blipFill rotWithShape="1">
          <a:blip r:embed="rId4">
            <a:alphaModFix/>
          </a:blip>
          <a:srcRect/>
          <a:stretch/>
        </p:blipFill>
        <p:spPr>
          <a:xfrm>
            <a:off x="-59625" y="6166100"/>
            <a:ext cx="12338525" cy="773275"/>
          </a:xfrm>
          <a:prstGeom prst="rect">
            <a:avLst/>
          </a:prstGeom>
          <a:noFill/>
          <a:ln>
            <a:noFill/>
          </a:ln>
        </p:spPr>
      </p:pic>
      <p:sp>
        <p:nvSpPr>
          <p:cNvPr id="261" name="Google Shape;261;g2ada6b3ec75_0_168">
            <a:extLst>
              <a:ext uri="{FF2B5EF4-FFF2-40B4-BE49-F238E27FC236}">
                <a16:creationId xmlns:a16="http://schemas.microsoft.com/office/drawing/2014/main" id="{CC59C73B-A928-3650-C7DF-6E23ACD85D04}"/>
              </a:ext>
            </a:extLst>
          </p:cNvPr>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8</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pic>
        <p:nvPicPr>
          <p:cNvPr id="3" name="Imagen 2" descr="Tabla&#10;&#10;Descripción generada automáticamente con confianza baja">
            <a:extLst>
              <a:ext uri="{FF2B5EF4-FFF2-40B4-BE49-F238E27FC236}">
                <a16:creationId xmlns:a16="http://schemas.microsoft.com/office/drawing/2014/main" id="{F3FF34AD-B730-76D1-92D5-CCE7BD232ECB}"/>
              </a:ext>
            </a:extLst>
          </p:cNvPr>
          <p:cNvPicPr>
            <a:picLocks noChangeAspect="1"/>
          </p:cNvPicPr>
          <p:nvPr/>
        </p:nvPicPr>
        <p:blipFill>
          <a:blip r:embed="rId5"/>
          <a:stretch>
            <a:fillRect/>
          </a:stretch>
        </p:blipFill>
        <p:spPr>
          <a:xfrm>
            <a:off x="1200640" y="1223876"/>
            <a:ext cx="4620055" cy="4944173"/>
          </a:xfrm>
          <a:prstGeom prst="rect">
            <a:avLst/>
          </a:prstGeom>
        </p:spPr>
      </p:pic>
      <p:pic>
        <p:nvPicPr>
          <p:cNvPr id="6" name="Imagen 5" descr="Imagen que contiene Aplicación&#10;&#10;Descripción generada automáticamente">
            <a:extLst>
              <a:ext uri="{FF2B5EF4-FFF2-40B4-BE49-F238E27FC236}">
                <a16:creationId xmlns:a16="http://schemas.microsoft.com/office/drawing/2014/main" id="{15430248-5F52-42EE-151F-4519C63B531A}"/>
              </a:ext>
            </a:extLst>
          </p:cNvPr>
          <p:cNvPicPr>
            <a:picLocks noChangeAspect="1"/>
          </p:cNvPicPr>
          <p:nvPr/>
        </p:nvPicPr>
        <p:blipFill>
          <a:blip r:embed="rId6"/>
          <a:stretch>
            <a:fillRect/>
          </a:stretch>
        </p:blipFill>
        <p:spPr>
          <a:xfrm>
            <a:off x="6096000" y="1223876"/>
            <a:ext cx="4512933" cy="4942224"/>
          </a:xfrm>
          <a:prstGeom prst="rect">
            <a:avLst/>
          </a:prstGeom>
        </p:spPr>
      </p:pic>
    </p:spTree>
    <p:extLst>
      <p:ext uri="{BB962C8B-B14F-4D97-AF65-F5344CB8AC3E}">
        <p14:creationId xmlns:p14="http://schemas.microsoft.com/office/powerpoint/2010/main" val="4048980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g2ada6b3ec75_0_242"/>
          <p:cNvPicPr preferRelativeResize="0"/>
          <p:nvPr/>
        </p:nvPicPr>
        <p:blipFill rotWithShape="1">
          <a:blip r:embed="rId3">
            <a:alphaModFix/>
          </a:blip>
          <a:srcRect l="279"/>
          <a:stretch/>
        </p:blipFill>
        <p:spPr>
          <a:xfrm>
            <a:off x="0" y="0"/>
            <a:ext cx="12208950" cy="6858000"/>
          </a:xfrm>
          <a:prstGeom prst="rect">
            <a:avLst/>
          </a:prstGeom>
          <a:noFill/>
          <a:ln>
            <a:noFill/>
          </a:ln>
        </p:spPr>
      </p:pic>
      <p:pic>
        <p:nvPicPr>
          <p:cNvPr id="267" name="Google Shape;267;g2ada6b3ec75_0_242"/>
          <p:cNvPicPr preferRelativeResize="0"/>
          <p:nvPr/>
        </p:nvPicPr>
        <p:blipFill rotWithShape="1">
          <a:blip r:embed="rId4">
            <a:alphaModFix/>
          </a:blip>
          <a:srcRect/>
          <a:stretch/>
        </p:blipFill>
        <p:spPr>
          <a:xfrm>
            <a:off x="248336" y="228924"/>
            <a:ext cx="1580776" cy="747876"/>
          </a:xfrm>
          <a:prstGeom prst="rect">
            <a:avLst/>
          </a:prstGeom>
          <a:noFill/>
          <a:ln>
            <a:noFill/>
          </a:ln>
        </p:spPr>
      </p:pic>
      <p:pic>
        <p:nvPicPr>
          <p:cNvPr id="268" name="Google Shape;268;g2ada6b3ec75_0_242"/>
          <p:cNvPicPr preferRelativeResize="0"/>
          <p:nvPr/>
        </p:nvPicPr>
        <p:blipFill rotWithShape="1">
          <a:blip r:embed="rId5">
            <a:alphaModFix/>
          </a:blip>
          <a:srcRect/>
          <a:stretch/>
        </p:blipFill>
        <p:spPr>
          <a:xfrm>
            <a:off x="335647" y="5452500"/>
            <a:ext cx="1165550" cy="1170299"/>
          </a:xfrm>
          <a:prstGeom prst="rect">
            <a:avLst/>
          </a:prstGeom>
          <a:noFill/>
          <a:ln>
            <a:noFill/>
          </a:ln>
        </p:spPr>
      </p:pic>
      <p:sp>
        <p:nvSpPr>
          <p:cNvPr id="269" name="Google Shape;269;g2ada6b3ec75_0_242"/>
          <p:cNvSpPr txBox="1"/>
          <p:nvPr/>
        </p:nvSpPr>
        <p:spPr>
          <a:xfrm>
            <a:off x="248325" y="2298300"/>
            <a:ext cx="3191100" cy="1832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1600"/>
              <a:buFont typeface="Montserrat SemiBold"/>
              <a:buNone/>
            </a:pPr>
            <a:r>
              <a:rPr lang="es-ES" sz="3300" b="1" i="0" u="none" strike="noStrike" cap="none">
                <a:solidFill>
                  <a:srgbClr val="2A8BFC"/>
                </a:solidFill>
                <a:latin typeface="Montserrat"/>
                <a:ea typeface="Montserrat"/>
                <a:cs typeface="Montserrat"/>
                <a:sym typeface="Montserrat"/>
              </a:rPr>
              <a:t>TEMA </a:t>
            </a:r>
            <a:r>
              <a:rPr lang="es-ES" sz="3300" b="1">
                <a:solidFill>
                  <a:srgbClr val="2A8BFC"/>
                </a:solidFill>
                <a:latin typeface="Montserrat"/>
                <a:ea typeface="Montserrat"/>
                <a:cs typeface="Montserrat"/>
                <a:sym typeface="Montserrat"/>
              </a:rPr>
              <a:t>3</a:t>
            </a:r>
            <a:endParaRPr sz="3300" b="1" i="0" u="none" strike="noStrike" cap="none">
              <a:solidFill>
                <a:srgbClr val="2A8BFC"/>
              </a:solidFill>
              <a:latin typeface="Montserrat"/>
              <a:ea typeface="Montserrat"/>
              <a:cs typeface="Montserrat"/>
              <a:sym typeface="Montserrat"/>
            </a:endParaRPr>
          </a:p>
          <a:p>
            <a:pPr marL="0" marR="0" lvl="0" indent="0" algn="l" rtl="0">
              <a:lnSpc>
                <a:spcPct val="90000"/>
              </a:lnSpc>
              <a:spcBef>
                <a:spcPts val="0"/>
              </a:spcBef>
              <a:spcAft>
                <a:spcPts val="0"/>
              </a:spcAft>
              <a:buClr>
                <a:srgbClr val="000000"/>
              </a:buClr>
              <a:buSzPts val="1600"/>
              <a:buFont typeface="Montserrat SemiBold"/>
              <a:buNone/>
            </a:pPr>
            <a:endParaRPr sz="3600" b="1"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500"/>
              <a:buFont typeface="Arial"/>
              <a:buNone/>
            </a:pPr>
            <a:r>
              <a:rPr lang="es-ES" sz="2200" b="1">
                <a:solidFill>
                  <a:srgbClr val="FFFFFF"/>
                </a:solidFill>
                <a:latin typeface="Montserrat"/>
                <a:ea typeface="Montserrat"/>
                <a:cs typeface="Montserrat"/>
                <a:sym typeface="Montserrat"/>
              </a:rPr>
              <a:t>GRIDS I</a:t>
            </a:r>
            <a:endParaRPr sz="1500" b="1" i="0" u="none" strike="noStrike" cap="none">
              <a:solidFill>
                <a:srgbClr val="FFFFFF"/>
              </a:solidFill>
              <a:latin typeface="Montserrat"/>
              <a:ea typeface="Montserrat"/>
              <a:cs typeface="Montserrat"/>
              <a:sym typeface="Montserrat"/>
            </a:endParaRPr>
          </a:p>
        </p:txBody>
      </p:sp>
      <p:pic>
        <p:nvPicPr>
          <p:cNvPr id="270" name="Google Shape;270;g2ada6b3ec75_0_242"/>
          <p:cNvPicPr preferRelativeResize="0"/>
          <p:nvPr/>
        </p:nvPicPr>
        <p:blipFill rotWithShape="1">
          <a:blip r:embed="rId6">
            <a:alphaModFix/>
          </a:blip>
          <a:srcRect r="11276"/>
          <a:stretch/>
        </p:blipFill>
        <p:spPr>
          <a:xfrm>
            <a:off x="3439425" y="0"/>
            <a:ext cx="8752573" cy="6857999"/>
          </a:xfrm>
          <a:prstGeom prst="rect">
            <a:avLst/>
          </a:prstGeom>
          <a:noFill/>
          <a:ln>
            <a:noFill/>
          </a:ln>
        </p:spPr>
      </p:pic>
      <p:sp>
        <p:nvSpPr>
          <p:cNvPr id="271" name="Google Shape;271;g2ada6b3ec75_0_242"/>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9</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g2ada6b3ec75_0_251"/>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277" name="Google Shape;277;g2ada6b3ec75_0_251"/>
          <p:cNvSpPr txBox="1"/>
          <p:nvPr/>
        </p:nvSpPr>
        <p:spPr>
          <a:xfrm>
            <a:off x="731200" y="1488875"/>
            <a:ext cx="10662000" cy="1569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ES" sz="1500" b="1">
                <a:latin typeface="Montserrat"/>
                <a:ea typeface="Montserrat"/>
                <a:cs typeface="Montserrat"/>
                <a:sym typeface="Montserrat"/>
              </a:rPr>
              <a:t>Conceptos Clave:</a:t>
            </a: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Definición de Grillas:</a:t>
            </a:r>
            <a:r>
              <a:rPr lang="es-ES" sz="1500">
                <a:latin typeface="Montserrat"/>
                <a:ea typeface="Montserrat"/>
                <a:cs typeface="Montserrat"/>
                <a:sym typeface="Montserrat"/>
              </a:rPr>
              <a:t> Creación de una grilla con filas y columnas usando grid-template-rows y grid-template-columns.</a:t>
            </a: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Posicionamiento de Ítems: </a:t>
            </a:r>
            <a:r>
              <a:rPr lang="es-ES" sz="1500">
                <a:latin typeface="Montserrat"/>
                <a:ea typeface="Montserrat"/>
                <a:cs typeface="Montserrat"/>
                <a:sym typeface="Montserrat"/>
              </a:rPr>
              <a:t>Colocación de elementos en la grilla mediante propiedades como grid-column y grid-row.</a:t>
            </a: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Áreas de la Grilla: </a:t>
            </a:r>
            <a:r>
              <a:rPr lang="es-ES" sz="1500">
                <a:latin typeface="Montserrat"/>
                <a:ea typeface="Montserrat"/>
                <a:cs typeface="Montserrat"/>
                <a:sym typeface="Montserrat"/>
              </a:rPr>
              <a:t>Definición y uso de áreas nombradas para estructurar el contenido.</a:t>
            </a:r>
            <a:endParaRPr sz="1500">
              <a:latin typeface="Montserrat"/>
              <a:ea typeface="Montserrat"/>
              <a:cs typeface="Montserrat"/>
              <a:sym typeface="Montserrat"/>
            </a:endParaRPr>
          </a:p>
        </p:txBody>
      </p:sp>
      <p:pic>
        <p:nvPicPr>
          <p:cNvPr id="278" name="Google Shape;278;g2ada6b3ec75_0_251"/>
          <p:cNvPicPr preferRelativeResize="0"/>
          <p:nvPr/>
        </p:nvPicPr>
        <p:blipFill>
          <a:blip r:embed="rId4">
            <a:alphaModFix/>
          </a:blip>
          <a:stretch>
            <a:fillRect/>
          </a:stretch>
        </p:blipFill>
        <p:spPr>
          <a:xfrm>
            <a:off x="7356825" y="3125751"/>
            <a:ext cx="4036275" cy="2692125"/>
          </a:xfrm>
          <a:prstGeom prst="rect">
            <a:avLst/>
          </a:prstGeom>
          <a:noFill/>
          <a:ln>
            <a:noFill/>
          </a:ln>
        </p:spPr>
      </p:pic>
      <p:sp>
        <p:nvSpPr>
          <p:cNvPr id="279" name="Google Shape;279;g2ada6b3ec75_0_251"/>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0" name="Google Shape;280;g2ada6b3ec75_0_251"/>
          <p:cNvSpPr txBox="1"/>
          <p:nvPr/>
        </p:nvSpPr>
        <p:spPr>
          <a:xfrm>
            <a:off x="785575" y="707075"/>
            <a:ext cx="57015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ES" sz="3000" dirty="0">
                <a:solidFill>
                  <a:srgbClr val="000F5A"/>
                </a:solidFill>
                <a:latin typeface="Montserrat ExtraBold"/>
                <a:ea typeface="Montserrat ExtraBold"/>
                <a:cs typeface="Montserrat ExtraBold"/>
                <a:sym typeface="Montserrat ExtraBold"/>
              </a:rPr>
              <a:t>GRIDS I</a:t>
            </a:r>
            <a:endParaRPr sz="3000" dirty="0">
              <a:solidFill>
                <a:srgbClr val="2A8BFC"/>
              </a:solidFill>
              <a:latin typeface="Montserrat ExtraBold"/>
              <a:ea typeface="Montserrat ExtraBold"/>
              <a:cs typeface="Montserrat ExtraBold"/>
              <a:sym typeface="Montserrat ExtraBold"/>
            </a:endParaRPr>
          </a:p>
        </p:txBody>
      </p:sp>
      <p:sp>
        <p:nvSpPr>
          <p:cNvPr id="281" name="Google Shape;281;g2ada6b3ec75_0_251"/>
          <p:cNvSpPr txBox="1"/>
          <p:nvPr/>
        </p:nvSpPr>
        <p:spPr>
          <a:xfrm>
            <a:off x="731200" y="3125750"/>
            <a:ext cx="6004200" cy="2493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ES" sz="1500" b="1">
                <a:latin typeface="Montserrat"/>
                <a:ea typeface="Montserrat"/>
                <a:cs typeface="Montserrat"/>
                <a:sym typeface="Montserrat"/>
              </a:rPr>
              <a:t>Beneficios: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Creación de layouts complejos de manera sencilla.</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Mejor control sobre la disposición y alineación de los elementos.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Flexibilidad para adaptarse a diferentes tamaños de pantalla.</a:t>
            </a:r>
            <a:endParaRPr sz="1500">
              <a:latin typeface="Montserrat"/>
              <a:ea typeface="Montserrat"/>
              <a:cs typeface="Montserrat"/>
              <a:sym typeface="Montserrat"/>
            </a:endParaRPr>
          </a:p>
          <a:p>
            <a:pPr marL="0" lvl="0" indent="0" algn="just" rtl="0">
              <a:spcBef>
                <a:spcPts val="0"/>
              </a:spcBef>
              <a:spcAft>
                <a:spcPts val="0"/>
              </a:spcAft>
              <a:buNone/>
            </a:pP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Aplicaciones Prácticas: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Diseñar páginas web con layouts de varias columnas y filas.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Crear plantillas de diseño reutilizables para diferentes secciones de un sitio web.</a:t>
            </a:r>
            <a:endParaRPr sz="1500">
              <a:latin typeface="Montserrat"/>
              <a:ea typeface="Montserrat"/>
              <a:cs typeface="Montserrat"/>
              <a:sym typeface="Montserrat"/>
            </a:endParaRPr>
          </a:p>
        </p:txBody>
      </p:sp>
      <p:pic>
        <p:nvPicPr>
          <p:cNvPr id="282" name="Google Shape;282;g2ada6b3ec75_0_251"/>
          <p:cNvPicPr preferRelativeResize="0"/>
          <p:nvPr/>
        </p:nvPicPr>
        <p:blipFill rotWithShape="1">
          <a:blip r:embed="rId5">
            <a:alphaModFix/>
          </a:blip>
          <a:srcRect/>
          <a:stretch/>
        </p:blipFill>
        <p:spPr>
          <a:xfrm>
            <a:off x="-59625" y="6166100"/>
            <a:ext cx="12338525" cy="773275"/>
          </a:xfrm>
          <a:prstGeom prst="rect">
            <a:avLst/>
          </a:prstGeom>
          <a:noFill/>
          <a:ln>
            <a:noFill/>
          </a:ln>
        </p:spPr>
      </p:pic>
      <p:sp>
        <p:nvSpPr>
          <p:cNvPr id="283" name="Google Shape;283;g2ada6b3ec75_0_251"/>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10</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g1ee9218af08_0_6"/>
          <p:cNvPicPr preferRelativeResize="0"/>
          <p:nvPr/>
        </p:nvPicPr>
        <p:blipFill rotWithShape="1">
          <a:blip r:embed="rId3">
            <a:alphaModFix/>
          </a:blip>
          <a:srcRect l="279"/>
          <a:stretch/>
        </p:blipFill>
        <p:spPr>
          <a:xfrm>
            <a:off x="0" y="0"/>
            <a:ext cx="12208950" cy="6858000"/>
          </a:xfrm>
          <a:prstGeom prst="rect">
            <a:avLst/>
          </a:prstGeom>
          <a:noFill/>
          <a:ln>
            <a:noFill/>
          </a:ln>
        </p:spPr>
      </p:pic>
      <p:pic>
        <p:nvPicPr>
          <p:cNvPr id="289" name="Google Shape;289;g1ee9218af08_0_6"/>
          <p:cNvPicPr preferRelativeResize="0"/>
          <p:nvPr/>
        </p:nvPicPr>
        <p:blipFill rotWithShape="1">
          <a:blip r:embed="rId4">
            <a:alphaModFix/>
          </a:blip>
          <a:srcRect/>
          <a:stretch/>
        </p:blipFill>
        <p:spPr>
          <a:xfrm>
            <a:off x="248336" y="228924"/>
            <a:ext cx="1580776" cy="747876"/>
          </a:xfrm>
          <a:prstGeom prst="rect">
            <a:avLst/>
          </a:prstGeom>
          <a:noFill/>
          <a:ln>
            <a:noFill/>
          </a:ln>
        </p:spPr>
      </p:pic>
      <p:pic>
        <p:nvPicPr>
          <p:cNvPr id="290" name="Google Shape;290;g1ee9218af08_0_6"/>
          <p:cNvPicPr preferRelativeResize="0"/>
          <p:nvPr/>
        </p:nvPicPr>
        <p:blipFill rotWithShape="1">
          <a:blip r:embed="rId5">
            <a:alphaModFix/>
          </a:blip>
          <a:srcRect/>
          <a:stretch/>
        </p:blipFill>
        <p:spPr>
          <a:xfrm>
            <a:off x="335647" y="5452500"/>
            <a:ext cx="1165550" cy="1170299"/>
          </a:xfrm>
          <a:prstGeom prst="rect">
            <a:avLst/>
          </a:prstGeom>
          <a:noFill/>
          <a:ln>
            <a:noFill/>
          </a:ln>
        </p:spPr>
      </p:pic>
      <p:sp>
        <p:nvSpPr>
          <p:cNvPr id="291" name="Google Shape;291;g1ee9218af08_0_6"/>
          <p:cNvSpPr txBox="1"/>
          <p:nvPr/>
        </p:nvSpPr>
        <p:spPr>
          <a:xfrm>
            <a:off x="248325" y="2298300"/>
            <a:ext cx="3191100" cy="1832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1600"/>
              <a:buFont typeface="Montserrat SemiBold"/>
              <a:buNone/>
            </a:pPr>
            <a:r>
              <a:rPr lang="es-ES" sz="3300" b="1" i="0" u="none" strike="noStrike" cap="none">
                <a:solidFill>
                  <a:srgbClr val="2A8BFC"/>
                </a:solidFill>
                <a:latin typeface="Montserrat"/>
                <a:ea typeface="Montserrat"/>
                <a:cs typeface="Montserrat"/>
                <a:sym typeface="Montserrat"/>
              </a:rPr>
              <a:t>TEMA </a:t>
            </a:r>
            <a:r>
              <a:rPr lang="es-ES" sz="3300" b="1">
                <a:solidFill>
                  <a:srgbClr val="2A8BFC"/>
                </a:solidFill>
                <a:latin typeface="Montserrat"/>
                <a:ea typeface="Montserrat"/>
                <a:cs typeface="Montserrat"/>
                <a:sym typeface="Montserrat"/>
              </a:rPr>
              <a:t>4</a:t>
            </a:r>
            <a:endParaRPr sz="3300" b="1" i="0" u="none" strike="noStrike" cap="none">
              <a:solidFill>
                <a:srgbClr val="2A8BFC"/>
              </a:solidFill>
              <a:latin typeface="Montserrat"/>
              <a:ea typeface="Montserrat"/>
              <a:cs typeface="Montserrat"/>
              <a:sym typeface="Montserrat"/>
            </a:endParaRPr>
          </a:p>
          <a:p>
            <a:pPr marL="0" marR="0" lvl="0" indent="0" algn="l" rtl="0">
              <a:lnSpc>
                <a:spcPct val="90000"/>
              </a:lnSpc>
              <a:spcBef>
                <a:spcPts val="0"/>
              </a:spcBef>
              <a:spcAft>
                <a:spcPts val="0"/>
              </a:spcAft>
              <a:buClr>
                <a:srgbClr val="000000"/>
              </a:buClr>
              <a:buSzPts val="1600"/>
              <a:buFont typeface="Montserrat SemiBold"/>
              <a:buNone/>
            </a:pPr>
            <a:endParaRPr sz="3600" b="1"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500"/>
              <a:buFont typeface="Arial"/>
              <a:buNone/>
            </a:pPr>
            <a:r>
              <a:rPr lang="es-ES" sz="2200" b="1">
                <a:solidFill>
                  <a:srgbClr val="FFFFFF"/>
                </a:solidFill>
                <a:latin typeface="Montserrat"/>
                <a:ea typeface="Montserrat"/>
                <a:cs typeface="Montserrat"/>
                <a:sym typeface="Montserrat"/>
              </a:rPr>
              <a:t>GRIDS II</a:t>
            </a:r>
            <a:endParaRPr sz="1500" b="1" i="0" u="none" strike="noStrike" cap="none">
              <a:solidFill>
                <a:srgbClr val="FFFFFF"/>
              </a:solidFill>
              <a:latin typeface="Montserrat"/>
              <a:ea typeface="Montserrat"/>
              <a:cs typeface="Montserrat"/>
              <a:sym typeface="Montserrat"/>
            </a:endParaRPr>
          </a:p>
        </p:txBody>
      </p:sp>
      <p:pic>
        <p:nvPicPr>
          <p:cNvPr id="292" name="Google Shape;292;g1ee9218af08_0_6"/>
          <p:cNvPicPr preferRelativeResize="0"/>
          <p:nvPr/>
        </p:nvPicPr>
        <p:blipFill rotWithShape="1">
          <a:blip r:embed="rId6">
            <a:alphaModFix/>
          </a:blip>
          <a:srcRect r="11276"/>
          <a:stretch/>
        </p:blipFill>
        <p:spPr>
          <a:xfrm>
            <a:off x="3439425" y="0"/>
            <a:ext cx="8752573" cy="6857999"/>
          </a:xfrm>
          <a:prstGeom prst="rect">
            <a:avLst/>
          </a:prstGeom>
          <a:noFill/>
          <a:ln>
            <a:noFill/>
          </a:ln>
        </p:spPr>
      </p:pic>
      <p:sp>
        <p:nvSpPr>
          <p:cNvPr id="293" name="Google Shape;293;g1ee9218af08_0_6"/>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i="0" u="none" strike="noStrike" cap="none">
                <a:solidFill>
                  <a:srgbClr val="FFFFFF"/>
                </a:solidFill>
                <a:latin typeface="Montserrat"/>
                <a:ea typeface="Montserrat"/>
                <a:cs typeface="Montserrat"/>
                <a:sym typeface="Montserrat"/>
              </a:rPr>
              <a:t>1</a:t>
            </a:r>
            <a:r>
              <a:rPr lang="es-ES" sz="1300" b="1">
                <a:solidFill>
                  <a:srgbClr val="FFFFFF"/>
                </a:solidFill>
                <a:latin typeface="Montserrat"/>
                <a:ea typeface="Montserrat"/>
                <a:cs typeface="Montserrat"/>
                <a:sym typeface="Montserrat"/>
              </a:rPr>
              <a:t>1</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2ae66c03690_0_30"/>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9" name="Google Shape;299;g2ae66c03690_0_30"/>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300" name="Google Shape;300;g2ae66c03690_0_30"/>
          <p:cNvSpPr txBox="1"/>
          <p:nvPr/>
        </p:nvSpPr>
        <p:spPr>
          <a:xfrm>
            <a:off x="785575" y="1385550"/>
            <a:ext cx="10489200" cy="1339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ES" sz="1500" b="1">
                <a:latin typeface="Montserrat"/>
                <a:ea typeface="Montserrat"/>
                <a:cs typeface="Montserrat"/>
                <a:sym typeface="Montserrat"/>
              </a:rPr>
              <a:t>Conceptos Clave:</a:t>
            </a: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Repetición y Autoajuste:</a:t>
            </a:r>
            <a:r>
              <a:rPr lang="es-ES" sz="1500">
                <a:latin typeface="Montserrat"/>
                <a:ea typeface="Montserrat"/>
                <a:cs typeface="Montserrat"/>
                <a:sym typeface="Montserrat"/>
              </a:rPr>
              <a:t> Uso de funciones como repeat() y auto-fill para manejar grillas dinámicas.</a:t>
            </a: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Alineación Avanzada: </a:t>
            </a:r>
            <a:r>
              <a:rPr lang="es-ES" sz="1500">
                <a:latin typeface="Montserrat"/>
                <a:ea typeface="Montserrat"/>
                <a:cs typeface="Montserrat"/>
                <a:sym typeface="Montserrat"/>
              </a:rPr>
              <a:t>Control detallado de la alineación de ítems y áreas dentro de la grilla con align-self y justify-self.</a:t>
            </a: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Grillas Anidadas:</a:t>
            </a:r>
            <a:r>
              <a:rPr lang="es-ES" sz="1500">
                <a:latin typeface="Montserrat"/>
                <a:ea typeface="Montserrat"/>
                <a:cs typeface="Montserrat"/>
                <a:sym typeface="Montserrat"/>
              </a:rPr>
              <a:t> Creación de grillas dentro de otras grillas para diseños más complejos.</a:t>
            </a:r>
            <a:endParaRPr sz="1500">
              <a:latin typeface="Montserrat"/>
              <a:ea typeface="Montserrat"/>
              <a:cs typeface="Montserrat"/>
              <a:sym typeface="Montserrat"/>
            </a:endParaRPr>
          </a:p>
        </p:txBody>
      </p:sp>
      <p:sp>
        <p:nvSpPr>
          <p:cNvPr id="301" name="Google Shape;301;g2ae66c03690_0_30"/>
          <p:cNvSpPr txBox="1"/>
          <p:nvPr/>
        </p:nvSpPr>
        <p:spPr>
          <a:xfrm>
            <a:off x="785575" y="707075"/>
            <a:ext cx="57015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ES" sz="3000">
                <a:solidFill>
                  <a:srgbClr val="000F5A"/>
                </a:solidFill>
                <a:latin typeface="Montserrat ExtraBold"/>
                <a:ea typeface="Montserrat ExtraBold"/>
                <a:cs typeface="Montserrat ExtraBold"/>
                <a:sym typeface="Montserrat ExtraBold"/>
              </a:rPr>
              <a:t>GRIDS II</a:t>
            </a:r>
            <a:endParaRPr sz="3000">
              <a:solidFill>
                <a:srgbClr val="2A8BFC"/>
              </a:solidFill>
              <a:latin typeface="Montserrat ExtraBold"/>
              <a:ea typeface="Montserrat ExtraBold"/>
              <a:cs typeface="Montserrat ExtraBold"/>
              <a:sym typeface="Montserrat ExtraBold"/>
            </a:endParaRPr>
          </a:p>
        </p:txBody>
      </p:sp>
      <p:pic>
        <p:nvPicPr>
          <p:cNvPr id="302" name="Google Shape;302;g2ae66c03690_0_30"/>
          <p:cNvPicPr preferRelativeResize="0"/>
          <p:nvPr/>
        </p:nvPicPr>
        <p:blipFill rotWithShape="1">
          <a:blip r:embed="rId4">
            <a:alphaModFix/>
          </a:blip>
          <a:srcRect l="2740" r="2102"/>
          <a:stretch/>
        </p:blipFill>
        <p:spPr>
          <a:xfrm>
            <a:off x="5496250" y="2945700"/>
            <a:ext cx="6093125" cy="2744400"/>
          </a:xfrm>
          <a:prstGeom prst="rect">
            <a:avLst/>
          </a:prstGeom>
          <a:noFill/>
          <a:ln>
            <a:noFill/>
          </a:ln>
        </p:spPr>
      </p:pic>
      <p:sp>
        <p:nvSpPr>
          <p:cNvPr id="303" name="Google Shape;303;g2ae66c03690_0_30"/>
          <p:cNvSpPr txBox="1"/>
          <p:nvPr/>
        </p:nvSpPr>
        <p:spPr>
          <a:xfrm>
            <a:off x="785575" y="2724750"/>
            <a:ext cx="4391700" cy="3186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ES" sz="1500" b="1">
                <a:latin typeface="Montserrat"/>
                <a:ea typeface="Montserrat"/>
                <a:cs typeface="Montserrat"/>
                <a:sym typeface="Montserrat"/>
              </a:rPr>
              <a:t>Beneficios: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Mayor flexibilidad y precisión en el diseño de layouts.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Capacidad de crear diseños altamente personalizables y responsivos.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Optimización del espacio y la organización visual del contenido.</a:t>
            </a:r>
            <a:endParaRPr sz="1500">
              <a:latin typeface="Montserrat"/>
              <a:ea typeface="Montserrat"/>
              <a:cs typeface="Montserrat"/>
              <a:sym typeface="Montserrat"/>
            </a:endParaRPr>
          </a:p>
          <a:p>
            <a:pPr marL="0" lvl="0" indent="0" algn="just" rtl="0">
              <a:spcBef>
                <a:spcPts val="0"/>
              </a:spcBef>
              <a:spcAft>
                <a:spcPts val="0"/>
              </a:spcAft>
              <a:buNone/>
            </a:pPr>
            <a:endParaRPr sz="1500">
              <a:latin typeface="Montserrat"/>
              <a:ea typeface="Montserrat"/>
              <a:cs typeface="Montserrat"/>
              <a:sym typeface="Montserrat"/>
            </a:endParaRPr>
          </a:p>
          <a:p>
            <a:pPr marL="0" lvl="0" indent="0" algn="just" rtl="0">
              <a:spcBef>
                <a:spcPts val="0"/>
              </a:spcBef>
              <a:spcAft>
                <a:spcPts val="0"/>
              </a:spcAft>
              <a:buNone/>
            </a:pPr>
            <a:r>
              <a:rPr lang="es-ES" sz="1500" b="1">
                <a:latin typeface="Montserrat"/>
                <a:ea typeface="Montserrat"/>
                <a:cs typeface="Montserrat"/>
                <a:sym typeface="Montserrat"/>
              </a:rPr>
              <a:t>Aplicaciones Prácticas: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Desarrollar interfaces de usuario complejas con múltiples niveles de grillas.</a:t>
            </a:r>
            <a:endParaRPr sz="1500">
              <a:latin typeface="Montserrat"/>
              <a:ea typeface="Montserrat"/>
              <a:cs typeface="Montserrat"/>
              <a:sym typeface="Montserrat"/>
            </a:endParaRPr>
          </a:p>
          <a:p>
            <a:pPr marL="0" lvl="0" indent="0" algn="just" rtl="0">
              <a:spcBef>
                <a:spcPts val="0"/>
              </a:spcBef>
              <a:spcAft>
                <a:spcPts val="0"/>
              </a:spcAft>
              <a:buNone/>
            </a:pPr>
            <a:r>
              <a:rPr lang="es-ES" sz="1500">
                <a:latin typeface="Montserrat"/>
                <a:ea typeface="Montserrat"/>
                <a:cs typeface="Montserrat"/>
                <a:sym typeface="Montserrat"/>
              </a:rPr>
              <a:t>Implementar dashboards y paneles de control con estructuras de grilla avanzadas.</a:t>
            </a:r>
            <a:endParaRPr sz="1500">
              <a:latin typeface="Montserrat"/>
              <a:ea typeface="Montserrat"/>
              <a:cs typeface="Montserrat"/>
              <a:sym typeface="Montserrat"/>
            </a:endParaRPr>
          </a:p>
        </p:txBody>
      </p:sp>
      <p:pic>
        <p:nvPicPr>
          <p:cNvPr id="304" name="Google Shape;304;g2ae66c03690_0_30"/>
          <p:cNvPicPr preferRelativeResize="0"/>
          <p:nvPr/>
        </p:nvPicPr>
        <p:blipFill rotWithShape="1">
          <a:blip r:embed="rId5">
            <a:alphaModFix/>
          </a:blip>
          <a:srcRect/>
          <a:stretch/>
        </p:blipFill>
        <p:spPr>
          <a:xfrm>
            <a:off x="-59625" y="6166100"/>
            <a:ext cx="12338525" cy="773275"/>
          </a:xfrm>
          <a:prstGeom prst="rect">
            <a:avLst/>
          </a:prstGeom>
          <a:noFill/>
          <a:ln>
            <a:noFill/>
          </a:ln>
        </p:spPr>
      </p:pic>
      <p:sp>
        <p:nvSpPr>
          <p:cNvPr id="305" name="Google Shape;305;g2ae66c03690_0_30"/>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12</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7">
          <a:extLst>
            <a:ext uri="{FF2B5EF4-FFF2-40B4-BE49-F238E27FC236}">
              <a16:creationId xmlns:a16="http://schemas.microsoft.com/office/drawing/2014/main" id="{4044777A-9C67-0778-6420-1283E8AC6604}"/>
            </a:ext>
          </a:extLst>
        </p:cNvPr>
        <p:cNvGrpSpPr/>
        <p:nvPr/>
      </p:nvGrpSpPr>
      <p:grpSpPr>
        <a:xfrm>
          <a:off x="0" y="0"/>
          <a:ext cx="0" cy="0"/>
          <a:chOff x="0" y="0"/>
          <a:chExt cx="0" cy="0"/>
        </a:xfrm>
      </p:grpSpPr>
      <p:sp>
        <p:nvSpPr>
          <p:cNvPr id="298" name="Google Shape;298;g2ae66c03690_0_30">
            <a:extLst>
              <a:ext uri="{FF2B5EF4-FFF2-40B4-BE49-F238E27FC236}">
                <a16:creationId xmlns:a16="http://schemas.microsoft.com/office/drawing/2014/main" id="{3C5E1D52-7409-13DC-B288-186ACEED52F7}"/>
              </a:ext>
            </a:extLst>
          </p:cNvPr>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9" name="Google Shape;299;g2ae66c03690_0_30">
            <a:extLst>
              <a:ext uri="{FF2B5EF4-FFF2-40B4-BE49-F238E27FC236}">
                <a16:creationId xmlns:a16="http://schemas.microsoft.com/office/drawing/2014/main" id="{DA2FF4CB-DAC5-1CFB-16BD-F09802E6142B}"/>
              </a:ext>
            </a:extLst>
          </p:cNvPr>
          <p:cNvPicPr preferRelativeResize="0"/>
          <p:nvPr/>
        </p:nvPicPr>
        <p:blipFill rotWithShape="1">
          <a:blip r:embed="rId3">
            <a:alphaModFix/>
          </a:blip>
          <a:srcRect/>
          <a:stretch/>
        </p:blipFill>
        <p:spPr>
          <a:xfrm>
            <a:off x="10347738" y="209926"/>
            <a:ext cx="1626480" cy="769500"/>
          </a:xfrm>
          <a:prstGeom prst="rect">
            <a:avLst/>
          </a:prstGeom>
          <a:noFill/>
          <a:ln>
            <a:noFill/>
          </a:ln>
        </p:spPr>
      </p:pic>
      <p:sp>
        <p:nvSpPr>
          <p:cNvPr id="301" name="Google Shape;301;g2ae66c03690_0_30">
            <a:extLst>
              <a:ext uri="{FF2B5EF4-FFF2-40B4-BE49-F238E27FC236}">
                <a16:creationId xmlns:a16="http://schemas.microsoft.com/office/drawing/2014/main" id="{60414EA8-779C-DFB6-1FAD-843267302205}"/>
              </a:ext>
            </a:extLst>
          </p:cNvPr>
          <p:cNvSpPr txBox="1"/>
          <p:nvPr/>
        </p:nvSpPr>
        <p:spPr>
          <a:xfrm>
            <a:off x="785575" y="707075"/>
            <a:ext cx="57015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ES" sz="3000">
                <a:solidFill>
                  <a:srgbClr val="000F5A"/>
                </a:solidFill>
                <a:latin typeface="Montserrat ExtraBold"/>
                <a:ea typeface="Montserrat ExtraBold"/>
                <a:cs typeface="Montserrat ExtraBold"/>
                <a:sym typeface="Montserrat ExtraBold"/>
              </a:rPr>
              <a:t>GRIDS II</a:t>
            </a:r>
            <a:endParaRPr sz="3000">
              <a:solidFill>
                <a:srgbClr val="2A8BFC"/>
              </a:solidFill>
              <a:latin typeface="Montserrat ExtraBold"/>
              <a:ea typeface="Montserrat ExtraBold"/>
              <a:cs typeface="Montserrat ExtraBold"/>
              <a:sym typeface="Montserrat ExtraBold"/>
            </a:endParaRPr>
          </a:p>
        </p:txBody>
      </p:sp>
      <p:pic>
        <p:nvPicPr>
          <p:cNvPr id="304" name="Google Shape;304;g2ae66c03690_0_30">
            <a:extLst>
              <a:ext uri="{FF2B5EF4-FFF2-40B4-BE49-F238E27FC236}">
                <a16:creationId xmlns:a16="http://schemas.microsoft.com/office/drawing/2014/main" id="{2F77AF36-EFEB-D499-08F8-5EC65970108D}"/>
              </a:ext>
            </a:extLst>
          </p:cNvPr>
          <p:cNvPicPr preferRelativeResize="0"/>
          <p:nvPr/>
        </p:nvPicPr>
        <p:blipFill rotWithShape="1">
          <a:blip r:embed="rId4">
            <a:alphaModFix/>
          </a:blip>
          <a:srcRect/>
          <a:stretch/>
        </p:blipFill>
        <p:spPr>
          <a:xfrm>
            <a:off x="-59625" y="6166100"/>
            <a:ext cx="12338525" cy="773275"/>
          </a:xfrm>
          <a:prstGeom prst="rect">
            <a:avLst/>
          </a:prstGeom>
          <a:noFill/>
          <a:ln>
            <a:noFill/>
          </a:ln>
        </p:spPr>
      </p:pic>
      <p:sp>
        <p:nvSpPr>
          <p:cNvPr id="305" name="Google Shape;305;g2ae66c03690_0_30">
            <a:extLst>
              <a:ext uri="{FF2B5EF4-FFF2-40B4-BE49-F238E27FC236}">
                <a16:creationId xmlns:a16="http://schemas.microsoft.com/office/drawing/2014/main" id="{A3216F67-817F-8312-379E-3B8E8DC4EFB8}"/>
              </a:ext>
            </a:extLst>
          </p:cNvPr>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FFFFFF"/>
                </a:solidFill>
                <a:latin typeface="Montserrat"/>
                <a:ea typeface="Montserrat"/>
                <a:cs typeface="Montserrat"/>
                <a:sym typeface="Montserrat"/>
              </a:rPr>
              <a:t>12</a:t>
            </a:r>
            <a:r>
              <a:rPr lang="es-ES" sz="1300" b="1" i="0" u="none" strike="noStrike" cap="none">
                <a:solidFill>
                  <a:srgbClr val="FFFFFF"/>
                </a:solidFill>
                <a:latin typeface="Montserrat"/>
                <a:ea typeface="Montserrat"/>
                <a:cs typeface="Montserrat"/>
                <a:sym typeface="Montserrat"/>
              </a:rPr>
              <a:t>.</a:t>
            </a:r>
            <a:endParaRPr sz="1300" b="1" i="0" u="none" strike="noStrike" cap="none">
              <a:solidFill>
                <a:srgbClr val="FFFFFF"/>
              </a:solidFill>
              <a:latin typeface="Montserrat"/>
              <a:ea typeface="Montserrat"/>
              <a:cs typeface="Montserrat"/>
              <a:sym typeface="Montserrat"/>
            </a:endParaRPr>
          </a:p>
        </p:txBody>
      </p:sp>
      <p:pic>
        <p:nvPicPr>
          <p:cNvPr id="3" name="Imagen 2" descr="Imagen que contiene Diagrama&#10;&#10;Descripción generada automáticamente">
            <a:extLst>
              <a:ext uri="{FF2B5EF4-FFF2-40B4-BE49-F238E27FC236}">
                <a16:creationId xmlns:a16="http://schemas.microsoft.com/office/drawing/2014/main" id="{B85990B6-0CFB-C322-92BA-866F716C5B01}"/>
              </a:ext>
            </a:extLst>
          </p:cNvPr>
          <p:cNvPicPr>
            <a:picLocks noChangeAspect="1"/>
          </p:cNvPicPr>
          <p:nvPr/>
        </p:nvPicPr>
        <p:blipFill>
          <a:blip r:embed="rId5"/>
          <a:stretch>
            <a:fillRect/>
          </a:stretch>
        </p:blipFill>
        <p:spPr>
          <a:xfrm>
            <a:off x="7125067" y="1253858"/>
            <a:ext cx="3576604" cy="4842387"/>
          </a:xfrm>
          <a:prstGeom prst="rect">
            <a:avLst/>
          </a:prstGeom>
        </p:spPr>
      </p:pic>
      <p:pic>
        <p:nvPicPr>
          <p:cNvPr id="1026" name="Picture 2" descr="Image">
            <a:extLst>
              <a:ext uri="{FF2B5EF4-FFF2-40B4-BE49-F238E27FC236}">
                <a16:creationId xmlns:a16="http://schemas.microsoft.com/office/drawing/2014/main" id="{5CF15B51-FD7A-8465-B0C2-49203C3710D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12766"/>
          <a:stretch/>
        </p:blipFill>
        <p:spPr bwMode="auto">
          <a:xfrm>
            <a:off x="1306514" y="1253858"/>
            <a:ext cx="5553625" cy="4842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5175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g2aec3b0e815_0_551"/>
          <p:cNvPicPr preferRelativeResize="0"/>
          <p:nvPr/>
        </p:nvPicPr>
        <p:blipFill rotWithShape="1">
          <a:blip r:embed="rId3">
            <a:alphaModFix/>
          </a:blip>
          <a:srcRect/>
          <a:stretch/>
        </p:blipFill>
        <p:spPr>
          <a:xfrm>
            <a:off x="0" y="-86287"/>
            <a:ext cx="4395700" cy="6944276"/>
          </a:xfrm>
          <a:prstGeom prst="rect">
            <a:avLst/>
          </a:prstGeom>
          <a:noFill/>
          <a:ln>
            <a:noFill/>
          </a:ln>
          <a:effectLst>
            <a:reflection endPos="35000" dist="38100" dir="5400000" fadeDir="5400012" sy="-100000" algn="bl" rotWithShape="0"/>
          </a:effectLst>
        </p:spPr>
      </p:pic>
      <p:pic>
        <p:nvPicPr>
          <p:cNvPr id="311" name="Google Shape;311;g2aec3b0e815_0_551"/>
          <p:cNvPicPr preferRelativeResize="0"/>
          <p:nvPr/>
        </p:nvPicPr>
        <p:blipFill rotWithShape="1">
          <a:blip r:embed="rId4">
            <a:alphaModFix/>
          </a:blip>
          <a:srcRect/>
          <a:stretch/>
        </p:blipFill>
        <p:spPr>
          <a:xfrm>
            <a:off x="-172150" y="-148025"/>
            <a:ext cx="4567849" cy="8375726"/>
          </a:xfrm>
          <a:prstGeom prst="rect">
            <a:avLst/>
          </a:prstGeom>
          <a:noFill/>
          <a:ln>
            <a:noFill/>
          </a:ln>
        </p:spPr>
      </p:pic>
      <p:sp>
        <p:nvSpPr>
          <p:cNvPr id="312" name="Google Shape;312;g2aec3b0e815_0_551"/>
          <p:cNvSpPr/>
          <p:nvPr/>
        </p:nvSpPr>
        <p:spPr>
          <a:xfrm>
            <a:off x="11416034" y="645600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i="0" u="none" strike="noStrike" cap="none">
                <a:solidFill>
                  <a:schemeClr val="lt1"/>
                </a:solidFill>
                <a:latin typeface="Montserrat"/>
                <a:ea typeface="Montserrat"/>
                <a:cs typeface="Montserrat"/>
                <a:sym typeface="Montserrat"/>
              </a:rPr>
              <a:t>18.</a:t>
            </a:r>
            <a:endParaRPr sz="1300" b="1" i="0" u="none" strike="noStrike" cap="none">
              <a:solidFill>
                <a:schemeClr val="lt1"/>
              </a:solidFill>
              <a:latin typeface="Montserrat"/>
              <a:ea typeface="Montserrat"/>
              <a:cs typeface="Montserrat"/>
              <a:sym typeface="Montserrat"/>
            </a:endParaRPr>
          </a:p>
        </p:txBody>
      </p:sp>
      <p:sp>
        <p:nvSpPr>
          <p:cNvPr id="313" name="Google Shape;313;g2aec3b0e815_0_551"/>
          <p:cNvSpPr txBox="1"/>
          <p:nvPr/>
        </p:nvSpPr>
        <p:spPr>
          <a:xfrm>
            <a:off x="438900" y="1510400"/>
            <a:ext cx="3704910" cy="151064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500"/>
              </a:spcBef>
              <a:spcAft>
                <a:spcPts val="0"/>
              </a:spcAft>
              <a:buClr>
                <a:srgbClr val="000000"/>
              </a:buClr>
              <a:buSzPts val="2300"/>
              <a:buFont typeface="Arial"/>
              <a:buNone/>
            </a:pPr>
            <a:r>
              <a:rPr lang="es-ES" sz="4100" b="0" i="0" u="none" strike="noStrike" cap="none" dirty="0">
                <a:solidFill>
                  <a:srgbClr val="2A8BFC"/>
                </a:solidFill>
                <a:latin typeface="Montserrat ExtraBold"/>
                <a:ea typeface="Montserrat ExtraBold"/>
                <a:cs typeface="Montserrat ExtraBold"/>
                <a:sym typeface="Montserrat ExtraBold"/>
              </a:rPr>
              <a:t>CASO</a:t>
            </a:r>
            <a:r>
              <a:rPr lang="es-ES" sz="4100" b="0" i="0" u="none" strike="noStrike" cap="none" dirty="0">
                <a:solidFill>
                  <a:srgbClr val="000F5A"/>
                </a:solidFill>
                <a:latin typeface="Montserrat ExtraBold"/>
                <a:ea typeface="Montserrat ExtraBold"/>
                <a:cs typeface="Montserrat ExtraBold"/>
                <a:sym typeface="Montserrat ExtraBold"/>
              </a:rPr>
              <a:t> </a:t>
            </a:r>
            <a:r>
              <a:rPr lang="es-ES" sz="4100" b="0" i="0" u="none" strike="noStrike" cap="none" dirty="0">
                <a:solidFill>
                  <a:schemeClr val="lt1"/>
                </a:solidFill>
                <a:latin typeface="Montserrat ExtraBold"/>
                <a:ea typeface="Montserrat ExtraBold"/>
                <a:cs typeface="Montserrat ExtraBold"/>
                <a:sym typeface="Montserrat ExtraBold"/>
              </a:rPr>
              <a:t>PRÁCTICO 4</a:t>
            </a:r>
            <a:r>
              <a:rPr lang="es-ES" sz="4100" b="0" i="0" u="none" strike="noStrike" cap="none" dirty="0">
                <a:solidFill>
                  <a:srgbClr val="000F5A"/>
                </a:solidFill>
                <a:latin typeface="Montserrat ExtraBold"/>
                <a:ea typeface="Montserrat ExtraBold"/>
                <a:cs typeface="Montserrat ExtraBold"/>
                <a:sym typeface="Montserrat ExtraBold"/>
              </a:rPr>
              <a:t> </a:t>
            </a:r>
            <a:endParaRPr sz="4100" b="0" i="0" u="none" strike="noStrike" cap="none" dirty="0">
              <a:solidFill>
                <a:srgbClr val="000F5A"/>
              </a:solidFill>
              <a:latin typeface="Montserrat ExtraBold"/>
              <a:ea typeface="Montserrat ExtraBold"/>
              <a:cs typeface="Montserrat ExtraBold"/>
              <a:sym typeface="Montserrat ExtraBold"/>
            </a:endParaRPr>
          </a:p>
        </p:txBody>
      </p:sp>
      <p:pic>
        <p:nvPicPr>
          <p:cNvPr id="314" name="Google Shape;314;g2aec3b0e815_0_551"/>
          <p:cNvPicPr preferRelativeResize="0"/>
          <p:nvPr/>
        </p:nvPicPr>
        <p:blipFill rotWithShape="1">
          <a:blip r:embed="rId5">
            <a:alphaModFix/>
          </a:blip>
          <a:srcRect/>
          <a:stretch/>
        </p:blipFill>
        <p:spPr>
          <a:xfrm>
            <a:off x="2662225" y="5270375"/>
            <a:ext cx="1226575" cy="1403825"/>
          </a:xfrm>
          <a:prstGeom prst="rect">
            <a:avLst/>
          </a:prstGeom>
          <a:noFill/>
          <a:ln>
            <a:noFill/>
          </a:ln>
        </p:spPr>
      </p:pic>
      <p:cxnSp>
        <p:nvCxnSpPr>
          <p:cNvPr id="315" name="Google Shape;315;g2aec3b0e815_0_551"/>
          <p:cNvCxnSpPr/>
          <p:nvPr/>
        </p:nvCxnSpPr>
        <p:spPr>
          <a:xfrm flipH="1">
            <a:off x="290300" y="1180925"/>
            <a:ext cx="9900" cy="2624400"/>
          </a:xfrm>
          <a:prstGeom prst="straightConnector1">
            <a:avLst/>
          </a:prstGeom>
          <a:noFill/>
          <a:ln w="19050" cap="flat" cmpd="sng">
            <a:solidFill>
              <a:schemeClr val="lt1"/>
            </a:solidFill>
            <a:prstDash val="solid"/>
            <a:round/>
            <a:headEnd type="none" w="sm" len="sm"/>
            <a:tailEnd type="none" w="sm" len="sm"/>
          </a:ln>
        </p:spPr>
      </p:cxnSp>
      <p:sp>
        <p:nvSpPr>
          <p:cNvPr id="316" name="Google Shape;316;g2aec3b0e815_0_551"/>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i="0" u="none" strike="noStrike" cap="none">
                <a:solidFill>
                  <a:srgbClr val="000F5A"/>
                </a:solidFill>
                <a:latin typeface="Montserrat"/>
                <a:ea typeface="Montserrat"/>
                <a:cs typeface="Montserrat"/>
                <a:sym typeface="Montserrat"/>
              </a:rPr>
              <a:t>1</a:t>
            </a:r>
            <a:r>
              <a:rPr lang="es-ES" sz="1300" b="1">
                <a:solidFill>
                  <a:srgbClr val="000F5A"/>
                </a:solidFill>
                <a:latin typeface="Montserrat"/>
                <a:ea typeface="Montserrat"/>
                <a:cs typeface="Montserrat"/>
                <a:sym typeface="Montserrat"/>
              </a:rPr>
              <a:t>3</a:t>
            </a:r>
            <a:r>
              <a:rPr lang="es-ES" sz="1300" b="1" i="0" u="none" strike="noStrike" cap="none">
                <a:solidFill>
                  <a:srgbClr val="000F5A"/>
                </a:solidFill>
                <a:latin typeface="Montserrat"/>
                <a:ea typeface="Montserrat"/>
                <a:cs typeface="Montserrat"/>
                <a:sym typeface="Montserrat"/>
              </a:rPr>
              <a:t>.</a:t>
            </a:r>
            <a:endParaRPr sz="1300" b="1" i="0" u="none" strike="noStrike" cap="none">
              <a:solidFill>
                <a:srgbClr val="000F5A"/>
              </a:solidFill>
              <a:latin typeface="Montserrat"/>
              <a:ea typeface="Montserrat"/>
              <a:cs typeface="Montserrat"/>
              <a:sym typeface="Montserrat"/>
            </a:endParaRPr>
          </a:p>
        </p:txBody>
      </p:sp>
      <p:pic>
        <p:nvPicPr>
          <p:cNvPr id="317" name="Google Shape;317;g2aec3b0e815_0_551"/>
          <p:cNvPicPr preferRelativeResize="0"/>
          <p:nvPr/>
        </p:nvPicPr>
        <p:blipFill rotWithShape="1">
          <a:blip r:embed="rId6">
            <a:alphaModFix/>
          </a:blip>
          <a:srcRect/>
          <a:stretch/>
        </p:blipFill>
        <p:spPr>
          <a:xfrm>
            <a:off x="10347738" y="195976"/>
            <a:ext cx="1626480" cy="769500"/>
          </a:xfrm>
          <a:prstGeom prst="rect">
            <a:avLst/>
          </a:prstGeom>
          <a:noFill/>
          <a:ln>
            <a:noFill/>
          </a:ln>
        </p:spPr>
      </p:pic>
      <p:sp>
        <p:nvSpPr>
          <p:cNvPr id="318" name="Google Shape;318;g2aec3b0e815_0_551"/>
          <p:cNvSpPr txBox="1"/>
          <p:nvPr/>
        </p:nvSpPr>
        <p:spPr>
          <a:xfrm>
            <a:off x="5116525" y="1741475"/>
            <a:ext cx="6449700" cy="76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solidFill>
                <a:srgbClr val="000000"/>
              </a:solidFill>
              <a:latin typeface="Calibri"/>
              <a:ea typeface="Calibri"/>
              <a:cs typeface="Calibri"/>
              <a:sym typeface="Calibri"/>
            </a:endParaRPr>
          </a:p>
        </p:txBody>
      </p:sp>
      <p:sp>
        <p:nvSpPr>
          <p:cNvPr id="319" name="Google Shape;319;g2aec3b0e815_0_551"/>
          <p:cNvSpPr txBox="1"/>
          <p:nvPr/>
        </p:nvSpPr>
        <p:spPr>
          <a:xfrm>
            <a:off x="5081875" y="2117575"/>
            <a:ext cx="6892500" cy="3585567"/>
          </a:xfrm>
          <a:prstGeom prst="rect">
            <a:avLst/>
          </a:prstGeom>
          <a:noFill/>
          <a:ln>
            <a:noFill/>
          </a:ln>
        </p:spPr>
        <p:txBody>
          <a:bodyPr spcFirstLastPara="1" wrap="square" lIns="91425" tIns="91425" rIns="91425" bIns="91425" anchor="t" anchorCtr="0">
            <a:spAutoFit/>
          </a:bodyPr>
          <a:lstStyle/>
          <a:p>
            <a:pPr algn="just"/>
            <a:r>
              <a:rPr lang="es-ES" sz="1700" dirty="0">
                <a:latin typeface="Montserrat"/>
                <a:ea typeface="Montserrat"/>
                <a:cs typeface="Montserrat"/>
                <a:sym typeface="Montserrat"/>
              </a:rPr>
              <a:t>María es una desarrolladora web en </a:t>
            </a:r>
            <a:r>
              <a:rPr lang="es-ES" sz="1700" b="1" dirty="0">
                <a:latin typeface="Montserrat"/>
                <a:ea typeface="Montserrat"/>
                <a:cs typeface="Montserrat"/>
                <a:sym typeface="Montserrat"/>
              </a:rPr>
              <a:t>DEVLAB</a:t>
            </a:r>
            <a:r>
              <a:rPr lang="es-ES" sz="1700" dirty="0">
                <a:latin typeface="Montserrat"/>
                <a:ea typeface="Montserrat"/>
                <a:cs typeface="Montserrat"/>
                <a:sym typeface="Montserrat"/>
              </a:rPr>
              <a:t>, una empresa de desarrollo de software. La empresa tiene un proyecto de realizar un Sitio web de cursos para una institución educativa. Su objetivo es crear un sitio web intuitivo y estéticamente agradable, especialmente para dispositivos móviles. El sitio web debe ser completamente responsive, con un formulario de registro y de contacto seguro, secciones informativas de cursos, especializaciones y un menú de navegación que se adapte a diferentes tamaños de pantalla.</a:t>
            </a:r>
          </a:p>
          <a:p>
            <a:pPr marL="0" lvl="0" indent="0" algn="just" rtl="0">
              <a:spcBef>
                <a:spcPts val="0"/>
              </a:spcBef>
              <a:spcAft>
                <a:spcPts val="0"/>
              </a:spcAft>
              <a:buNone/>
            </a:pPr>
            <a:endParaRPr sz="1700" dirty="0">
              <a:latin typeface="Montserrat"/>
              <a:ea typeface="Montserrat"/>
              <a:cs typeface="Montserrat"/>
              <a:sym typeface="Montserrat"/>
            </a:endParaRPr>
          </a:p>
          <a:p>
            <a:pPr marL="0" lvl="0" indent="0" algn="just" rtl="0">
              <a:spcBef>
                <a:spcPts val="0"/>
              </a:spcBef>
              <a:spcAft>
                <a:spcPts val="0"/>
              </a:spcAft>
              <a:buNone/>
            </a:pPr>
            <a:r>
              <a:rPr lang="es-ES" sz="1700" b="1" i="1" dirty="0">
                <a:latin typeface="Montserrat"/>
                <a:ea typeface="Montserrat"/>
                <a:cs typeface="Montserrat"/>
                <a:sym typeface="Montserrat"/>
              </a:rPr>
              <a:t>¡Ayuda a María a crear un sitio web responsive para la institución educativa!</a:t>
            </a:r>
            <a:endParaRPr sz="1700" b="1" i="1" dirty="0">
              <a:latin typeface="Montserrat"/>
              <a:ea typeface="Montserrat"/>
              <a:cs typeface="Montserrat"/>
              <a:sym typeface="Montserrat"/>
            </a:endParaRPr>
          </a:p>
        </p:txBody>
      </p:sp>
      <p:sp>
        <p:nvSpPr>
          <p:cNvPr id="320" name="Google Shape;320;g2aec3b0e815_0_551"/>
          <p:cNvSpPr txBox="1"/>
          <p:nvPr/>
        </p:nvSpPr>
        <p:spPr>
          <a:xfrm>
            <a:off x="5149222" y="1248875"/>
            <a:ext cx="6384300" cy="800189"/>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es-ES" sz="2000" dirty="0">
                <a:solidFill>
                  <a:srgbClr val="000F5A"/>
                </a:solidFill>
                <a:latin typeface="Montserrat ExtraBold"/>
                <a:ea typeface="Montserrat ExtraBold"/>
                <a:cs typeface="Montserrat ExtraBold"/>
                <a:sym typeface="Montserrat ExtraBold"/>
              </a:rPr>
              <a:t>Creación de un Menú de Navegación con Diseño Responsive</a:t>
            </a:r>
            <a:endParaRPr sz="2000" b="0" i="0" u="none" strike="noStrike" cap="none" dirty="0">
              <a:solidFill>
                <a:srgbClr val="000F5A"/>
              </a:solidFill>
              <a:latin typeface="Montserrat ExtraBold"/>
              <a:ea typeface="Montserrat ExtraBold"/>
              <a:cs typeface="Montserrat ExtraBold"/>
              <a:sym typeface="Montserrat Extra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g2b055251057_0_128"/>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b055251057_0_128"/>
          <p:cNvSpPr txBox="1"/>
          <p:nvPr/>
        </p:nvSpPr>
        <p:spPr>
          <a:xfrm>
            <a:off x="543488" y="499325"/>
            <a:ext cx="2369700" cy="1015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ES" sz="3000">
                <a:solidFill>
                  <a:srgbClr val="000F5A"/>
                </a:solidFill>
                <a:latin typeface="Montserrat ExtraBold"/>
                <a:ea typeface="Montserrat ExtraBold"/>
                <a:cs typeface="Montserrat ExtraBold"/>
                <a:sym typeface="Montserrat ExtraBold"/>
              </a:rPr>
              <a:t>Desarrollo</a:t>
            </a:r>
            <a:endParaRPr sz="3000">
              <a:solidFill>
                <a:srgbClr val="000F5A"/>
              </a:solidFill>
              <a:latin typeface="Montserrat ExtraBold"/>
              <a:ea typeface="Montserrat ExtraBold"/>
              <a:cs typeface="Montserrat ExtraBold"/>
              <a:sym typeface="Montserrat ExtraBold"/>
            </a:endParaRPr>
          </a:p>
          <a:p>
            <a:pPr marL="0" lvl="0" indent="0" algn="l" rtl="0">
              <a:lnSpc>
                <a:spcPct val="90000"/>
              </a:lnSpc>
              <a:spcBef>
                <a:spcPts val="0"/>
              </a:spcBef>
              <a:spcAft>
                <a:spcPts val="0"/>
              </a:spcAft>
              <a:buClr>
                <a:srgbClr val="000F5A"/>
              </a:buClr>
              <a:buSzPts val="3000"/>
              <a:buFont typeface="Montserrat ExtraBold"/>
              <a:buNone/>
            </a:pPr>
            <a:r>
              <a:rPr lang="es-ES" sz="3000">
                <a:solidFill>
                  <a:srgbClr val="000F5A"/>
                </a:solidFill>
                <a:latin typeface="Montserrat ExtraBold"/>
                <a:ea typeface="Montserrat ExtraBold"/>
                <a:cs typeface="Montserrat ExtraBold"/>
                <a:sym typeface="Montserrat ExtraBold"/>
              </a:rPr>
              <a:t>del </a:t>
            </a:r>
            <a:r>
              <a:rPr lang="es-ES" sz="3000">
                <a:solidFill>
                  <a:srgbClr val="2A8BFC"/>
                </a:solidFill>
                <a:latin typeface="Montserrat ExtraBold"/>
                <a:ea typeface="Montserrat ExtraBold"/>
                <a:cs typeface="Montserrat ExtraBold"/>
                <a:sym typeface="Montserrat ExtraBold"/>
              </a:rPr>
              <a:t>Caso</a:t>
            </a:r>
            <a:endParaRPr sz="3000">
              <a:solidFill>
                <a:srgbClr val="2A8BFC"/>
              </a:solidFill>
              <a:latin typeface="Montserrat ExtraBold"/>
              <a:ea typeface="Montserrat ExtraBold"/>
              <a:cs typeface="Montserrat ExtraBold"/>
              <a:sym typeface="Montserrat ExtraBold"/>
            </a:endParaRPr>
          </a:p>
        </p:txBody>
      </p:sp>
      <p:sp>
        <p:nvSpPr>
          <p:cNvPr id="330" name="Google Shape;330;g2b055251057_0_128"/>
          <p:cNvSpPr/>
          <p:nvPr/>
        </p:nvSpPr>
        <p:spPr>
          <a:xfrm>
            <a:off x="11416034" y="645600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i="0" u="none" strike="noStrike" cap="none">
                <a:solidFill>
                  <a:schemeClr val="lt1"/>
                </a:solidFill>
                <a:latin typeface="Montserrat"/>
                <a:ea typeface="Montserrat"/>
                <a:cs typeface="Montserrat"/>
                <a:sym typeface="Montserrat"/>
              </a:rPr>
              <a:t>18.</a:t>
            </a:r>
            <a:endParaRPr sz="1300" b="1" i="0" u="none" strike="noStrike" cap="none">
              <a:solidFill>
                <a:schemeClr val="lt1"/>
              </a:solidFill>
              <a:latin typeface="Montserrat"/>
              <a:ea typeface="Montserrat"/>
              <a:cs typeface="Montserrat"/>
              <a:sym typeface="Montserrat"/>
            </a:endParaRPr>
          </a:p>
        </p:txBody>
      </p:sp>
      <p:sp>
        <p:nvSpPr>
          <p:cNvPr id="331" name="Google Shape;331;g2b055251057_0_128"/>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i="0" u="none" strike="noStrike" cap="none">
                <a:solidFill>
                  <a:srgbClr val="000F5A"/>
                </a:solidFill>
                <a:latin typeface="Montserrat"/>
                <a:ea typeface="Montserrat"/>
                <a:cs typeface="Montserrat"/>
                <a:sym typeface="Montserrat"/>
              </a:rPr>
              <a:t>1</a:t>
            </a:r>
            <a:r>
              <a:rPr lang="es-ES" sz="1300" b="1">
                <a:solidFill>
                  <a:srgbClr val="000F5A"/>
                </a:solidFill>
                <a:latin typeface="Montserrat"/>
                <a:ea typeface="Montserrat"/>
                <a:cs typeface="Montserrat"/>
                <a:sym typeface="Montserrat"/>
              </a:rPr>
              <a:t>4</a:t>
            </a:r>
            <a:r>
              <a:rPr lang="es-ES" sz="1300" b="1" i="0" u="none" strike="noStrike" cap="none">
                <a:solidFill>
                  <a:srgbClr val="000F5A"/>
                </a:solidFill>
                <a:latin typeface="Montserrat"/>
                <a:ea typeface="Montserrat"/>
                <a:cs typeface="Montserrat"/>
                <a:sym typeface="Montserrat"/>
              </a:rPr>
              <a:t>.</a:t>
            </a:r>
            <a:endParaRPr sz="1300" b="1" i="0" u="none" strike="noStrike" cap="none">
              <a:solidFill>
                <a:srgbClr val="000F5A"/>
              </a:solidFill>
              <a:latin typeface="Montserrat"/>
              <a:ea typeface="Montserrat"/>
              <a:cs typeface="Montserrat"/>
              <a:sym typeface="Montserrat"/>
            </a:endParaRPr>
          </a:p>
        </p:txBody>
      </p:sp>
      <p:pic>
        <p:nvPicPr>
          <p:cNvPr id="2" name="Imagen 1">
            <a:extLst>
              <a:ext uri="{FF2B5EF4-FFF2-40B4-BE49-F238E27FC236}">
                <a16:creationId xmlns:a16="http://schemas.microsoft.com/office/drawing/2014/main" id="{AAF7E79A-B3D6-247F-2CD6-B07AD6658063}"/>
              </a:ext>
            </a:extLst>
          </p:cNvPr>
          <p:cNvPicPr>
            <a:picLocks noChangeAspect="1"/>
          </p:cNvPicPr>
          <p:nvPr/>
        </p:nvPicPr>
        <p:blipFill>
          <a:blip r:embed="rId3"/>
          <a:stretch>
            <a:fillRect/>
          </a:stretch>
        </p:blipFill>
        <p:spPr>
          <a:xfrm>
            <a:off x="1382134" y="1570457"/>
            <a:ext cx="10257416" cy="5040943"/>
          </a:xfrm>
          <a:prstGeom prst="rect">
            <a:avLst/>
          </a:prstGeom>
        </p:spPr>
      </p:pic>
      <p:sp>
        <p:nvSpPr>
          <p:cNvPr id="3" name="Google Shape;317;g2aec3b0e815_0_551">
            <a:extLst>
              <a:ext uri="{FF2B5EF4-FFF2-40B4-BE49-F238E27FC236}">
                <a16:creationId xmlns:a16="http://schemas.microsoft.com/office/drawing/2014/main" id="{71AEAF34-86C8-7D14-2FD7-15BAEE263879}"/>
              </a:ext>
            </a:extLst>
          </p:cNvPr>
          <p:cNvSpPr txBox="1"/>
          <p:nvPr/>
        </p:nvSpPr>
        <p:spPr>
          <a:xfrm>
            <a:off x="9940952" y="5202445"/>
            <a:ext cx="1945048" cy="800189"/>
          </a:xfrm>
          <a:prstGeom prst="rect">
            <a:avLst/>
          </a:prstGeom>
          <a:solidFill>
            <a:srgbClr val="000F5A"/>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es-ES" sz="2000" b="0" i="0" u="none" strike="noStrike" cap="none" dirty="0">
                <a:solidFill>
                  <a:srgbClr val="FFFFFF"/>
                </a:solidFill>
                <a:latin typeface="Montserrat ExtraBold"/>
                <a:ea typeface="Montserrat ExtraBold"/>
                <a:cs typeface="Montserrat ExtraBold"/>
                <a:sym typeface="Montserrat ExtraBold"/>
              </a:rPr>
              <a:t>Página: index.html</a:t>
            </a:r>
            <a:endParaRPr sz="2000" b="0" i="0" u="none" strike="noStrike" cap="none" dirty="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5">
          <a:extLst>
            <a:ext uri="{FF2B5EF4-FFF2-40B4-BE49-F238E27FC236}">
              <a16:creationId xmlns:a16="http://schemas.microsoft.com/office/drawing/2014/main" id="{5B7FC17D-CAB2-4735-83D7-5C09C2B16B21}"/>
            </a:ext>
          </a:extLst>
        </p:cNvPr>
        <p:cNvGrpSpPr/>
        <p:nvPr/>
      </p:nvGrpSpPr>
      <p:grpSpPr>
        <a:xfrm>
          <a:off x="0" y="0"/>
          <a:ext cx="0" cy="0"/>
          <a:chOff x="0" y="0"/>
          <a:chExt cx="0" cy="0"/>
        </a:xfrm>
      </p:grpSpPr>
      <p:sp>
        <p:nvSpPr>
          <p:cNvPr id="328" name="Google Shape;328;g2b055251057_0_128">
            <a:extLst>
              <a:ext uri="{FF2B5EF4-FFF2-40B4-BE49-F238E27FC236}">
                <a16:creationId xmlns:a16="http://schemas.microsoft.com/office/drawing/2014/main" id="{A0DDAB36-2678-B98B-655F-4E3CCCD32770}"/>
              </a:ext>
            </a:extLst>
          </p:cNvPr>
          <p:cNvSpPr/>
          <p:nvPr/>
        </p:nvSpPr>
        <p:spPr>
          <a:xfrm rot="10800000">
            <a:off x="-152640" y="525576"/>
            <a:ext cx="441900" cy="963300"/>
          </a:xfrm>
          <a:prstGeom prst="roundRect">
            <a:avLst>
              <a:gd name="adj" fmla="val 8798"/>
            </a:avLst>
          </a:prstGeom>
          <a:solidFill>
            <a:srgbClr val="000F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b055251057_0_128">
            <a:extLst>
              <a:ext uri="{FF2B5EF4-FFF2-40B4-BE49-F238E27FC236}">
                <a16:creationId xmlns:a16="http://schemas.microsoft.com/office/drawing/2014/main" id="{74FCD19F-14EE-3905-44A9-01BA4ABC9049}"/>
              </a:ext>
            </a:extLst>
          </p:cNvPr>
          <p:cNvSpPr txBox="1"/>
          <p:nvPr/>
        </p:nvSpPr>
        <p:spPr>
          <a:xfrm>
            <a:off x="543488" y="499325"/>
            <a:ext cx="2369700" cy="1015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F5A"/>
              </a:buClr>
              <a:buSzPts val="3000"/>
              <a:buFont typeface="Montserrat ExtraBold"/>
              <a:buNone/>
            </a:pPr>
            <a:r>
              <a:rPr lang="es-ES" sz="3000">
                <a:solidFill>
                  <a:srgbClr val="000F5A"/>
                </a:solidFill>
                <a:latin typeface="Montserrat ExtraBold"/>
                <a:ea typeface="Montserrat ExtraBold"/>
                <a:cs typeface="Montserrat ExtraBold"/>
                <a:sym typeface="Montserrat ExtraBold"/>
              </a:rPr>
              <a:t>Desarrollo</a:t>
            </a:r>
            <a:endParaRPr sz="3000">
              <a:solidFill>
                <a:srgbClr val="000F5A"/>
              </a:solidFill>
              <a:latin typeface="Montserrat ExtraBold"/>
              <a:ea typeface="Montserrat ExtraBold"/>
              <a:cs typeface="Montserrat ExtraBold"/>
              <a:sym typeface="Montserrat ExtraBold"/>
            </a:endParaRPr>
          </a:p>
          <a:p>
            <a:pPr marL="0" lvl="0" indent="0" algn="l" rtl="0">
              <a:lnSpc>
                <a:spcPct val="90000"/>
              </a:lnSpc>
              <a:spcBef>
                <a:spcPts val="0"/>
              </a:spcBef>
              <a:spcAft>
                <a:spcPts val="0"/>
              </a:spcAft>
              <a:buClr>
                <a:srgbClr val="000F5A"/>
              </a:buClr>
              <a:buSzPts val="3000"/>
              <a:buFont typeface="Montserrat ExtraBold"/>
              <a:buNone/>
            </a:pPr>
            <a:r>
              <a:rPr lang="es-ES" sz="3000">
                <a:solidFill>
                  <a:srgbClr val="000F5A"/>
                </a:solidFill>
                <a:latin typeface="Montserrat ExtraBold"/>
                <a:ea typeface="Montserrat ExtraBold"/>
                <a:cs typeface="Montserrat ExtraBold"/>
                <a:sym typeface="Montserrat ExtraBold"/>
              </a:rPr>
              <a:t>del </a:t>
            </a:r>
            <a:r>
              <a:rPr lang="es-ES" sz="3000">
                <a:solidFill>
                  <a:srgbClr val="2A8BFC"/>
                </a:solidFill>
                <a:latin typeface="Montserrat ExtraBold"/>
                <a:ea typeface="Montserrat ExtraBold"/>
                <a:cs typeface="Montserrat ExtraBold"/>
                <a:sym typeface="Montserrat ExtraBold"/>
              </a:rPr>
              <a:t>Caso</a:t>
            </a:r>
            <a:endParaRPr sz="3000">
              <a:solidFill>
                <a:srgbClr val="2A8BFC"/>
              </a:solidFill>
              <a:latin typeface="Montserrat ExtraBold"/>
              <a:ea typeface="Montserrat ExtraBold"/>
              <a:cs typeface="Montserrat ExtraBold"/>
              <a:sym typeface="Montserrat ExtraBold"/>
            </a:endParaRPr>
          </a:p>
        </p:txBody>
      </p:sp>
      <p:sp>
        <p:nvSpPr>
          <p:cNvPr id="330" name="Google Shape;330;g2b055251057_0_128">
            <a:extLst>
              <a:ext uri="{FF2B5EF4-FFF2-40B4-BE49-F238E27FC236}">
                <a16:creationId xmlns:a16="http://schemas.microsoft.com/office/drawing/2014/main" id="{74A391FB-3F32-5A4A-8EA4-37A5803D4D46}"/>
              </a:ext>
            </a:extLst>
          </p:cNvPr>
          <p:cNvSpPr/>
          <p:nvPr/>
        </p:nvSpPr>
        <p:spPr>
          <a:xfrm>
            <a:off x="11416034" y="645600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i="0" u="none" strike="noStrike" cap="none">
                <a:solidFill>
                  <a:schemeClr val="lt1"/>
                </a:solidFill>
                <a:latin typeface="Montserrat"/>
                <a:ea typeface="Montserrat"/>
                <a:cs typeface="Montserrat"/>
                <a:sym typeface="Montserrat"/>
              </a:rPr>
              <a:t>18.</a:t>
            </a:r>
            <a:endParaRPr sz="1300" b="1" i="0" u="none" strike="noStrike" cap="none">
              <a:solidFill>
                <a:schemeClr val="lt1"/>
              </a:solidFill>
              <a:latin typeface="Montserrat"/>
              <a:ea typeface="Montserrat"/>
              <a:cs typeface="Montserrat"/>
              <a:sym typeface="Montserrat"/>
            </a:endParaRPr>
          </a:p>
        </p:txBody>
      </p:sp>
      <p:sp>
        <p:nvSpPr>
          <p:cNvPr id="331" name="Google Shape;331;g2b055251057_0_128">
            <a:extLst>
              <a:ext uri="{FF2B5EF4-FFF2-40B4-BE49-F238E27FC236}">
                <a16:creationId xmlns:a16="http://schemas.microsoft.com/office/drawing/2014/main" id="{49EE3E03-B96C-8D5A-6118-7CA9B1D8CD9B}"/>
              </a:ext>
            </a:extLst>
          </p:cNvPr>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i="0" u="none" strike="noStrike" cap="none">
                <a:solidFill>
                  <a:srgbClr val="000F5A"/>
                </a:solidFill>
                <a:latin typeface="Montserrat"/>
                <a:ea typeface="Montserrat"/>
                <a:cs typeface="Montserrat"/>
                <a:sym typeface="Montserrat"/>
              </a:rPr>
              <a:t>1</a:t>
            </a:r>
            <a:r>
              <a:rPr lang="es-ES" sz="1300" b="1">
                <a:solidFill>
                  <a:srgbClr val="000F5A"/>
                </a:solidFill>
                <a:latin typeface="Montserrat"/>
                <a:ea typeface="Montserrat"/>
                <a:cs typeface="Montserrat"/>
                <a:sym typeface="Montserrat"/>
              </a:rPr>
              <a:t>4</a:t>
            </a:r>
            <a:r>
              <a:rPr lang="es-ES" sz="1300" b="1" i="0" u="none" strike="noStrike" cap="none">
                <a:solidFill>
                  <a:srgbClr val="000F5A"/>
                </a:solidFill>
                <a:latin typeface="Montserrat"/>
                <a:ea typeface="Montserrat"/>
                <a:cs typeface="Montserrat"/>
                <a:sym typeface="Montserrat"/>
              </a:rPr>
              <a:t>.</a:t>
            </a:r>
            <a:endParaRPr sz="1300" b="1" i="0" u="none" strike="noStrike" cap="none">
              <a:solidFill>
                <a:srgbClr val="000F5A"/>
              </a:solidFill>
              <a:latin typeface="Montserrat"/>
              <a:ea typeface="Montserrat"/>
              <a:cs typeface="Montserrat"/>
              <a:sym typeface="Montserrat"/>
            </a:endParaRPr>
          </a:p>
        </p:txBody>
      </p:sp>
      <p:pic>
        <p:nvPicPr>
          <p:cNvPr id="2" name="Imagen 1">
            <a:extLst>
              <a:ext uri="{FF2B5EF4-FFF2-40B4-BE49-F238E27FC236}">
                <a16:creationId xmlns:a16="http://schemas.microsoft.com/office/drawing/2014/main" id="{88253757-8DFF-633F-1EEA-BF4E77804461}"/>
              </a:ext>
            </a:extLst>
          </p:cNvPr>
          <p:cNvPicPr>
            <a:picLocks noChangeAspect="1"/>
          </p:cNvPicPr>
          <p:nvPr/>
        </p:nvPicPr>
        <p:blipFill>
          <a:blip r:embed="rId3"/>
          <a:stretch>
            <a:fillRect/>
          </a:stretch>
        </p:blipFill>
        <p:spPr>
          <a:xfrm>
            <a:off x="1283931" y="1631741"/>
            <a:ext cx="9418864" cy="4217325"/>
          </a:xfrm>
          <a:prstGeom prst="rect">
            <a:avLst/>
          </a:prstGeom>
        </p:spPr>
      </p:pic>
      <p:sp>
        <p:nvSpPr>
          <p:cNvPr id="3" name="Google Shape;317;g2aec3b0e815_0_551">
            <a:extLst>
              <a:ext uri="{FF2B5EF4-FFF2-40B4-BE49-F238E27FC236}">
                <a16:creationId xmlns:a16="http://schemas.microsoft.com/office/drawing/2014/main" id="{A1CF9F14-489B-904A-8383-85B32CB96AE0}"/>
              </a:ext>
            </a:extLst>
          </p:cNvPr>
          <p:cNvSpPr txBox="1"/>
          <p:nvPr/>
        </p:nvSpPr>
        <p:spPr>
          <a:xfrm>
            <a:off x="7098889" y="5930975"/>
            <a:ext cx="3470787" cy="800189"/>
          </a:xfrm>
          <a:prstGeom prst="rect">
            <a:avLst/>
          </a:prstGeom>
          <a:solidFill>
            <a:srgbClr val="000F5A"/>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es-ES" sz="2000" b="0" i="0" u="none" strike="noStrike" cap="none" dirty="0">
                <a:solidFill>
                  <a:srgbClr val="FFFFFF"/>
                </a:solidFill>
                <a:latin typeface="Montserrat ExtraBold"/>
                <a:ea typeface="Montserrat ExtraBold"/>
                <a:cs typeface="Montserrat ExtraBold"/>
                <a:sym typeface="Montserrat ExtraBold"/>
              </a:rPr>
              <a:t>Página: especializaciones.html</a:t>
            </a:r>
            <a:endParaRPr sz="2000" b="0" i="0" u="none" strike="noStrike" cap="none" dirty="0">
              <a:solidFill>
                <a:srgbClr val="FFFFFF"/>
              </a:solidFill>
              <a:latin typeface="Montserrat ExtraBold"/>
              <a:ea typeface="Montserrat ExtraBold"/>
              <a:cs typeface="Montserrat ExtraBold"/>
              <a:sym typeface="Montserrat ExtraBold"/>
            </a:endParaRPr>
          </a:p>
        </p:txBody>
      </p:sp>
    </p:spTree>
    <p:extLst>
      <p:ext uri="{BB962C8B-B14F-4D97-AF65-F5344CB8AC3E}">
        <p14:creationId xmlns:p14="http://schemas.microsoft.com/office/powerpoint/2010/main" val="3646653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g2b055251057_0_23"/>
          <p:cNvPicPr preferRelativeResize="0"/>
          <p:nvPr/>
        </p:nvPicPr>
        <p:blipFill rotWithShape="1">
          <a:blip r:embed="rId3">
            <a:alphaModFix/>
          </a:blip>
          <a:srcRect/>
          <a:stretch/>
        </p:blipFill>
        <p:spPr>
          <a:xfrm flipH="1">
            <a:off x="-54226" y="-21250"/>
            <a:ext cx="3343476" cy="6858000"/>
          </a:xfrm>
          <a:prstGeom prst="rect">
            <a:avLst/>
          </a:prstGeom>
          <a:noFill/>
          <a:ln>
            <a:noFill/>
          </a:ln>
        </p:spPr>
      </p:pic>
      <p:sp>
        <p:nvSpPr>
          <p:cNvPr id="337" name="Google Shape;337;g2b055251057_0_23"/>
          <p:cNvSpPr txBox="1">
            <a:spLocks noGrp="1"/>
          </p:cNvSpPr>
          <p:nvPr>
            <p:ph type="title"/>
          </p:nvPr>
        </p:nvSpPr>
        <p:spPr>
          <a:xfrm>
            <a:off x="458775" y="1322150"/>
            <a:ext cx="2626200" cy="1560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0F5A"/>
              </a:buClr>
              <a:buSzPts val="3000"/>
              <a:buFont typeface="Montserrat ExtraBold"/>
              <a:buNone/>
            </a:pPr>
            <a:r>
              <a:rPr lang="es-ES" sz="3300" dirty="0">
                <a:solidFill>
                  <a:srgbClr val="FFFFFF"/>
                </a:solidFill>
                <a:latin typeface="Montserrat ExtraBold"/>
                <a:ea typeface="Montserrat ExtraBold"/>
                <a:cs typeface="Montserrat ExtraBold"/>
                <a:sym typeface="Montserrat ExtraBold"/>
              </a:rPr>
              <a:t>TALLER </a:t>
            </a:r>
            <a:r>
              <a:rPr lang="es-ES" sz="3300" dirty="0">
                <a:solidFill>
                  <a:schemeClr val="bg1"/>
                </a:solidFill>
                <a:latin typeface="Montserrat ExtraBold"/>
                <a:ea typeface="Montserrat ExtraBold"/>
                <a:cs typeface="Montserrat ExtraBold"/>
                <a:sym typeface="Montserrat ExtraBold"/>
              </a:rPr>
              <a:t>4</a:t>
            </a:r>
            <a:endParaRPr sz="3300" dirty="0">
              <a:solidFill>
                <a:schemeClr val="bg1"/>
              </a:solidFill>
              <a:latin typeface="Montserrat ExtraBold"/>
              <a:ea typeface="Montserrat ExtraBold"/>
              <a:cs typeface="Montserrat ExtraBold"/>
              <a:sym typeface="Montserrat ExtraBold"/>
            </a:endParaRPr>
          </a:p>
        </p:txBody>
      </p:sp>
      <p:pic>
        <p:nvPicPr>
          <p:cNvPr id="338" name="Google Shape;338;g2b055251057_0_23"/>
          <p:cNvPicPr preferRelativeResize="0"/>
          <p:nvPr/>
        </p:nvPicPr>
        <p:blipFill rotWithShape="1">
          <a:blip r:embed="rId4">
            <a:alphaModFix/>
          </a:blip>
          <a:srcRect/>
          <a:stretch/>
        </p:blipFill>
        <p:spPr>
          <a:xfrm>
            <a:off x="6009863" y="-64525"/>
            <a:ext cx="3244124" cy="1484525"/>
          </a:xfrm>
          <a:prstGeom prst="rect">
            <a:avLst/>
          </a:prstGeom>
          <a:noFill/>
          <a:ln>
            <a:noFill/>
          </a:ln>
        </p:spPr>
      </p:pic>
      <p:sp>
        <p:nvSpPr>
          <p:cNvPr id="339" name="Google Shape;339;g2b055251057_0_23"/>
          <p:cNvSpPr txBox="1"/>
          <p:nvPr/>
        </p:nvSpPr>
        <p:spPr>
          <a:xfrm>
            <a:off x="4145625" y="1671925"/>
            <a:ext cx="6972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es-ES" sz="2000">
                <a:solidFill>
                  <a:srgbClr val="000F5A"/>
                </a:solidFill>
                <a:latin typeface="Montserrat ExtraBold"/>
                <a:ea typeface="Montserrat ExtraBold"/>
                <a:cs typeface="Montserrat ExtraBold"/>
                <a:sym typeface="Montserrat ExtraBold"/>
              </a:rPr>
              <a:t>Definiendo interacciones en diversos dispositivos</a:t>
            </a:r>
            <a:endParaRPr sz="2000" b="0" i="0" u="none" strike="noStrike" cap="none">
              <a:solidFill>
                <a:srgbClr val="000F5A"/>
              </a:solidFill>
              <a:latin typeface="Montserrat ExtraBold"/>
              <a:ea typeface="Montserrat ExtraBold"/>
              <a:cs typeface="Montserrat ExtraBold"/>
              <a:sym typeface="Montserrat ExtraBold"/>
            </a:endParaRPr>
          </a:p>
        </p:txBody>
      </p:sp>
      <p:sp>
        <p:nvSpPr>
          <p:cNvPr id="340" name="Google Shape;340;g2b055251057_0_23"/>
          <p:cNvSpPr txBox="1"/>
          <p:nvPr/>
        </p:nvSpPr>
        <p:spPr>
          <a:xfrm>
            <a:off x="4667625" y="3727050"/>
            <a:ext cx="59286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1" i="0" u="none" strike="noStrike" cap="none">
                <a:solidFill>
                  <a:srgbClr val="000000"/>
                </a:solidFill>
                <a:latin typeface="Montserrat"/>
                <a:ea typeface="Montserrat"/>
                <a:cs typeface="Montserrat"/>
                <a:sym typeface="Montserrat"/>
              </a:rPr>
              <a:t>Tiempo estimado:</a:t>
            </a:r>
            <a:r>
              <a:rPr lang="es-ES" sz="1400" b="0" i="0" u="none" strike="noStrike" cap="none">
                <a:solidFill>
                  <a:srgbClr val="000000"/>
                </a:solidFill>
                <a:latin typeface="Montserrat Medium"/>
                <a:ea typeface="Montserrat Medium"/>
                <a:cs typeface="Montserrat Medium"/>
                <a:sym typeface="Montserrat Medium"/>
              </a:rPr>
              <a:t> </a:t>
            </a:r>
            <a:r>
              <a:rPr lang="es-ES">
                <a:latin typeface="Montserrat Medium"/>
                <a:ea typeface="Montserrat Medium"/>
                <a:cs typeface="Montserrat Medium"/>
                <a:sym typeface="Montserrat Medium"/>
              </a:rPr>
              <a:t>25</a:t>
            </a:r>
            <a:r>
              <a:rPr lang="es-ES" sz="1400" b="0" i="0" u="none" strike="noStrike" cap="none">
                <a:solidFill>
                  <a:srgbClr val="000000"/>
                </a:solidFill>
                <a:latin typeface="Montserrat Medium"/>
                <a:ea typeface="Montserrat Medium"/>
                <a:cs typeface="Montserrat Medium"/>
                <a:sym typeface="Montserrat Medium"/>
              </a:rPr>
              <a:t> min</a:t>
            </a:r>
            <a:endParaRPr sz="1400" b="0" i="0" u="none" strike="noStrike" cap="none">
              <a:solidFill>
                <a:srgbClr val="000000"/>
              </a:solidFill>
              <a:latin typeface="Montserrat Medium"/>
              <a:ea typeface="Montserrat Medium"/>
              <a:cs typeface="Montserrat Medium"/>
              <a:sym typeface="Montserrat Medium"/>
            </a:endParaRPr>
          </a:p>
        </p:txBody>
      </p:sp>
      <p:sp>
        <p:nvSpPr>
          <p:cNvPr id="341" name="Google Shape;341;g2b055251057_0_23"/>
          <p:cNvSpPr txBox="1"/>
          <p:nvPr/>
        </p:nvSpPr>
        <p:spPr>
          <a:xfrm>
            <a:off x="4476825" y="2416450"/>
            <a:ext cx="631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342" name="Google Shape;342;g2b055251057_0_23"/>
          <p:cNvSpPr txBox="1"/>
          <p:nvPr/>
        </p:nvSpPr>
        <p:spPr>
          <a:xfrm>
            <a:off x="5508825" y="5526050"/>
            <a:ext cx="4246200" cy="725400"/>
          </a:xfrm>
          <a:prstGeom prst="rect">
            <a:avLst/>
          </a:prstGeom>
          <a:noFill/>
          <a:ln>
            <a:noFill/>
          </a:ln>
          <a:effectLst>
            <a:reflection endPos="1000" dist="38100" dir="5400000" fadeDir="5400012" sy="-100000" algn="bl" rotWithShape="0"/>
          </a:effectLst>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3000"/>
              <a:buFont typeface="Arial"/>
              <a:buNone/>
            </a:pPr>
            <a:r>
              <a:rPr lang="es-ES" sz="2600" b="1" i="1" u="none" strike="noStrike" cap="none">
                <a:solidFill>
                  <a:srgbClr val="000F5A"/>
                </a:solidFill>
                <a:latin typeface="Montserrat SemiBold"/>
                <a:ea typeface="Montserrat SemiBold"/>
                <a:cs typeface="Montserrat SemiBold"/>
                <a:sym typeface="Montserrat SemiBold"/>
              </a:rPr>
              <a:t>¡Trabajemos juntos!</a:t>
            </a:r>
            <a:endParaRPr sz="2600" b="1" i="1" u="none" strike="noStrike" cap="none">
              <a:solidFill>
                <a:srgbClr val="000F5A"/>
              </a:solidFill>
              <a:latin typeface="Montserrat SemiBold"/>
              <a:ea typeface="Montserrat SemiBold"/>
              <a:cs typeface="Montserrat SemiBold"/>
              <a:sym typeface="Montserrat SemiBold"/>
            </a:endParaRPr>
          </a:p>
        </p:txBody>
      </p:sp>
      <p:sp>
        <p:nvSpPr>
          <p:cNvPr id="343" name="Google Shape;343;g2b055251057_0_23"/>
          <p:cNvSpPr txBox="1"/>
          <p:nvPr/>
        </p:nvSpPr>
        <p:spPr>
          <a:xfrm>
            <a:off x="363375" y="2938550"/>
            <a:ext cx="2463600" cy="477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ES" sz="1900" b="1" i="1" u="none" strike="noStrike" cap="none">
                <a:solidFill>
                  <a:schemeClr val="lt1"/>
                </a:solidFill>
                <a:latin typeface="Montserrat"/>
                <a:ea typeface="Montserrat"/>
                <a:cs typeface="Montserrat"/>
                <a:sym typeface="Montserrat"/>
              </a:rPr>
              <a:t>¡PRACTIQUEMOS! </a:t>
            </a:r>
            <a:endParaRPr sz="1900" b="1" i="1" u="none" strike="noStrike" cap="none">
              <a:solidFill>
                <a:schemeClr val="lt1"/>
              </a:solidFill>
              <a:latin typeface="Montserrat"/>
              <a:ea typeface="Montserrat"/>
              <a:cs typeface="Montserrat"/>
              <a:sym typeface="Montserrat"/>
            </a:endParaRPr>
          </a:p>
        </p:txBody>
      </p:sp>
      <p:sp>
        <p:nvSpPr>
          <p:cNvPr id="344" name="Google Shape;344;g2b055251057_0_23"/>
          <p:cNvSpPr/>
          <p:nvPr/>
        </p:nvSpPr>
        <p:spPr>
          <a:xfrm>
            <a:off x="11393100" y="64210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a:solidFill>
                  <a:srgbClr val="000F5A"/>
                </a:solidFill>
                <a:latin typeface="Montserrat"/>
                <a:ea typeface="Montserrat"/>
                <a:cs typeface="Montserrat"/>
                <a:sym typeface="Montserrat"/>
              </a:rPr>
              <a:t>15</a:t>
            </a:r>
            <a:r>
              <a:rPr lang="es-ES" sz="1300" b="1" i="0" u="none" strike="noStrike" cap="none">
                <a:solidFill>
                  <a:srgbClr val="000F5A"/>
                </a:solidFill>
                <a:latin typeface="Montserrat"/>
                <a:ea typeface="Montserrat"/>
                <a:cs typeface="Montserrat"/>
                <a:sym typeface="Montserrat"/>
              </a:rPr>
              <a:t>.</a:t>
            </a:r>
            <a:endParaRPr sz="1300" b="1" i="0" u="none" strike="noStrike" cap="none">
              <a:solidFill>
                <a:srgbClr val="000F5A"/>
              </a:solidFill>
              <a:latin typeface="Montserrat"/>
              <a:ea typeface="Montserrat"/>
              <a:cs typeface="Montserrat"/>
              <a:sym typeface="Montserrat"/>
            </a:endParaRPr>
          </a:p>
        </p:txBody>
      </p:sp>
      <p:pic>
        <p:nvPicPr>
          <p:cNvPr id="345" name="Google Shape;345;g2b055251057_0_23"/>
          <p:cNvPicPr preferRelativeResize="0"/>
          <p:nvPr/>
        </p:nvPicPr>
        <p:blipFill rotWithShape="1">
          <a:blip r:embed="rId5">
            <a:alphaModFix/>
          </a:blip>
          <a:srcRect/>
          <a:stretch/>
        </p:blipFill>
        <p:spPr>
          <a:xfrm>
            <a:off x="1733194" y="5356447"/>
            <a:ext cx="930181" cy="1064600"/>
          </a:xfrm>
          <a:prstGeom prst="rect">
            <a:avLst/>
          </a:prstGeom>
          <a:noFill/>
          <a:ln>
            <a:noFill/>
          </a:ln>
        </p:spPr>
      </p:pic>
      <p:cxnSp>
        <p:nvCxnSpPr>
          <p:cNvPr id="346" name="Google Shape;346;g2b055251057_0_23"/>
          <p:cNvCxnSpPr/>
          <p:nvPr/>
        </p:nvCxnSpPr>
        <p:spPr>
          <a:xfrm flipH="1">
            <a:off x="290300" y="1180925"/>
            <a:ext cx="9900" cy="2624400"/>
          </a:xfrm>
          <a:prstGeom prst="straightConnector1">
            <a:avLst/>
          </a:prstGeom>
          <a:noFill/>
          <a:ln w="19050" cap="flat" cmpd="sng">
            <a:solidFill>
              <a:schemeClr val="lt1"/>
            </a:solidFill>
            <a:prstDash val="solid"/>
            <a:round/>
            <a:headEnd type="none" w="sm" len="sm"/>
            <a:tailEnd type="none" w="sm" len="sm"/>
          </a:ln>
        </p:spPr>
      </p:cxnSp>
      <p:pic>
        <p:nvPicPr>
          <p:cNvPr id="347" name="Google Shape;347;g2b055251057_0_23"/>
          <p:cNvPicPr preferRelativeResize="0"/>
          <p:nvPr/>
        </p:nvPicPr>
        <p:blipFill rotWithShape="1">
          <a:blip r:embed="rId6">
            <a:alphaModFix/>
          </a:blip>
          <a:srcRect/>
          <a:stretch/>
        </p:blipFill>
        <p:spPr>
          <a:xfrm>
            <a:off x="10347738" y="195976"/>
            <a:ext cx="1626480" cy="769500"/>
          </a:xfrm>
          <a:prstGeom prst="rect">
            <a:avLst/>
          </a:prstGeom>
          <a:noFill/>
          <a:ln>
            <a:noFill/>
          </a:ln>
        </p:spPr>
      </p:pic>
      <p:sp>
        <p:nvSpPr>
          <p:cNvPr id="348" name="Google Shape;348;g2b055251057_0_23"/>
          <p:cNvSpPr txBox="1"/>
          <p:nvPr/>
        </p:nvSpPr>
        <p:spPr>
          <a:xfrm>
            <a:off x="4226400" y="2368588"/>
            <a:ext cx="70155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ES" sz="2100" b="1" dirty="0">
                <a:latin typeface="Montserrat"/>
                <a:ea typeface="Montserrat"/>
                <a:cs typeface="Montserrat"/>
                <a:sym typeface="Montserrat"/>
              </a:rPr>
              <a:t>¡¡Creemos una lista responsive!</a:t>
            </a:r>
            <a:endParaRPr sz="2100" b="1" dirty="0">
              <a:solidFill>
                <a:srgbClr val="000000"/>
              </a:solidFill>
              <a:latin typeface="Montserrat"/>
              <a:ea typeface="Montserrat"/>
              <a:cs typeface="Montserrat"/>
              <a:sym typeface="Montserrat"/>
            </a:endParaRPr>
          </a:p>
          <a:p>
            <a:pPr marL="0" lvl="0" indent="0" algn="just" rtl="0">
              <a:spcBef>
                <a:spcPts val="0"/>
              </a:spcBef>
              <a:spcAft>
                <a:spcPts val="0"/>
              </a:spcAft>
              <a:buNone/>
            </a:pPr>
            <a:r>
              <a:rPr lang="es-ES" sz="2100" dirty="0">
                <a:latin typeface="Montserrat"/>
                <a:ea typeface="Montserrat"/>
                <a:cs typeface="Montserrat"/>
                <a:sym typeface="Montserrat"/>
              </a:rPr>
              <a:t>Creemos una lista de productos o servicios adaptable a todo dispositivo.</a:t>
            </a:r>
            <a:endParaRPr sz="2100" dirty="0">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pic>
        <p:nvPicPr>
          <p:cNvPr id="395" name="Google Shape;395;p17"/>
          <p:cNvPicPr preferRelativeResize="0"/>
          <p:nvPr/>
        </p:nvPicPr>
        <p:blipFill rotWithShape="1">
          <a:blip r:embed="rId3">
            <a:alphaModFix/>
          </a:blip>
          <a:srcRect/>
          <a:stretch/>
        </p:blipFill>
        <p:spPr>
          <a:xfrm>
            <a:off x="7541689" y="3797644"/>
            <a:ext cx="3533018" cy="2279589"/>
          </a:xfrm>
          <a:prstGeom prst="rect">
            <a:avLst/>
          </a:prstGeom>
          <a:noFill/>
          <a:ln>
            <a:noFill/>
          </a:ln>
        </p:spPr>
      </p:pic>
      <p:pic>
        <p:nvPicPr>
          <p:cNvPr id="396" name="Google Shape;396;p17"/>
          <p:cNvPicPr preferRelativeResize="0"/>
          <p:nvPr/>
        </p:nvPicPr>
        <p:blipFill rotWithShape="1">
          <a:blip r:embed="rId4">
            <a:alphaModFix/>
          </a:blip>
          <a:srcRect/>
          <a:stretch/>
        </p:blipFill>
        <p:spPr>
          <a:xfrm>
            <a:off x="-18508" y="0"/>
            <a:ext cx="12229014" cy="6858002"/>
          </a:xfrm>
          <a:prstGeom prst="rect">
            <a:avLst/>
          </a:prstGeom>
          <a:noFill/>
          <a:ln>
            <a:noFill/>
          </a:ln>
        </p:spPr>
      </p:pic>
      <p:sp>
        <p:nvSpPr>
          <p:cNvPr id="397" name="Google Shape;397;p17"/>
          <p:cNvSpPr/>
          <p:nvPr/>
        </p:nvSpPr>
        <p:spPr>
          <a:xfrm>
            <a:off x="11393100" y="6344850"/>
            <a:ext cx="492900" cy="310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ES" sz="1300" b="1" i="0" u="none" strike="noStrike" cap="none">
                <a:solidFill>
                  <a:schemeClr val="lt1"/>
                </a:solidFill>
                <a:latin typeface="Montserrat"/>
                <a:ea typeface="Montserrat"/>
                <a:cs typeface="Montserrat"/>
                <a:sym typeface="Montserrat"/>
              </a:rPr>
              <a:t>1</a:t>
            </a:r>
            <a:r>
              <a:rPr lang="es-ES" sz="1300" b="1">
                <a:solidFill>
                  <a:schemeClr val="lt1"/>
                </a:solidFill>
                <a:latin typeface="Montserrat"/>
                <a:ea typeface="Montserrat"/>
                <a:cs typeface="Montserrat"/>
                <a:sym typeface="Montserrat"/>
              </a:rPr>
              <a:t>7</a:t>
            </a:r>
            <a:r>
              <a:rPr lang="es-ES" sz="1300" b="1" i="0" u="none" strike="noStrike" cap="none">
                <a:solidFill>
                  <a:schemeClr val="lt1"/>
                </a:solidFill>
                <a:latin typeface="Montserrat"/>
                <a:ea typeface="Montserrat"/>
                <a:cs typeface="Montserrat"/>
                <a:sym typeface="Montserrat"/>
              </a:rPr>
              <a:t>.</a:t>
            </a:r>
            <a:endParaRPr sz="1300" b="1" i="0" u="none" strike="noStrike" cap="none">
              <a:solidFill>
                <a:schemeClr val="lt1"/>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pic>
        <p:nvPicPr>
          <p:cNvPr id="402" name="Google Shape;402;p18"/>
          <p:cNvPicPr preferRelativeResize="0"/>
          <p:nvPr/>
        </p:nvPicPr>
        <p:blipFill rotWithShape="1">
          <a:blip r:embed="rId3">
            <a:alphaModFix/>
          </a:blip>
          <a:srcRect/>
          <a:stretch/>
        </p:blipFill>
        <p:spPr>
          <a:xfrm>
            <a:off x="-34506" y="-24382"/>
            <a:ext cx="12269304" cy="6882382"/>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757</TotalTime>
  <Words>1174</Words>
  <Application>Microsoft Office PowerPoint</Application>
  <PresentationFormat>Panorámica</PresentationFormat>
  <Paragraphs>167</Paragraphs>
  <Slides>25</Slides>
  <Notes>25</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25</vt:i4>
      </vt:variant>
    </vt:vector>
  </HeadingPairs>
  <TitlesOfParts>
    <vt:vector size="35" baseType="lpstr">
      <vt:lpstr>Montserrat SemiBold</vt:lpstr>
      <vt:lpstr>Montserrat ExtraBold</vt:lpstr>
      <vt:lpstr>IBM Plex Mono Medium</vt:lpstr>
      <vt:lpstr>Poppins</vt:lpstr>
      <vt:lpstr>Calibri</vt:lpstr>
      <vt:lpstr>Montserrat</vt:lpstr>
      <vt:lpstr>Arial</vt:lpstr>
      <vt:lpstr>Montserrat Medium</vt:lpstr>
      <vt:lpstr>Tema de Office</vt:lpstr>
      <vt:lpstr>Tema de Office</vt:lpstr>
      <vt:lpstr>Presentación de PowerPoint</vt:lpstr>
      <vt:lpstr>Presentación de PowerPoint</vt:lpstr>
      <vt:lpstr>REVIEW DE LA SESIÓN ANTERIOR</vt:lpstr>
      <vt:lpstr>SESIÓN 4</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TALLER 4</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BARBOZA NIETO, GIANCARLOS</cp:lastModifiedBy>
  <cp:revision>21</cp:revision>
  <dcterms:modified xsi:type="dcterms:W3CDTF">2025-08-09T06:10:53Z</dcterms:modified>
</cp:coreProperties>
</file>
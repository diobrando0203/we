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20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69" r:id="rId16"/>
    <p:sldId id="270" r:id="rId17"/>
    <p:sldId id="273" r:id="rId18"/>
    <p:sldId id="274" r:id="rId19"/>
  </p:sldIdLst>
  <p:sldSz cx="12192000" cy="6858000"/>
  <p:notesSz cx="6858000" cy="9144000"/>
  <p:embeddedFontLst>
    <p:embeddedFont>
      <p:font typeface="IBM Plex Mono Medium" panose="020B0609050203000203" pitchFamily="49" charset="0"/>
      <p:regular r:id="rId21"/>
      <p:bold r:id="rId22"/>
      <p:italic r:id="rId23"/>
      <p:boldItalic r:id="rId24"/>
    </p:embeddedFont>
    <p:embeddedFont>
      <p:font typeface="Montserrat" panose="02000505000000020004" pitchFamily="2" charset="0"/>
      <p:regular r:id="rId25"/>
      <p:bold r:id="rId26"/>
      <p:italic r:id="rId27"/>
      <p:boldItalic r:id="rId28"/>
    </p:embeddedFont>
    <p:embeddedFont>
      <p:font typeface="Montserrat ExtraBold" panose="00000900000000000000" pitchFamily="2" charset="0"/>
      <p:bold r:id="rId29"/>
      <p:boldItalic r:id="rId30"/>
    </p:embeddedFont>
    <p:embeddedFont>
      <p:font typeface="Montserrat Medium" panose="00000600000000000000" pitchFamily="2" charset="0"/>
      <p:regular r:id="rId31"/>
      <p:bold r:id="rId32"/>
      <p:italic r:id="rId33"/>
      <p:boldItalic r:id="rId34"/>
    </p:embeddedFont>
    <p:embeddedFont>
      <p:font typeface="Montserrat SemiBold" panose="00000700000000000000" pitchFamily="2" charset="0"/>
      <p:regular r:id="rId35"/>
      <p:bold r:id="rId36"/>
      <p:italic r:id="rId37"/>
      <p:boldItalic r:id="rId38"/>
    </p:embeddedFont>
    <p:embeddedFont>
      <p:font typeface="Poppins" panose="00000500000000000000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50">
          <p15:clr>
            <a:srgbClr val="A4A3A4"/>
          </p15:clr>
        </p15:guide>
        <p15:guide id="2" pos="6576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iPkr4svB1k3jaIIxha4bcXRBvV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F5A"/>
    <a:srgbClr val="2A8B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2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76" y="48"/>
      </p:cViewPr>
      <p:guideLst>
        <p:guide orient="horz" pos="550"/>
        <p:guide pos="65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font" Target="fonts/font22.fnt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1.fntdata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8" Type="http://customschemas.google.com/relationships/presentationmetadata" Target="metadata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20" Type="http://schemas.openxmlformats.org/officeDocument/2006/relationships/notesMaster" Target="notesMasters/notesMaster1.xml"/><Relationship Id="rId41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ada6b3ec7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4" name="Google Shape;164;g2ada6b3ec7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2" name="Google Shape;1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0fcd679d50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completar nombre de los temas de la sesiòn 1</a:t>
            </a:r>
            <a:endParaRPr/>
          </a:p>
        </p:txBody>
      </p:sp>
      <p:sp>
        <p:nvSpPr>
          <p:cNvPr id="220" name="Google Shape;220;g20fcd679d50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0" name="Google Shape;2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completar nombre de los temas de la sesiòn 1</a:t>
            </a:r>
            <a:endParaRPr/>
          </a:p>
        </p:txBody>
      </p:sp>
      <p:sp>
        <p:nvSpPr>
          <p:cNvPr id="241" name="Google Shape;24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ada6b3ec75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1" name="Google Shape;251;g2ada6b3ec75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ada6b3ec75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completar nombre de los temas de la sesiòn 1</a:t>
            </a:r>
            <a:endParaRPr/>
          </a:p>
        </p:txBody>
      </p:sp>
      <p:sp>
        <p:nvSpPr>
          <p:cNvPr id="262" name="Google Shape;262;g2ada6b3ec75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ada6b3ec75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2" name="Google Shape;272;g2ada6b3ec75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ee9218af0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completar nombre de los temas de la sesiòn 1</a:t>
            </a:r>
            <a:endParaRPr/>
          </a:p>
        </p:txBody>
      </p:sp>
      <p:sp>
        <p:nvSpPr>
          <p:cNvPr id="283" name="Google Shape;283;g1ee9218af0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ae66c0369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3" name="Google Shape;293;g2ae66c0369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aec3b0e815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g2aec3b0e815_0_5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5E6355B5-7E08-A3C1-E0DC-93C1C64AE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aec3b0e815_0_551:notes">
            <a:extLst>
              <a:ext uri="{FF2B5EF4-FFF2-40B4-BE49-F238E27FC236}">
                <a16:creationId xmlns:a16="http://schemas.microsoft.com/office/drawing/2014/main" id="{BCEE43DE-F936-02F2-24E6-C6A5135E73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g2aec3b0e815_0_551:notes">
            <a:extLst>
              <a:ext uri="{FF2B5EF4-FFF2-40B4-BE49-F238E27FC236}">
                <a16:creationId xmlns:a16="http://schemas.microsoft.com/office/drawing/2014/main" id="{1CB4D278-8FBC-3D63-5CD8-D7E45F6F4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3180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b055251057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g2b055251057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b055251057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g2b055251057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7" name="Google Shape;39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4" name="Google Shape;40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4" name="Google Shape;54;p3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5" name="Google Shape;55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4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2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2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- Diapositiva interna 1">
  <p:cSld name="TITLE_1_6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g2ae66c03690_0_8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80333" y="312800"/>
            <a:ext cx="343471" cy="26446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2ae66c03690_0_880"/>
          <p:cNvSpPr txBox="1">
            <a:spLocks noGrp="1"/>
          </p:cNvSpPr>
          <p:nvPr>
            <p:ph type="subTitle" idx="1"/>
          </p:nvPr>
        </p:nvSpPr>
        <p:spPr>
          <a:xfrm>
            <a:off x="415600" y="190633"/>
            <a:ext cx="4911900" cy="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9pPr>
          </a:lstStyle>
          <a:p>
            <a:endParaRPr/>
          </a:p>
        </p:txBody>
      </p:sp>
      <p:sp>
        <p:nvSpPr>
          <p:cNvPr id="80" name="Google Shape;80;g2ae66c03690_0_880"/>
          <p:cNvSpPr txBox="1">
            <a:spLocks noGrp="1"/>
          </p:cNvSpPr>
          <p:nvPr>
            <p:ph type="title"/>
          </p:nvPr>
        </p:nvSpPr>
        <p:spPr>
          <a:xfrm>
            <a:off x="1208400" y="1013233"/>
            <a:ext cx="9775200" cy="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9pPr>
          </a:lstStyle>
          <a:p>
            <a:endParaRPr/>
          </a:p>
        </p:txBody>
      </p:sp>
      <p:sp>
        <p:nvSpPr>
          <p:cNvPr id="81" name="Google Shape;81;g2ae66c03690_0_880"/>
          <p:cNvSpPr txBox="1">
            <a:spLocks noGrp="1"/>
          </p:cNvSpPr>
          <p:nvPr>
            <p:ph type="body" idx="2"/>
          </p:nvPr>
        </p:nvSpPr>
        <p:spPr>
          <a:xfrm>
            <a:off x="1289133" y="2399500"/>
            <a:ext cx="7562700" cy="30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4DE3"/>
              </a:buClr>
              <a:buSzPts val="1900"/>
              <a:buFont typeface="Poppins"/>
              <a:buChar char="➔"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114DE5"/>
              </a:buClr>
              <a:buSzPts val="1600"/>
              <a:buChar char="◆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124DE3"/>
              </a:buClr>
              <a:buSzPts val="1600"/>
              <a:buChar char="●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◆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◆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●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aec3b0e815_0_47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g2aec3b0e815_0_47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g2aec3b0e815_0_47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2aec3b0e815_0_47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g2aec3b0e815_0_47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aec3b0e815_0_47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g2aec3b0e815_0_47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7" name="Google Shape;97;g2aec3b0e815_0_47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g2aec3b0e815_0_47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g2aec3b0e815_0_47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aec3b0e815_0_48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g2aec3b0e815_0_48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g2aec3b0e815_0_48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2aec3b0e815_0_48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aec3b0e815_0_490"/>
          <p:cNvSpPr txBox="1">
            <a:spLocks noGrp="1"/>
          </p:cNvSpPr>
          <p:nvPr>
            <p:ph type="title"/>
          </p:nvPr>
        </p:nvSpPr>
        <p:spPr>
          <a:xfrm>
            <a:off x="3252600" y="3116677"/>
            <a:ext cx="56868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6133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07" name="Google Shape;107;g2aec3b0e815_0_490"/>
          <p:cNvSpPr txBox="1">
            <a:spLocks noGrp="1"/>
          </p:cNvSpPr>
          <p:nvPr>
            <p:ph type="subTitle" idx="1"/>
          </p:nvPr>
        </p:nvSpPr>
        <p:spPr>
          <a:xfrm>
            <a:off x="4177867" y="5013669"/>
            <a:ext cx="38364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08" name="Google Shape;108;g2aec3b0e815_0_490"/>
          <p:cNvSpPr txBox="1">
            <a:spLocks noGrp="1"/>
          </p:cNvSpPr>
          <p:nvPr>
            <p:ph type="title" idx="2"/>
          </p:nvPr>
        </p:nvSpPr>
        <p:spPr>
          <a:xfrm>
            <a:off x="4109800" y="1093767"/>
            <a:ext cx="3972300" cy="17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4666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SECTION_HEADER 2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aec3b0e815_0_49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2aec3b0e815_0_49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g2aec3b0e815_0_49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2aec3b0e815_0_49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2aec3b0e815_0_49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aec3b0e815_0_50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2aec3b0e815_0_50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g2aec3b0e815_0_50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g2aec3b0e815_0_50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g2aec3b0e815_0_50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2aec3b0e815_0_50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aec3b0e815_0_50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2aec3b0e815_0_50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5" name="Google Shape;125;g2aec3b0e815_0_50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g2aec3b0e815_0_50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7" name="Google Shape;127;g2aec3b0e815_0_50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g2aec3b0e815_0_50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g2aec3b0e815_0_50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g2aec3b0e815_0_50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aec3b0e815_0_5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g2aec3b0e815_0_5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g2aec3b0e815_0_5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aec3b0e815_0_5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g2aec3b0e815_0_5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8" name="Google Shape;138;g2aec3b0e815_0_5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9" name="Google Shape;139;g2aec3b0e815_0_5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g2aec3b0e815_0_5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2aec3b0e815_0_5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aec3b0e815_0_5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g2aec3b0e815_0_5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g2aec3b0e815_0_5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6" name="Google Shape;146;g2aec3b0e815_0_5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g2aec3b0e815_0_5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g2aec3b0e815_0_5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aec3b0e815_0_5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g2aec3b0e815_0_534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g2aec3b0e815_0_5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g2aec3b0e815_0_5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g2aec3b0e815_0_5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aec3b0e815_0_540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g2aec3b0e815_0_540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g2aec3b0e815_0_5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g2aec3b0e815_0_5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g2aec3b0e815_0_5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ec3b0e815_0_46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g2aec3b0e815_0_46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g2aec3b0e815_0_4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g2aec3b0e815_0_4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g2aec3b0e815_0_4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hyperlink" Target="http://drive.google.com/file/d/1IoqKp9RiLrY9RAqOEXHWkTmfBWn4k_xA/view" TargetMode="Externa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s/" TargetMode="External"/><Relationship Id="rId13" Type="http://schemas.openxmlformats.org/officeDocument/2006/relationships/hyperlink" Target="https://www.photopea.com/" TargetMode="External"/><Relationship Id="rId18" Type="http://schemas.openxmlformats.org/officeDocument/2006/relationships/image" Target="../media/image24.png"/><Relationship Id="rId3" Type="http://schemas.openxmlformats.org/officeDocument/2006/relationships/image" Target="../media/image22.png"/><Relationship Id="rId7" Type="http://schemas.openxmlformats.org/officeDocument/2006/relationships/hyperlink" Target="https://www.pexels.com/es-es/" TargetMode="External"/><Relationship Id="rId12" Type="http://schemas.openxmlformats.org/officeDocument/2006/relationships/hyperlink" Target="https://unsplash.com/es" TargetMode="External"/><Relationship Id="rId17" Type="http://schemas.openxmlformats.org/officeDocument/2006/relationships/hyperlink" Target="https://vercel.com/" TargetMode="External"/><Relationship Id="rId2" Type="http://schemas.openxmlformats.org/officeDocument/2006/relationships/notesSlide" Target="../notesSlides/notesSlide12.xml"/><Relationship Id="rId16" Type="http://schemas.openxmlformats.org/officeDocument/2006/relationships/hyperlink" Target="https://www.netlify.com/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jpg"/><Relationship Id="rId11" Type="http://schemas.openxmlformats.org/officeDocument/2006/relationships/hyperlink" Target="https://mixkit.co/" TargetMode="External"/><Relationship Id="rId5" Type="http://schemas.openxmlformats.org/officeDocument/2006/relationships/image" Target="../media/image4.png"/><Relationship Id="rId15" Type="http://schemas.openxmlformats.org/officeDocument/2006/relationships/hyperlink" Target="https://fonts.google.com/" TargetMode="External"/><Relationship Id="rId10" Type="http://schemas.openxmlformats.org/officeDocument/2006/relationships/hyperlink" Target="https://www.flaticon.es/" TargetMode="External"/><Relationship Id="rId4" Type="http://schemas.openxmlformats.org/officeDocument/2006/relationships/image" Target="../media/image23.png"/><Relationship Id="rId9" Type="http://schemas.openxmlformats.org/officeDocument/2006/relationships/hyperlink" Target="https://www.freepik.es/" TargetMode="External"/><Relationship Id="rId14" Type="http://schemas.openxmlformats.org/officeDocument/2006/relationships/hyperlink" Target="https://fontawesome.com/search?ic=free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jpg"/><Relationship Id="rId5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2ada6b3ec75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g2ada6b3ec75_0_0"/>
          <p:cNvGrpSpPr/>
          <p:nvPr/>
        </p:nvGrpSpPr>
        <p:grpSpPr>
          <a:xfrm>
            <a:off x="-19874" y="-180800"/>
            <a:ext cx="7014451" cy="7098825"/>
            <a:chOff x="818326" y="-180800"/>
            <a:chExt cx="7014451" cy="7098825"/>
          </a:xfrm>
        </p:grpSpPr>
        <p:pic>
          <p:nvPicPr>
            <p:cNvPr id="168" name="Google Shape;168;g2ada6b3ec75_0_0"/>
            <p:cNvPicPr preferRelativeResize="0"/>
            <p:nvPr/>
          </p:nvPicPr>
          <p:blipFill rotWithShape="1">
            <a:blip r:embed="rId4">
              <a:alphaModFix/>
            </a:blip>
            <a:srcRect l="10897"/>
            <a:stretch/>
          </p:blipFill>
          <p:spPr>
            <a:xfrm>
              <a:off x="818326" y="-180800"/>
              <a:ext cx="7014451" cy="7098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g2ada6b3ec75_0_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365401" y="235434"/>
              <a:ext cx="1153418" cy="13200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g2ada6b3ec75_0_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894046" y="6126013"/>
              <a:ext cx="520640" cy="5138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g2ada6b3ec75_0_0"/>
          <p:cNvSpPr txBox="1"/>
          <p:nvPr/>
        </p:nvSpPr>
        <p:spPr>
          <a:xfrm>
            <a:off x="292750" y="3153900"/>
            <a:ext cx="50628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Programación Web con HTML &amp; CSS</a:t>
            </a:r>
            <a:endParaRPr sz="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2ada6b3ec75_0_0"/>
          <p:cNvSpPr txBox="1"/>
          <p:nvPr/>
        </p:nvSpPr>
        <p:spPr>
          <a:xfrm>
            <a:off x="446494" y="4362979"/>
            <a:ext cx="350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1" i="0" u="none" strike="noStrike" cap="none">
                <a:solidFill>
                  <a:srgbClr val="FFC3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CURSO APLICATIVO</a:t>
            </a:r>
            <a:endParaRPr sz="2000" b="1" i="0" u="none" strike="noStrike" cap="none">
              <a:solidFill>
                <a:srgbClr val="FFC3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73" name="Google Shape;173;g2ada6b3ec75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88437" y="198408"/>
            <a:ext cx="1420497" cy="67204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2ada6b3ec75_0_0"/>
          <p:cNvSpPr txBox="1"/>
          <p:nvPr/>
        </p:nvSpPr>
        <p:spPr>
          <a:xfrm>
            <a:off x="573897" y="4967669"/>
            <a:ext cx="13176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1000" b="0" i="1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Avalado por:</a:t>
            </a:r>
            <a:endParaRPr sz="1000" b="0" i="1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g2ada6b3ec75_0_0"/>
          <p:cNvSpPr txBox="1"/>
          <p:nvPr/>
        </p:nvSpPr>
        <p:spPr>
          <a:xfrm>
            <a:off x="459395" y="6544597"/>
            <a:ext cx="4729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s-ES" sz="800" b="0" i="0" u="none" strike="noStrike" cap="non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Derechos reservados WE Educación Ejecutiva: S001303560 / Registro INDECOPI</a:t>
            </a:r>
            <a:endParaRPr sz="800" b="0" i="0" u="none" strike="noStrike" cap="non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800" b="0" i="0" u="none" strike="noStrike" cap="non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g2ada6b3ec75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9950" y="5284363"/>
            <a:ext cx="1147050" cy="42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2ada6b3ec75_0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14338" y="5293188"/>
            <a:ext cx="1147050" cy="4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0375" y="-17875"/>
            <a:ext cx="10515133" cy="700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"/>
          <p:cNvPicPr preferRelativeResize="0"/>
          <p:nvPr/>
        </p:nvPicPr>
        <p:blipFill rotWithShape="1">
          <a:blip r:embed="rId4">
            <a:alphaModFix/>
          </a:blip>
          <a:srcRect b="2629"/>
          <a:stretch/>
        </p:blipFill>
        <p:spPr>
          <a:xfrm flipH="1">
            <a:off x="-245475" y="-17875"/>
            <a:ext cx="4271475" cy="70083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endParaRPr sz="13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7" name="Google Shape;197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00300" y="5919727"/>
            <a:ext cx="720923" cy="82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2488" y="196051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"/>
          <p:cNvSpPr txBox="1">
            <a:spLocks noGrp="1"/>
          </p:cNvSpPr>
          <p:nvPr>
            <p:ph type="title"/>
          </p:nvPr>
        </p:nvSpPr>
        <p:spPr>
          <a:xfrm>
            <a:off x="142500" y="1647250"/>
            <a:ext cx="3276600" cy="15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2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REVIEW DE LA </a:t>
            </a:r>
            <a:r>
              <a:rPr lang="es-ES" sz="320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SESIÓN ANTERIOR</a:t>
            </a:r>
            <a:endParaRPr sz="320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897" y="1"/>
            <a:ext cx="122258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5"/>
          <p:cNvSpPr/>
          <p:nvPr/>
        </p:nvSpPr>
        <p:spPr>
          <a:xfrm>
            <a:off x="3159450" y="1033850"/>
            <a:ext cx="9049500" cy="4998300"/>
          </a:xfrm>
          <a:prstGeom prst="roundRect">
            <a:avLst>
              <a:gd name="adj" fmla="val 436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 txBox="1">
            <a:spLocks noGrp="1"/>
          </p:cNvSpPr>
          <p:nvPr>
            <p:ph type="title"/>
          </p:nvPr>
        </p:nvSpPr>
        <p:spPr>
          <a:xfrm>
            <a:off x="3331450" y="1538700"/>
            <a:ext cx="2911500" cy="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ct val="100000"/>
              <a:buFont typeface="Montserrat ExtraBold"/>
              <a:buNone/>
            </a:pPr>
            <a:r>
              <a:rPr lang="es-ES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SESIÓN 3</a:t>
            </a:r>
            <a:endParaRPr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3751625" y="3533450"/>
            <a:ext cx="80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Tema 1: </a:t>
            </a:r>
            <a:r>
              <a:rPr lang="es-E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Botones de control en web</a:t>
            </a:r>
            <a:endParaRPr sz="1500" b="0" i="0" u="none" strike="noStrike" cap="none">
              <a:solidFill>
                <a:srgbClr val="C00000"/>
              </a:solidFill>
              <a:highlight>
                <a:srgbClr val="FFFF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3751625" y="3962475"/>
            <a:ext cx="80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Tema 2:</a:t>
            </a:r>
            <a:r>
              <a:rPr lang="es-ES" sz="15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s-E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Elementos de la web: Campos y Desplegables</a:t>
            </a:r>
            <a:endParaRPr sz="1500" b="0" i="0" u="none" strike="noStrike" cap="non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3751625" y="4391500"/>
            <a:ext cx="8304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Tema 3:</a:t>
            </a:r>
            <a:r>
              <a:rPr lang="es-ES" sz="15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s-E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Diseño y manejo de formularios</a:t>
            </a:r>
            <a:endParaRPr sz="1500" b="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0" name="Google Shape;210;p5"/>
          <p:cNvSpPr txBox="1">
            <a:spLocks noGrp="1"/>
          </p:cNvSpPr>
          <p:nvPr>
            <p:ph type="title"/>
          </p:nvPr>
        </p:nvSpPr>
        <p:spPr>
          <a:xfrm>
            <a:off x="108857" y="2428200"/>
            <a:ext cx="2975543" cy="20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3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CONTENIDO DE LA </a:t>
            </a:r>
            <a:r>
              <a:rPr lang="es-ES" sz="330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SESIÓN WE</a:t>
            </a:r>
            <a:endParaRPr sz="330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3345674" y="2724050"/>
            <a:ext cx="492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2800" b="0" i="0" u="none" strike="noStrike" cap="none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1.</a:t>
            </a:r>
            <a:endParaRPr sz="2800" b="0" i="0" u="none" strike="noStrike" cap="none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3701350" y="2808788"/>
            <a:ext cx="795725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SemiBold"/>
              <a:buNone/>
            </a:pPr>
            <a:r>
              <a:rPr lang="es-ES" sz="1600" b="1" i="0" u="none" strike="noStrike" cap="none" dirty="0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TEMAS DE LA SESIÓN: </a:t>
            </a:r>
            <a:r>
              <a:rPr lang="es-ES" sz="16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Recopilación de la información con formularios web</a:t>
            </a:r>
            <a:r>
              <a:rPr lang="es-ES" sz="1600" b="1" i="0" u="none" strike="noStrike" cap="none" dirty="0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 sz="1600" b="1" i="0" u="none" strike="noStrike" cap="none" dirty="0">
              <a:solidFill>
                <a:srgbClr val="2A8B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5"/>
          <p:cNvSpPr txBox="1"/>
          <p:nvPr/>
        </p:nvSpPr>
        <p:spPr>
          <a:xfrm>
            <a:off x="3410874" y="2210675"/>
            <a:ext cx="7372739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SemiBold"/>
              <a:buNone/>
            </a:pPr>
            <a:r>
              <a:rPr lang="es-ES" sz="13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OBJETIVOS DE LA SESIÓN: </a:t>
            </a:r>
            <a:r>
              <a:rPr lang="es-MX" sz="13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Desarrollar e implementar una plataforma web que pueda cumplir con las </a:t>
            </a:r>
            <a:r>
              <a:rPr lang="es-MX" sz="13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necesiadades</a:t>
            </a:r>
            <a:r>
              <a:rPr lang="es-MX" sz="13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del cliente.</a:t>
            </a:r>
            <a:endParaRPr sz="13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s-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5" name="Google Shape;21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336" y="228924"/>
            <a:ext cx="1580776" cy="7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647" y="5452500"/>
            <a:ext cx="1165550" cy="117029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5"/>
          <p:cNvSpPr txBox="1"/>
          <p:nvPr/>
        </p:nvSpPr>
        <p:spPr>
          <a:xfrm>
            <a:off x="3751625" y="4820513"/>
            <a:ext cx="8304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Tema 4:</a:t>
            </a:r>
            <a:r>
              <a:rPr lang="es-ES" sz="1500" b="0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s-ES" sz="1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Aplicación de propiedades CSS</a:t>
            </a:r>
            <a:endParaRPr sz="1500" b="0" i="0" u="none" strike="noStrike" cap="none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" name="Google Shape;217;p5">
            <a:extLst>
              <a:ext uri="{FF2B5EF4-FFF2-40B4-BE49-F238E27FC236}">
                <a16:creationId xmlns:a16="http://schemas.microsoft.com/office/drawing/2014/main" id="{C84C1BB4-5572-3233-2966-2AE0F99EE0EA}"/>
              </a:ext>
            </a:extLst>
          </p:cNvPr>
          <p:cNvSpPr txBox="1"/>
          <p:nvPr/>
        </p:nvSpPr>
        <p:spPr>
          <a:xfrm>
            <a:off x="3751625" y="5233438"/>
            <a:ext cx="8304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Caso 3:</a:t>
            </a:r>
            <a:r>
              <a:rPr lang="es-ES" sz="1500" b="0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s-MX" sz="1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Aplicando controles efectivos y campos desplegables</a:t>
            </a:r>
            <a:endParaRPr sz="1500" b="0" i="0" u="none" strike="noStrike" cap="none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" name="Google Shape;217;p5">
            <a:extLst>
              <a:ext uri="{FF2B5EF4-FFF2-40B4-BE49-F238E27FC236}">
                <a16:creationId xmlns:a16="http://schemas.microsoft.com/office/drawing/2014/main" id="{ABEC24ED-2374-CB32-76E6-FF5BC35AD5F2}"/>
              </a:ext>
            </a:extLst>
          </p:cNvPr>
          <p:cNvSpPr txBox="1"/>
          <p:nvPr/>
        </p:nvSpPr>
        <p:spPr>
          <a:xfrm>
            <a:off x="3751625" y="5592902"/>
            <a:ext cx="8304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Taller 3:</a:t>
            </a:r>
            <a:r>
              <a:rPr lang="es-ES" sz="1500" b="0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s-MX" sz="1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Diseño de interacciones en tu página web</a:t>
            </a:r>
            <a:endParaRPr sz="1500" b="0" i="0" u="none" strike="noStrike" cap="none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g20fcd679d50_0_193"/>
          <p:cNvPicPr preferRelativeResize="0"/>
          <p:nvPr/>
        </p:nvPicPr>
        <p:blipFill rotWithShape="1">
          <a:blip r:embed="rId3">
            <a:alphaModFix/>
          </a:blip>
          <a:srcRect l="279"/>
          <a:stretch/>
        </p:blipFill>
        <p:spPr>
          <a:xfrm>
            <a:off x="0" y="0"/>
            <a:ext cx="122089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20fcd679d50_0_1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336" y="228924"/>
            <a:ext cx="1580776" cy="7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20fcd679d50_0_19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647" y="5452500"/>
            <a:ext cx="1165550" cy="117029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20fcd679d50_0_193"/>
          <p:cNvSpPr txBox="1"/>
          <p:nvPr/>
        </p:nvSpPr>
        <p:spPr>
          <a:xfrm>
            <a:off x="248325" y="2298300"/>
            <a:ext cx="3191100" cy="18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r>
              <a:rPr lang="es-ES" sz="3300" b="1" i="0" u="none" strike="noStrike" cap="none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TEMA 1</a:t>
            </a:r>
            <a:endParaRPr sz="3300" b="1" i="0" u="none" strike="noStrike" cap="none">
              <a:solidFill>
                <a:srgbClr val="2A8B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endParaRPr sz="36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2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Botones de control en web </a:t>
            </a:r>
            <a:endParaRPr sz="15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6" name="Google Shape;226;g20fcd679d50_0_193"/>
          <p:cNvPicPr preferRelativeResize="0"/>
          <p:nvPr/>
        </p:nvPicPr>
        <p:blipFill rotWithShape="1">
          <a:blip r:embed="rId6">
            <a:alphaModFix/>
          </a:blip>
          <a:srcRect r="11276"/>
          <a:stretch/>
        </p:blipFill>
        <p:spPr>
          <a:xfrm>
            <a:off x="3439425" y="0"/>
            <a:ext cx="875257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20fcd679d50_0_193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7738" y="20992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"/>
          <p:cNvSpPr txBox="1"/>
          <p:nvPr/>
        </p:nvSpPr>
        <p:spPr>
          <a:xfrm>
            <a:off x="5564300" y="2205300"/>
            <a:ext cx="5162700" cy="24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-ES" sz="2100" b="1">
                <a:latin typeface="Montserrat"/>
                <a:ea typeface="Montserrat"/>
                <a:cs typeface="Montserrat"/>
                <a:sym typeface="Montserrat"/>
              </a:rPr>
              <a:t>&lt;button&gt;: </a:t>
            </a:r>
            <a:r>
              <a:rPr lang="es-ES" sz="2100">
                <a:latin typeface="Montserrat"/>
                <a:ea typeface="Montserrat"/>
                <a:cs typeface="Montserrat"/>
                <a:sym typeface="Montserrat"/>
              </a:rPr>
              <a:t>Botón estándar.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-ES" sz="2100" b="1">
                <a:latin typeface="Montserrat"/>
                <a:ea typeface="Montserrat"/>
                <a:cs typeface="Montserrat"/>
                <a:sym typeface="Montserrat"/>
              </a:rPr>
              <a:t>&lt;input type="button"&gt;: </a:t>
            </a:r>
            <a:r>
              <a:rPr lang="es-ES" sz="2100">
                <a:latin typeface="Montserrat"/>
                <a:ea typeface="Montserrat"/>
                <a:cs typeface="Montserrat"/>
                <a:sym typeface="Montserrat"/>
              </a:rPr>
              <a:t>Botón input.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-ES" sz="2100" b="1">
                <a:latin typeface="Montserrat"/>
                <a:ea typeface="Montserrat"/>
                <a:cs typeface="Montserrat"/>
                <a:sym typeface="Montserrat"/>
              </a:rPr>
              <a:t>&lt;a&gt;: </a:t>
            </a:r>
            <a:r>
              <a:rPr lang="es-ES" sz="2100">
                <a:latin typeface="Montserrat"/>
                <a:ea typeface="Montserrat"/>
                <a:cs typeface="Montserrat"/>
                <a:sym typeface="Montserrat"/>
              </a:rPr>
              <a:t>Enlace con apariencia de botón.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4" name="Google Shape;234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1375" y="4922801"/>
            <a:ext cx="5208541" cy="96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5650" y="1781650"/>
            <a:ext cx="4254248" cy="410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"/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"/>
          <p:cNvSpPr txBox="1"/>
          <p:nvPr/>
        </p:nvSpPr>
        <p:spPr>
          <a:xfrm>
            <a:off x="797825" y="499325"/>
            <a:ext cx="5701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Botones de control</a:t>
            </a:r>
            <a:endParaRPr sz="300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en web</a:t>
            </a:r>
            <a:endParaRPr sz="300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38" name="Google Shape;238;p1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000F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45"/>
          <p:cNvPicPr preferRelativeResize="0"/>
          <p:nvPr/>
        </p:nvPicPr>
        <p:blipFill rotWithShape="1">
          <a:blip r:embed="rId3">
            <a:alphaModFix/>
          </a:blip>
          <a:srcRect l="279"/>
          <a:stretch/>
        </p:blipFill>
        <p:spPr>
          <a:xfrm>
            <a:off x="0" y="0"/>
            <a:ext cx="122089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336" y="228924"/>
            <a:ext cx="1580776" cy="7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647" y="5452500"/>
            <a:ext cx="1165550" cy="117029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45"/>
          <p:cNvSpPr txBox="1"/>
          <p:nvPr/>
        </p:nvSpPr>
        <p:spPr>
          <a:xfrm>
            <a:off x="248325" y="2298300"/>
            <a:ext cx="3191100" cy="18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r>
              <a:rPr lang="es-ES" sz="3300" b="1" i="0" u="none" strike="noStrike" cap="none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TEMA </a:t>
            </a:r>
            <a:r>
              <a:rPr lang="es-ES" sz="3300" b="1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3300" b="1" i="0" u="none" strike="noStrike" cap="none">
              <a:solidFill>
                <a:srgbClr val="2A8B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endParaRPr sz="36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2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Elementos de la web: Campos y desplegables</a:t>
            </a:r>
            <a:endParaRPr sz="15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7" name="Google Shape;247;p45"/>
          <p:cNvPicPr preferRelativeResize="0"/>
          <p:nvPr/>
        </p:nvPicPr>
        <p:blipFill rotWithShape="1">
          <a:blip r:embed="rId6">
            <a:alphaModFix/>
          </a:blip>
          <a:srcRect r="11276"/>
          <a:stretch/>
        </p:blipFill>
        <p:spPr>
          <a:xfrm>
            <a:off x="3439425" y="0"/>
            <a:ext cx="875257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5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g2ada6b3ec75_0_1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7738" y="20992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2ada6b3ec75_0_168"/>
          <p:cNvSpPr txBox="1"/>
          <p:nvPr/>
        </p:nvSpPr>
        <p:spPr>
          <a:xfrm>
            <a:off x="797825" y="1868350"/>
            <a:ext cx="58563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s-ES" sz="2000" b="1">
                <a:latin typeface="Montserrat"/>
                <a:ea typeface="Montserrat"/>
                <a:cs typeface="Montserrat"/>
                <a:sym typeface="Montserrat"/>
              </a:rPr>
              <a:t>Campos de entrada: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Montserrat"/>
                <a:ea typeface="Montserrat"/>
                <a:cs typeface="Montserrat"/>
                <a:sym typeface="Montserrat"/>
              </a:rPr>
              <a:t>&lt;input type="text"&gt;, &lt;input type="password"&gt;, &lt;textarea&gt;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s-ES" sz="2000" b="1">
                <a:latin typeface="Montserrat"/>
                <a:ea typeface="Montserrat"/>
                <a:cs typeface="Montserrat"/>
                <a:sym typeface="Montserrat"/>
              </a:rPr>
              <a:t>Desplegables: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Montserrat"/>
                <a:ea typeface="Montserrat"/>
                <a:cs typeface="Montserrat"/>
                <a:sym typeface="Montserrat"/>
              </a:rPr>
              <a:t>&lt;select&gt;, &lt;option&gt;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5" name="Google Shape;255;g2ada6b3ec75_0_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800" y="4221325"/>
            <a:ext cx="5848350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g2ada6b3ec75_0_1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43325" y="1807100"/>
            <a:ext cx="4249775" cy="410014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2ada6b3ec75_0_168"/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2ada6b3ec75_0_168"/>
          <p:cNvSpPr txBox="1"/>
          <p:nvPr/>
        </p:nvSpPr>
        <p:spPr>
          <a:xfrm>
            <a:off x="797825" y="499325"/>
            <a:ext cx="5701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Elementos de la web:</a:t>
            </a:r>
            <a:endParaRPr sz="300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Campos y desplegables</a:t>
            </a:r>
            <a:endParaRPr sz="300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59" name="Google Shape;259;g2ada6b3ec75_0_168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000F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g2ada6b3ec75_0_242"/>
          <p:cNvPicPr preferRelativeResize="0"/>
          <p:nvPr/>
        </p:nvPicPr>
        <p:blipFill rotWithShape="1">
          <a:blip r:embed="rId3">
            <a:alphaModFix/>
          </a:blip>
          <a:srcRect l="279"/>
          <a:stretch/>
        </p:blipFill>
        <p:spPr>
          <a:xfrm>
            <a:off x="0" y="0"/>
            <a:ext cx="122089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2ada6b3ec75_0_2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336" y="228924"/>
            <a:ext cx="1580776" cy="7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2ada6b3ec75_0_2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647" y="5452500"/>
            <a:ext cx="1165550" cy="117029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2ada6b3ec75_0_242"/>
          <p:cNvSpPr txBox="1"/>
          <p:nvPr/>
        </p:nvSpPr>
        <p:spPr>
          <a:xfrm>
            <a:off x="248325" y="2298300"/>
            <a:ext cx="3191100" cy="18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r>
              <a:rPr lang="es-ES" sz="3300" b="1" i="0" u="none" strike="noStrike" cap="none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TEMA </a:t>
            </a:r>
            <a:r>
              <a:rPr lang="es-ES" sz="3300" b="1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3300" b="1" i="0" u="none" strike="noStrike" cap="none">
              <a:solidFill>
                <a:srgbClr val="2A8B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endParaRPr sz="36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2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Diseño y manejo de formularios </a:t>
            </a:r>
            <a:endParaRPr sz="15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8" name="Google Shape;268;g2ada6b3ec75_0_242"/>
          <p:cNvPicPr preferRelativeResize="0"/>
          <p:nvPr/>
        </p:nvPicPr>
        <p:blipFill rotWithShape="1">
          <a:blip r:embed="rId6">
            <a:alphaModFix/>
          </a:blip>
          <a:srcRect r="11276"/>
          <a:stretch/>
        </p:blipFill>
        <p:spPr>
          <a:xfrm>
            <a:off x="3439425" y="0"/>
            <a:ext cx="875257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2ada6b3ec75_0_242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g2ada6b3ec75_0_2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7738" y="20992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2ada6b3ec75_0_251"/>
          <p:cNvSpPr txBox="1"/>
          <p:nvPr/>
        </p:nvSpPr>
        <p:spPr>
          <a:xfrm>
            <a:off x="797825" y="1416975"/>
            <a:ext cx="5239500" cy="24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Char char="●"/>
            </a:pPr>
            <a:r>
              <a:rPr lang="es-ES" sz="2100" b="1">
                <a:latin typeface="Montserrat"/>
                <a:ea typeface="Montserrat"/>
                <a:cs typeface="Montserrat"/>
                <a:sym typeface="Montserrat"/>
              </a:rPr>
              <a:t>Estructura de un formulario:</a:t>
            </a:r>
            <a:endParaRPr sz="2100" b="1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Char char="○"/>
            </a:pPr>
            <a:r>
              <a:rPr lang="es-ES" sz="2100">
                <a:latin typeface="Montserrat"/>
                <a:ea typeface="Montserrat"/>
                <a:cs typeface="Montserrat"/>
                <a:sym typeface="Montserrat"/>
              </a:rPr>
              <a:t>&lt;form&gt;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Char char="○"/>
            </a:pPr>
            <a:r>
              <a:rPr lang="es-ES" sz="2100">
                <a:latin typeface="Montserrat"/>
                <a:ea typeface="Montserrat"/>
                <a:cs typeface="Montserrat"/>
                <a:sym typeface="Montserrat"/>
              </a:rPr>
              <a:t>&lt;fieldset&gt;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Char char="○"/>
            </a:pPr>
            <a:r>
              <a:rPr lang="es-ES" sz="2100">
                <a:latin typeface="Montserrat"/>
                <a:ea typeface="Montserrat"/>
                <a:cs typeface="Montserrat"/>
                <a:sym typeface="Montserrat"/>
              </a:rPr>
              <a:t>&lt;legend&gt;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Char char="○"/>
            </a:pPr>
            <a:r>
              <a:rPr lang="es-ES" sz="2100">
                <a:latin typeface="Montserrat"/>
                <a:ea typeface="Montserrat"/>
                <a:cs typeface="Montserrat"/>
                <a:sym typeface="Montserrat"/>
              </a:rPr>
              <a:t>&lt;label&gt;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Char char="○"/>
            </a:pPr>
            <a:r>
              <a:rPr lang="es-ES" sz="2100">
                <a:latin typeface="Montserrat"/>
                <a:ea typeface="Montserrat"/>
                <a:cs typeface="Montserrat"/>
                <a:sym typeface="Montserrat"/>
              </a:rPr>
              <a:t>&lt;input&gt;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Char char="○"/>
            </a:pPr>
            <a:r>
              <a:rPr lang="es-ES" sz="2100">
                <a:latin typeface="Montserrat"/>
                <a:ea typeface="Montserrat"/>
                <a:cs typeface="Montserrat"/>
                <a:sym typeface="Montserrat"/>
              </a:rPr>
              <a:t>&lt;button&gt;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6" name="Google Shape;276;g2ada6b3ec75_0_2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938" y="3999100"/>
            <a:ext cx="5324475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2ada6b3ec75_0_251"/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2ada6b3ec75_0_251"/>
          <p:cNvSpPr txBox="1"/>
          <p:nvPr/>
        </p:nvSpPr>
        <p:spPr>
          <a:xfrm>
            <a:off x="797825" y="499325"/>
            <a:ext cx="5701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Diseño y manejo de</a:t>
            </a:r>
            <a:endParaRPr sz="300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formularios</a:t>
            </a:r>
            <a:endParaRPr sz="300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80" name="Google Shape;280;g2ada6b3ec75_0_251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-ES" sz="1300" b="1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000F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Google Shape;322;g2b055251057_0_128">
            <a:hlinkClick r:id="rId5"/>
            <a:extLst>
              <a:ext uri="{FF2B5EF4-FFF2-40B4-BE49-F238E27FC236}">
                <a16:creationId xmlns:a16="http://schemas.microsoft.com/office/drawing/2014/main" id="{0488977E-4BE8-ED6A-9789-CC5E6BDA6D69}"/>
              </a:ext>
            </a:extLst>
          </p:cNvPr>
          <p:cNvPicPr preferRelativeResize="0"/>
          <p:nvPr/>
        </p:nvPicPr>
        <p:blipFill>
          <a:blip r:embed="rId6"/>
          <a:srcRect/>
          <a:stretch/>
        </p:blipFill>
        <p:spPr>
          <a:xfrm>
            <a:off x="6351341" y="934097"/>
            <a:ext cx="3831751" cy="5551028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g1ee9218af08_0_6"/>
          <p:cNvPicPr preferRelativeResize="0"/>
          <p:nvPr/>
        </p:nvPicPr>
        <p:blipFill rotWithShape="1">
          <a:blip r:embed="rId3">
            <a:alphaModFix/>
          </a:blip>
          <a:srcRect l="279"/>
          <a:stretch/>
        </p:blipFill>
        <p:spPr>
          <a:xfrm>
            <a:off x="0" y="0"/>
            <a:ext cx="122089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1ee9218af08_0_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336" y="228924"/>
            <a:ext cx="1580776" cy="7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1ee9218af08_0_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647" y="5452500"/>
            <a:ext cx="1165550" cy="117029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1ee9218af08_0_6"/>
          <p:cNvSpPr txBox="1"/>
          <p:nvPr/>
        </p:nvSpPr>
        <p:spPr>
          <a:xfrm>
            <a:off x="248325" y="2298300"/>
            <a:ext cx="3191100" cy="18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r>
              <a:rPr lang="es-ES" sz="3300" b="1" i="0" u="none" strike="noStrike" cap="none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TEMA </a:t>
            </a:r>
            <a:r>
              <a:rPr lang="es-ES" sz="3300" b="1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3300" b="1" i="0" u="none" strike="noStrike" cap="none">
              <a:solidFill>
                <a:srgbClr val="2A8B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endParaRPr sz="36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2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Aplicación de propiedades CSS </a:t>
            </a:r>
            <a:endParaRPr sz="15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9" name="Google Shape;289;g1ee9218af08_0_6"/>
          <p:cNvPicPr preferRelativeResize="0"/>
          <p:nvPr/>
        </p:nvPicPr>
        <p:blipFill rotWithShape="1">
          <a:blip r:embed="rId6">
            <a:alphaModFix/>
          </a:blip>
          <a:srcRect r="11276"/>
          <a:stretch/>
        </p:blipFill>
        <p:spPr>
          <a:xfrm>
            <a:off x="3439425" y="0"/>
            <a:ext cx="875257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1ee9218af08_0_6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g2ae66c03690_0_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7738" y="20992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2ae66c03690_0_30"/>
          <p:cNvSpPr txBox="1"/>
          <p:nvPr/>
        </p:nvSpPr>
        <p:spPr>
          <a:xfrm>
            <a:off x="797825" y="1561150"/>
            <a:ext cx="59046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latin typeface="Montserrat"/>
                <a:ea typeface="Montserrat"/>
                <a:cs typeface="Montserrat"/>
                <a:sym typeface="Montserrat"/>
              </a:rPr>
              <a:t>Propiedades CSS comunes para formularios: margin, padding, border, background-color, font-family, font-size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7" name="Google Shape;297;g2ae66c03690_0_30"/>
          <p:cNvPicPr preferRelativeResize="0"/>
          <p:nvPr/>
        </p:nvPicPr>
        <p:blipFill rotWithShape="1">
          <a:blip r:embed="rId4">
            <a:alphaModFix/>
          </a:blip>
          <a:srcRect r="15860"/>
          <a:stretch/>
        </p:blipFill>
        <p:spPr>
          <a:xfrm>
            <a:off x="6702425" y="1652875"/>
            <a:ext cx="4536926" cy="47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g2ae66c03690_0_30"/>
          <p:cNvPicPr preferRelativeResize="0"/>
          <p:nvPr/>
        </p:nvPicPr>
        <p:blipFill rotWithShape="1">
          <a:blip r:embed="rId5">
            <a:alphaModFix/>
          </a:blip>
          <a:srcRect t="10914" b="20700"/>
          <a:stretch/>
        </p:blipFill>
        <p:spPr>
          <a:xfrm>
            <a:off x="875650" y="2933500"/>
            <a:ext cx="5623674" cy="3482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2ae66c03690_0_30"/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2ae66c03690_0_30"/>
          <p:cNvSpPr txBox="1"/>
          <p:nvPr/>
        </p:nvSpPr>
        <p:spPr>
          <a:xfrm>
            <a:off x="797825" y="499325"/>
            <a:ext cx="5701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Aplicación y propiedades</a:t>
            </a:r>
            <a:endParaRPr sz="300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 CSS</a:t>
            </a:r>
            <a:endParaRPr sz="300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01" name="Google Shape;301;g2ae66c03690_0_30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-ES" sz="1300" b="1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000F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g2aec3b0e815_0_5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86287"/>
            <a:ext cx="4395700" cy="6944276"/>
          </a:xfrm>
          <a:prstGeom prst="rect">
            <a:avLst/>
          </a:prstGeom>
          <a:noFill/>
          <a:ln>
            <a:noFill/>
          </a:ln>
          <a:effectLst>
            <a:reflection endPos="35000" dist="38100" dir="5400000" fadeDir="5400012" sy="-100000" algn="bl" rotWithShape="0"/>
          </a:effectLst>
        </p:spPr>
      </p:pic>
      <p:pic>
        <p:nvPicPr>
          <p:cNvPr id="307" name="Google Shape;307;g2aec3b0e815_0_5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72150" y="-148025"/>
            <a:ext cx="4567849" cy="837572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2aec3b0e815_0_551"/>
          <p:cNvSpPr/>
          <p:nvPr/>
        </p:nvSpPr>
        <p:spPr>
          <a:xfrm>
            <a:off x="11416034" y="645600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18.</a:t>
            </a:r>
            <a:endParaRPr sz="13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g2aec3b0e815_0_551"/>
          <p:cNvSpPr txBox="1"/>
          <p:nvPr/>
        </p:nvSpPr>
        <p:spPr>
          <a:xfrm>
            <a:off x="438900" y="1510400"/>
            <a:ext cx="3135600" cy="2141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ES" sz="4100" b="0" i="0" u="none" strike="noStrike" cap="none" dirty="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ENLACES DE</a:t>
            </a:r>
            <a:r>
              <a:rPr lang="es-ES" sz="4100" b="0" i="0" u="none" strike="noStrike" cap="none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s-ES" sz="41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INTERÉS</a:t>
            </a:r>
            <a:endParaRPr sz="4100" b="0" i="0" u="none" strike="noStrike" cap="none" dirty="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10" name="Google Shape;310;g2aec3b0e815_0_5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2225" y="5270375"/>
            <a:ext cx="1226575" cy="1403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1" name="Google Shape;311;g2aec3b0e815_0_551"/>
          <p:cNvCxnSpPr/>
          <p:nvPr/>
        </p:nvCxnSpPr>
        <p:spPr>
          <a:xfrm flipH="1">
            <a:off x="290300" y="1180925"/>
            <a:ext cx="9900" cy="2624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2" name="Google Shape;312;g2aec3b0e815_0_551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-ES" sz="1300" b="1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000F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g2aec3b0e815_0_5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47738" y="19597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2aec3b0e815_0_551"/>
          <p:cNvSpPr txBox="1"/>
          <p:nvPr/>
        </p:nvSpPr>
        <p:spPr>
          <a:xfrm>
            <a:off x="5116525" y="1741475"/>
            <a:ext cx="64497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2aec3b0e815_0_551"/>
          <p:cNvSpPr txBox="1"/>
          <p:nvPr/>
        </p:nvSpPr>
        <p:spPr>
          <a:xfrm>
            <a:off x="5081875" y="2117575"/>
            <a:ext cx="6519000" cy="4501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700" b="1" dirty="0">
                <a:latin typeface="Montserrat"/>
                <a:ea typeface="Montserrat"/>
                <a:cs typeface="Montserrat"/>
                <a:sym typeface="Montserrat"/>
                <a:hlinkClick r:id="rId7"/>
              </a:rPr>
              <a:t>Pexels.com</a:t>
            </a:r>
            <a:endParaRPr lang="es-PE" sz="17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700" b="1" dirty="0">
                <a:latin typeface="Montserrat"/>
                <a:ea typeface="Montserrat"/>
                <a:cs typeface="Montserrat"/>
                <a:sym typeface="Montserrat"/>
                <a:hlinkClick r:id="rId8"/>
              </a:rPr>
              <a:t>Pixabay.com</a:t>
            </a:r>
            <a:endParaRPr lang="es-PE" sz="17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700" b="1" dirty="0">
                <a:latin typeface="Montserrat"/>
                <a:ea typeface="Montserrat"/>
                <a:cs typeface="Montserrat"/>
                <a:sym typeface="Montserrat"/>
                <a:hlinkClick r:id="rId9"/>
              </a:rPr>
              <a:t>Freepik.com</a:t>
            </a:r>
            <a:endParaRPr lang="es-PE" sz="17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700" b="1" dirty="0">
                <a:latin typeface="Montserrat"/>
                <a:ea typeface="Montserrat"/>
                <a:cs typeface="Montserrat"/>
                <a:sym typeface="Montserrat"/>
                <a:hlinkClick r:id="rId10"/>
              </a:rPr>
              <a:t>Flaticon.es</a:t>
            </a:r>
            <a:endParaRPr lang="es-PE" sz="17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700" b="1" dirty="0">
                <a:latin typeface="Montserrat"/>
                <a:ea typeface="Montserrat"/>
                <a:cs typeface="Montserrat"/>
                <a:sym typeface="Montserrat"/>
                <a:hlinkClick r:id="rId11"/>
              </a:rPr>
              <a:t>Mixkit.co</a:t>
            </a:r>
            <a:endParaRPr lang="es-PE" sz="17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700" b="1" dirty="0">
                <a:latin typeface="Montserrat"/>
                <a:ea typeface="Montserrat"/>
                <a:cs typeface="Montserrat"/>
                <a:sym typeface="Montserrat"/>
                <a:hlinkClick r:id="rId12"/>
              </a:rPr>
              <a:t>Unsplash.com</a:t>
            </a:r>
            <a:endParaRPr lang="es-PE" sz="17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700" b="1" dirty="0">
                <a:latin typeface="Montserrat"/>
                <a:ea typeface="Montserrat"/>
                <a:cs typeface="Montserrat"/>
                <a:sym typeface="Montserrat"/>
                <a:hlinkClick r:id="rId13"/>
              </a:rPr>
              <a:t>Photopea.com</a:t>
            </a:r>
            <a:endParaRPr lang="es-PE" sz="17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700" b="1" dirty="0" err="1">
                <a:latin typeface="Montserrat"/>
                <a:ea typeface="Montserrat"/>
                <a:cs typeface="Montserrat"/>
                <a:sym typeface="Montserrat"/>
                <a:hlinkClick r:id="rId14"/>
              </a:rPr>
              <a:t>Fontawesome</a:t>
            </a:r>
            <a:endParaRPr lang="es-PE" sz="17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700" b="1" dirty="0">
                <a:latin typeface="Montserrat"/>
                <a:ea typeface="Montserrat"/>
                <a:cs typeface="Montserrat"/>
                <a:sym typeface="Montserrat"/>
                <a:hlinkClick r:id="rId15"/>
              </a:rPr>
              <a:t>Google </a:t>
            </a:r>
            <a:r>
              <a:rPr lang="es-PE" sz="1700" b="1" dirty="0" err="1">
                <a:latin typeface="Montserrat"/>
                <a:ea typeface="Montserrat"/>
                <a:cs typeface="Montserrat"/>
                <a:sym typeface="Montserrat"/>
                <a:hlinkClick r:id="rId15"/>
              </a:rPr>
              <a:t>Fonts</a:t>
            </a:r>
            <a:endParaRPr lang="es-PE" sz="17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700" b="1" dirty="0" err="1">
                <a:latin typeface="Montserrat"/>
                <a:ea typeface="Montserrat"/>
                <a:cs typeface="Montserrat"/>
                <a:sym typeface="Montserrat"/>
                <a:hlinkClick r:id="rId16"/>
              </a:rPr>
              <a:t>Netlify</a:t>
            </a:r>
            <a:endParaRPr lang="es-PE" sz="17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700" b="1" dirty="0" err="1">
                <a:latin typeface="Montserrat"/>
                <a:ea typeface="Montserrat"/>
                <a:cs typeface="Montserrat"/>
                <a:sym typeface="Montserrat"/>
                <a:hlinkClick r:id="rId17"/>
              </a:rPr>
              <a:t>Vercel</a:t>
            </a:r>
            <a:endParaRPr sz="17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6" name="Google Shape;316;g2aec3b0e815_0_551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009863" y="-64525"/>
            <a:ext cx="3244124" cy="1484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2aec3b0e815_0_551"/>
          <p:cNvSpPr txBox="1"/>
          <p:nvPr/>
        </p:nvSpPr>
        <p:spPr>
          <a:xfrm>
            <a:off x="5149222" y="1248875"/>
            <a:ext cx="63843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S" sz="2000" b="0" i="0" u="none" strike="noStrike" cap="none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Enlaces de interés</a:t>
            </a:r>
            <a:r>
              <a:rPr lang="es-ES" sz="2000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: Recursos gratuitos</a:t>
            </a:r>
            <a:endParaRPr sz="2000" b="0" i="0" u="none" strike="noStrike" cap="none" dirty="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>
          <a:extLst>
            <a:ext uri="{FF2B5EF4-FFF2-40B4-BE49-F238E27FC236}">
              <a16:creationId xmlns:a16="http://schemas.microsoft.com/office/drawing/2014/main" id="{717720AD-862F-7639-E784-0E8652F70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g2aec3b0e815_0_551">
            <a:extLst>
              <a:ext uri="{FF2B5EF4-FFF2-40B4-BE49-F238E27FC236}">
                <a16:creationId xmlns:a16="http://schemas.microsoft.com/office/drawing/2014/main" id="{26D71A3F-4424-ED86-2DCD-E12CD217A7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86287"/>
            <a:ext cx="4395700" cy="6944276"/>
          </a:xfrm>
          <a:prstGeom prst="rect">
            <a:avLst/>
          </a:prstGeom>
          <a:noFill/>
          <a:ln>
            <a:noFill/>
          </a:ln>
          <a:effectLst>
            <a:reflection endPos="35000" dist="38100" dir="5400000" fadeDir="5400012" sy="-100000" algn="bl" rotWithShape="0"/>
          </a:effectLst>
        </p:spPr>
      </p:pic>
      <p:pic>
        <p:nvPicPr>
          <p:cNvPr id="307" name="Google Shape;307;g2aec3b0e815_0_551">
            <a:extLst>
              <a:ext uri="{FF2B5EF4-FFF2-40B4-BE49-F238E27FC236}">
                <a16:creationId xmlns:a16="http://schemas.microsoft.com/office/drawing/2014/main" id="{8C3748B3-EA8D-09A5-D41D-66D1E0D0851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72150" y="-148025"/>
            <a:ext cx="4567849" cy="837572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2aec3b0e815_0_551">
            <a:extLst>
              <a:ext uri="{FF2B5EF4-FFF2-40B4-BE49-F238E27FC236}">
                <a16:creationId xmlns:a16="http://schemas.microsoft.com/office/drawing/2014/main" id="{65ECFBF3-E7D4-8C40-2D38-1C4A684CB596}"/>
              </a:ext>
            </a:extLst>
          </p:cNvPr>
          <p:cNvSpPr/>
          <p:nvPr/>
        </p:nvSpPr>
        <p:spPr>
          <a:xfrm>
            <a:off x="11416034" y="645600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18.</a:t>
            </a:r>
            <a:endParaRPr sz="13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g2aec3b0e815_0_551">
            <a:extLst>
              <a:ext uri="{FF2B5EF4-FFF2-40B4-BE49-F238E27FC236}">
                <a16:creationId xmlns:a16="http://schemas.microsoft.com/office/drawing/2014/main" id="{585FCE6F-A165-48AD-F378-2A48914671C8}"/>
              </a:ext>
            </a:extLst>
          </p:cNvPr>
          <p:cNvSpPr txBox="1"/>
          <p:nvPr/>
        </p:nvSpPr>
        <p:spPr>
          <a:xfrm>
            <a:off x="438900" y="1510400"/>
            <a:ext cx="3639106" cy="151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ES" sz="4100" b="0" i="0" u="none" strike="noStrike" cap="none" dirty="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CASO</a:t>
            </a:r>
            <a:r>
              <a:rPr lang="es-ES" sz="4100" b="0" i="0" u="none" strike="noStrike" cap="none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s-ES" sz="41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PRÁCTICO 3</a:t>
            </a:r>
            <a:r>
              <a:rPr lang="es-ES" sz="4100" b="0" i="0" u="none" strike="noStrike" cap="none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endParaRPr sz="4100" b="0" i="0" u="none" strike="noStrike" cap="none" dirty="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10" name="Google Shape;310;g2aec3b0e815_0_551">
            <a:extLst>
              <a:ext uri="{FF2B5EF4-FFF2-40B4-BE49-F238E27FC236}">
                <a16:creationId xmlns:a16="http://schemas.microsoft.com/office/drawing/2014/main" id="{9FC28652-E773-B269-437C-B69ABFDC2D4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2225" y="5270375"/>
            <a:ext cx="1226575" cy="1403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1" name="Google Shape;311;g2aec3b0e815_0_551">
            <a:extLst>
              <a:ext uri="{FF2B5EF4-FFF2-40B4-BE49-F238E27FC236}">
                <a16:creationId xmlns:a16="http://schemas.microsoft.com/office/drawing/2014/main" id="{78C1371C-E645-E71D-0CC2-D4761AF7B5EA}"/>
              </a:ext>
            </a:extLst>
          </p:cNvPr>
          <p:cNvCxnSpPr/>
          <p:nvPr/>
        </p:nvCxnSpPr>
        <p:spPr>
          <a:xfrm flipH="1">
            <a:off x="290300" y="1180925"/>
            <a:ext cx="9900" cy="2624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2" name="Google Shape;312;g2aec3b0e815_0_551">
            <a:extLst>
              <a:ext uri="{FF2B5EF4-FFF2-40B4-BE49-F238E27FC236}">
                <a16:creationId xmlns:a16="http://schemas.microsoft.com/office/drawing/2014/main" id="{9E8CBBFB-AF8E-E4DD-819C-651CB199B821}"/>
              </a:ext>
            </a:extLst>
          </p:cNvPr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-ES" sz="1300" b="1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000F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g2aec3b0e815_0_551">
            <a:extLst>
              <a:ext uri="{FF2B5EF4-FFF2-40B4-BE49-F238E27FC236}">
                <a16:creationId xmlns:a16="http://schemas.microsoft.com/office/drawing/2014/main" id="{8F454F20-BF3C-6426-0EF4-BF1CE450AF0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47738" y="19597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2aec3b0e815_0_551">
            <a:extLst>
              <a:ext uri="{FF2B5EF4-FFF2-40B4-BE49-F238E27FC236}">
                <a16:creationId xmlns:a16="http://schemas.microsoft.com/office/drawing/2014/main" id="{DE015D9B-36AA-8174-17A5-EEF877B786C6}"/>
              </a:ext>
            </a:extLst>
          </p:cNvPr>
          <p:cNvSpPr txBox="1"/>
          <p:nvPr/>
        </p:nvSpPr>
        <p:spPr>
          <a:xfrm>
            <a:off x="5116525" y="1741475"/>
            <a:ext cx="64497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2aec3b0e815_0_551">
            <a:extLst>
              <a:ext uri="{FF2B5EF4-FFF2-40B4-BE49-F238E27FC236}">
                <a16:creationId xmlns:a16="http://schemas.microsoft.com/office/drawing/2014/main" id="{A5D55E5D-3FE2-8D56-CE4C-C515764408A9}"/>
              </a:ext>
            </a:extLst>
          </p:cNvPr>
          <p:cNvSpPr txBox="1"/>
          <p:nvPr/>
        </p:nvSpPr>
        <p:spPr>
          <a:xfrm>
            <a:off x="5081875" y="2117575"/>
            <a:ext cx="6519000" cy="2539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dirty="0">
                <a:latin typeface="Montserrat"/>
                <a:ea typeface="Montserrat"/>
                <a:cs typeface="Montserrat"/>
                <a:sym typeface="Montserrat"/>
              </a:rPr>
              <a:t>Ana es una desarrolladora web encargada de diseñar la página de cursos de una institución educativa. El objetivo es crear un formulario de registro que sea intuitivo, seguro y estéticamente agradable para los usuarios. El formulario debe permitir a los usuarios ingresar los datos de manera fácil y rápida, asegurando que la experiencia de usuario sea fluida y profesional.</a:t>
            </a:r>
            <a:endParaRPr sz="17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 i="1" dirty="0">
                <a:latin typeface="Montserrat"/>
                <a:ea typeface="Montserrat"/>
                <a:cs typeface="Montserrat"/>
                <a:sym typeface="Montserrat"/>
              </a:rPr>
              <a:t>¡Ayuda a Ana a crear un formulario!</a:t>
            </a:r>
            <a:endParaRPr sz="1700" b="1" i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6" name="Google Shape;316;g2aec3b0e815_0_551">
            <a:extLst>
              <a:ext uri="{FF2B5EF4-FFF2-40B4-BE49-F238E27FC236}">
                <a16:creationId xmlns:a16="http://schemas.microsoft.com/office/drawing/2014/main" id="{B090E385-ED63-7DB7-7A52-BD9713A67C1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09863" y="-64525"/>
            <a:ext cx="3244124" cy="1484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2aec3b0e815_0_551">
            <a:extLst>
              <a:ext uri="{FF2B5EF4-FFF2-40B4-BE49-F238E27FC236}">
                <a16:creationId xmlns:a16="http://schemas.microsoft.com/office/drawing/2014/main" id="{3BB9AD8A-8D3E-6086-5A34-79B4369A618D}"/>
              </a:ext>
            </a:extLst>
          </p:cNvPr>
          <p:cNvSpPr txBox="1"/>
          <p:nvPr/>
        </p:nvSpPr>
        <p:spPr>
          <a:xfrm>
            <a:off x="5149222" y="1248875"/>
            <a:ext cx="6384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S" sz="2000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Aplicando controles efectivos y campos desplegables</a:t>
            </a:r>
            <a:endParaRPr sz="2000" b="0" i="0" u="none" strike="noStrike" cap="none" dirty="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204026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g2b055251057_0_128"/>
          <p:cNvPicPr preferRelativeResize="0"/>
          <p:nvPr/>
        </p:nvPicPr>
        <p:blipFill>
          <a:blip r:embed="rId3"/>
          <a:srcRect/>
          <a:stretch/>
        </p:blipFill>
        <p:spPr>
          <a:xfrm>
            <a:off x="3708488" y="152400"/>
            <a:ext cx="4523529" cy="6553201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23" name="Google Shape;323;g2b055251057_0_1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7875" y="0"/>
            <a:ext cx="18350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2b055251057_0_128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14</a:t>
            </a:r>
            <a:r>
              <a:rPr lang="es-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5" name="Google Shape;325;g2b055251057_0_1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48668" y="360822"/>
            <a:ext cx="1303246" cy="56588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g2b055251057_0_128"/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2b055251057_0_128"/>
          <p:cNvSpPr txBox="1"/>
          <p:nvPr/>
        </p:nvSpPr>
        <p:spPr>
          <a:xfrm>
            <a:off x="543488" y="499325"/>
            <a:ext cx="23697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Desarrollo</a:t>
            </a:r>
            <a:endParaRPr sz="300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del </a:t>
            </a:r>
            <a:r>
              <a:rPr lang="es-ES" sz="300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Caso</a:t>
            </a:r>
            <a:endParaRPr sz="300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" name="Google Shape;317;g2aec3b0e815_0_551">
            <a:extLst>
              <a:ext uri="{FF2B5EF4-FFF2-40B4-BE49-F238E27FC236}">
                <a16:creationId xmlns:a16="http://schemas.microsoft.com/office/drawing/2014/main" id="{8906A2B0-9891-D1FE-DE8F-4E8079D7C956}"/>
              </a:ext>
            </a:extLst>
          </p:cNvPr>
          <p:cNvSpPr txBox="1"/>
          <p:nvPr/>
        </p:nvSpPr>
        <p:spPr>
          <a:xfrm>
            <a:off x="68310" y="5084508"/>
            <a:ext cx="2888800" cy="800189"/>
          </a:xfrm>
          <a:prstGeom prst="rect">
            <a:avLst/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S" sz="2000" b="0" i="0" u="none" strike="noStrike" cap="none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Página: registro.html</a:t>
            </a:r>
            <a:endParaRPr sz="2000" b="0" i="0" u="none" strike="noStrike" cap="none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2b055251057_0_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54226" y="-21250"/>
            <a:ext cx="334347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2b055251057_0_23"/>
          <p:cNvSpPr txBox="1">
            <a:spLocks noGrp="1"/>
          </p:cNvSpPr>
          <p:nvPr>
            <p:ph type="title"/>
          </p:nvPr>
        </p:nvSpPr>
        <p:spPr>
          <a:xfrm>
            <a:off x="458775" y="1322150"/>
            <a:ext cx="2626200" cy="15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30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TALLER </a:t>
            </a:r>
            <a:r>
              <a:rPr lang="es-ES" sz="3300" dirty="0">
                <a:solidFill>
                  <a:schemeClr val="bg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sz="3300" dirty="0">
              <a:solidFill>
                <a:schemeClr val="bg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34" name="Google Shape;334;g2b055251057_0_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09863" y="-64525"/>
            <a:ext cx="3244124" cy="148452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2b055251057_0_23"/>
          <p:cNvSpPr txBox="1"/>
          <p:nvPr/>
        </p:nvSpPr>
        <p:spPr>
          <a:xfrm>
            <a:off x="4439772" y="1671925"/>
            <a:ext cx="638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S" sz="200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Diseño de interacciones en tu página web</a:t>
            </a:r>
            <a:endParaRPr sz="2000" b="0" i="0" u="none" strike="noStrike" cap="none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36" name="Google Shape;336;g2b055251057_0_23"/>
          <p:cNvSpPr txBox="1"/>
          <p:nvPr/>
        </p:nvSpPr>
        <p:spPr>
          <a:xfrm>
            <a:off x="4713850" y="5090950"/>
            <a:ext cx="592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Tiempo estimado:</a:t>
            </a:r>
            <a:r>
              <a:rPr lang="es-ES" sz="1400" b="0" i="0" u="none" strike="noStrike" cap="none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40 min</a:t>
            </a:r>
            <a:endParaRPr sz="1400" b="0" i="0" u="none" strike="noStrike" cap="none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7" name="Google Shape;337;g2b055251057_0_23"/>
          <p:cNvSpPr txBox="1"/>
          <p:nvPr/>
        </p:nvSpPr>
        <p:spPr>
          <a:xfrm>
            <a:off x="4476825" y="2416450"/>
            <a:ext cx="6310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2b055251057_0_23"/>
          <p:cNvSpPr txBox="1"/>
          <p:nvPr/>
        </p:nvSpPr>
        <p:spPr>
          <a:xfrm>
            <a:off x="5508825" y="5526050"/>
            <a:ext cx="4246200" cy="725400"/>
          </a:xfrm>
          <a:prstGeom prst="rect">
            <a:avLst/>
          </a:prstGeom>
          <a:noFill/>
          <a:ln>
            <a:noFill/>
          </a:ln>
          <a:effectLst>
            <a:reflection endPos="1000" dist="38100" dir="5400000" fadeDir="5400012" sy="-100000" algn="bl" rotWithShape="0"/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ES" sz="2600" b="1" i="1" u="none" strike="noStrike" cap="none">
                <a:solidFill>
                  <a:srgbClr val="000F5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¡Trabajemos juntos!</a:t>
            </a:r>
            <a:endParaRPr sz="2600" b="1" i="1" u="none" strike="noStrike" cap="none">
              <a:solidFill>
                <a:srgbClr val="000F5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39" name="Google Shape;339;g2b055251057_0_23"/>
          <p:cNvSpPr txBox="1"/>
          <p:nvPr/>
        </p:nvSpPr>
        <p:spPr>
          <a:xfrm>
            <a:off x="363375" y="2938550"/>
            <a:ext cx="246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900" b="1" i="1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¡PRACTIQUEMOS! </a:t>
            </a:r>
            <a:endParaRPr sz="1900" b="1" i="1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g2b055251057_0_23"/>
          <p:cNvSpPr/>
          <p:nvPr/>
        </p:nvSpPr>
        <p:spPr>
          <a:xfrm>
            <a:off x="11393100" y="64210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15</a:t>
            </a: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000F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1" name="Google Shape;341;g2b055251057_0_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33194" y="5356447"/>
            <a:ext cx="930181" cy="1064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2" name="Google Shape;342;g2b055251057_0_23"/>
          <p:cNvCxnSpPr/>
          <p:nvPr/>
        </p:nvCxnSpPr>
        <p:spPr>
          <a:xfrm flipH="1">
            <a:off x="290300" y="1180925"/>
            <a:ext cx="9900" cy="2624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43" name="Google Shape;343;g2b055251057_0_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47738" y="19597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2b055251057_0_23"/>
          <p:cNvSpPr txBox="1"/>
          <p:nvPr/>
        </p:nvSpPr>
        <p:spPr>
          <a:xfrm>
            <a:off x="4281575" y="2410550"/>
            <a:ext cx="7015500" cy="1154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¡</a:t>
            </a:r>
            <a:r>
              <a:rPr lang="es-ES" sz="2100" b="1" dirty="0">
                <a:latin typeface="Montserrat"/>
                <a:ea typeface="Montserrat"/>
                <a:cs typeface="Montserrat"/>
                <a:sym typeface="Montserrat"/>
              </a:rPr>
              <a:t>Agreguemos botón de WhatsApp</a:t>
            </a:r>
            <a:r>
              <a:rPr lang="es-ES" sz="21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endParaRPr sz="2100" b="1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dirty="0">
                <a:latin typeface="Montserrat"/>
                <a:ea typeface="Montserrat"/>
                <a:cs typeface="Montserrat"/>
                <a:sym typeface="Montserrat"/>
              </a:rPr>
              <a:t>Agreguemos un botón de WhatsApp fijo a pantalla.</a:t>
            </a:r>
            <a:endParaRPr sz="21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1689" y="3797644"/>
            <a:ext cx="3533018" cy="2279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8508" y="0"/>
            <a:ext cx="12229014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7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18.</a:t>
            </a:r>
            <a:endParaRPr sz="13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4506" y="-24382"/>
            <a:ext cx="12269304" cy="6882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495</Words>
  <Application>Microsoft Office PowerPoint</Application>
  <PresentationFormat>Panorámica</PresentationFormat>
  <Paragraphs>103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17</vt:i4>
      </vt:variant>
    </vt:vector>
  </HeadingPairs>
  <TitlesOfParts>
    <vt:vector size="27" baseType="lpstr">
      <vt:lpstr>Calibri</vt:lpstr>
      <vt:lpstr>Arial</vt:lpstr>
      <vt:lpstr>Poppins</vt:lpstr>
      <vt:lpstr>Montserrat Medium</vt:lpstr>
      <vt:lpstr>Montserrat ExtraBold</vt:lpstr>
      <vt:lpstr>Montserrat</vt:lpstr>
      <vt:lpstr>IBM Plex Mono Medium</vt:lpstr>
      <vt:lpstr>Montserrat SemiBold</vt:lpstr>
      <vt:lpstr>Tema de Office</vt:lpstr>
      <vt:lpstr>Tema de Office</vt:lpstr>
      <vt:lpstr>Presentación de PowerPoint</vt:lpstr>
      <vt:lpstr>REVIEW DE LA SESIÓN ANTERIOR</vt:lpstr>
      <vt:lpstr>SESIÓN 3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TALLER 3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Giancarlos Barboza N.</dc:creator>
  <cp:lastModifiedBy>BARBOZA NIETO, GIANCARLOS</cp:lastModifiedBy>
  <cp:revision>20</cp:revision>
  <dcterms:modified xsi:type="dcterms:W3CDTF">2025-08-23T17:18:23Z</dcterms:modified>
</cp:coreProperties>
</file>